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nter Bold" charset="1" panose="02000503000000020004"/>
      <p:regular r:id="rId22"/>
    </p:embeddedFont>
    <p:embeddedFont>
      <p:font typeface="Inter" charset="1" panose="02000503000000020004"/>
      <p:regular r:id="rId23"/>
    </p:embeddedFont>
    <p:embeddedFont>
      <p:font typeface="Inter Italics" charset="1" panose="02000503000000020004"/>
      <p:regular r:id="rId28"/>
    </p:embeddedFont>
    <p:embeddedFont>
      <p:font typeface="Aptos" charset="1" panose="020B000402020202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 s) Member 1: We built PreAuth Agent, a six-agent system that handles cashless pre-authorisation requests for health insurance.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 s) Member 1: Problem — cashless pre-auth is done manually by TPA desks. Since IRDAI's May 2024 master circular, insurers must decide cashless requests within one hour and discharge authorisation within three hours. The work is rule-heavy, multi-step and must be explainable, which is exactly what an agentic workflow with tools is good at.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 s) Member 1: On the left is how a TPA desk works today; on the right, what each agent takes over. The key difference is the bottom two rows: every case is independently verified before a decision, and every deduction is explained with a clause number.</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 s) Member 1: Six agents. Planner decides what needs to be done for this specific claim. Intake reads the notes. Research gathers the policy and tariff. Member 2 takes over: the Executor does the rule checks and money with deterministic tools, the Critic independently verifies and can send work back, and the Decision agent writes the outcome and letter.</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s) Member 2: The orchestrator runs the Planner's task list over a shared state. There are three decision points: the eligibility gate that skips calculation, the Critic's verdict which can send work back to the Executor, and the final decision policy where risky cases always go to a human.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 s) Member 2: Architecture. The Streamlit UI drives the orchestrator; agents call deterministic tools for policy lookup, clause retrieval, dates and money. The LLM — a local Ollama model, with a mock fallback — is only used to read notes and polish letters, never to do maths. All data is synthetic JSON.</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(~80 s, switch to the live app) Member 2 drives, Member 1 narrates. Show 0103 and open the Amount tab. Run 0108 and open Workflow path to point at the red REVISE edge, then Critic findings → earlier round. Run 0107 and show the escalation. Finish on Batch validation.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 s) Member 1: Validation works at three levels: labelled ground truth, the Critic re-verifying every run, and 19 automated tests. All 10 cases reach the expected decision and all 6 amounts match our hand calculations.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 s) Member 1: Validation works at three levels: labelled ground truth, the Critic re-verifying every run, and 19 automated tests. All 10 cases reach the expected decision and all 6 amounts match our hand calculations.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(~35 s) Member 1: On the left is how a TPA desk works today; on the right, what each agent takes over. The key difference is the bottom two rows: every case is independently verified before a decision, and every deduction is explained with a clause number.</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 s) Member 2: On the payable cases, the agents caught ₹3.15 lakh that the policy does not cover, and every deduction is explained. Processing takes milliseconds in mock mode; with a local LLM it is a few seconds, still far inside IRDAI's one-hour window. The 45-minute manual figure is our assumption, not a measurement.</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 s) Member 1: Limitations are mainly data realism and retrieval depth. Next steps are semantic retrieval over real policy wordings, OCR for scanned documents, and connecting to hospital systems and the National Health Claims Exchange through LangGraph and MCP tools.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 s) Both: Thank you. Both of us can answer questions on any agent; the split shows who led each part.</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826"/>
        </a:solidFill>
      </p:bgPr>
    </p:bg>
    <p:spTree>
      <p:nvGrpSpPr>
        <p:cNvPr id="1" name=""/>
        <p:cNvGrpSpPr/>
        <p:nvPr/>
      </p:nvGrpSpPr>
      <p:grpSpPr>
        <a:xfrm>
          <a:off x="0" y="0"/>
          <a:ext cx="0" cy="0"/>
          <a:chOff x="0" y="0"/>
          <a:chExt cx="0" cy="0"/>
        </a:xfrm>
      </p:grpSpPr>
      <p:sp>
        <p:nvSpPr>
          <p:cNvPr name="AutoShape 2" id="2"/>
          <p:cNvSpPr/>
          <p:nvPr/>
        </p:nvSpPr>
        <p:spPr>
          <a:xfrm rot="5395020">
            <a:off x="7983855" y="3938588"/>
            <a:ext cx="7898140" cy="0"/>
          </a:xfrm>
          <a:prstGeom prst="line">
            <a:avLst/>
          </a:prstGeom>
          <a:ln cap="rnd" w="9525">
            <a:solidFill>
              <a:srgbClr val="1B3141"/>
            </a:solidFill>
            <a:prstDash val="solid"/>
            <a:headEnd type="none" len="sm" w="sm"/>
            <a:tailEnd type="none" len="sm" w="sm"/>
          </a:ln>
        </p:spPr>
      </p:sp>
      <p:sp>
        <p:nvSpPr>
          <p:cNvPr name="AutoShape 3" id="3"/>
          <p:cNvSpPr/>
          <p:nvPr/>
        </p:nvSpPr>
        <p:spPr>
          <a:xfrm rot="5395020">
            <a:off x="8546211" y="3938588"/>
            <a:ext cx="7898140" cy="0"/>
          </a:xfrm>
          <a:prstGeom prst="line">
            <a:avLst/>
          </a:prstGeom>
          <a:ln cap="rnd" w="9525">
            <a:solidFill>
              <a:srgbClr val="1B3141"/>
            </a:solidFill>
            <a:prstDash val="solid"/>
            <a:headEnd type="none" len="sm" w="sm"/>
            <a:tailEnd type="none" len="sm" w="sm"/>
          </a:ln>
        </p:spPr>
      </p:sp>
      <p:sp>
        <p:nvSpPr>
          <p:cNvPr name="AutoShape 4" id="4"/>
          <p:cNvSpPr/>
          <p:nvPr/>
        </p:nvSpPr>
        <p:spPr>
          <a:xfrm rot="5395020">
            <a:off x="9108567" y="3938588"/>
            <a:ext cx="7898140" cy="0"/>
          </a:xfrm>
          <a:prstGeom prst="line">
            <a:avLst/>
          </a:prstGeom>
          <a:ln cap="rnd" w="9525">
            <a:solidFill>
              <a:srgbClr val="1B3141"/>
            </a:solidFill>
            <a:prstDash val="solid"/>
            <a:headEnd type="none" len="sm" w="sm"/>
            <a:tailEnd type="none" len="sm" w="sm"/>
          </a:ln>
        </p:spPr>
      </p:sp>
      <p:sp>
        <p:nvSpPr>
          <p:cNvPr name="AutoShape 5" id="5"/>
          <p:cNvSpPr/>
          <p:nvPr/>
        </p:nvSpPr>
        <p:spPr>
          <a:xfrm rot="5395020">
            <a:off x="9670923" y="3938588"/>
            <a:ext cx="7898140" cy="0"/>
          </a:xfrm>
          <a:prstGeom prst="line">
            <a:avLst/>
          </a:prstGeom>
          <a:ln cap="rnd" w="9525">
            <a:solidFill>
              <a:srgbClr val="1B3141"/>
            </a:solidFill>
            <a:prstDash val="solid"/>
            <a:headEnd type="none" len="sm" w="sm"/>
            <a:tailEnd type="none" len="sm" w="sm"/>
          </a:ln>
        </p:spPr>
      </p:sp>
      <p:sp>
        <p:nvSpPr>
          <p:cNvPr name="AutoShape 6" id="6"/>
          <p:cNvSpPr/>
          <p:nvPr/>
        </p:nvSpPr>
        <p:spPr>
          <a:xfrm rot="5395020">
            <a:off x="10233279" y="3938588"/>
            <a:ext cx="7898140" cy="0"/>
          </a:xfrm>
          <a:prstGeom prst="line">
            <a:avLst/>
          </a:prstGeom>
          <a:ln cap="rnd" w="9525">
            <a:solidFill>
              <a:srgbClr val="1B3141"/>
            </a:solidFill>
            <a:prstDash val="solid"/>
            <a:headEnd type="none" len="sm" w="sm"/>
            <a:tailEnd type="none" len="sm" w="sm"/>
          </a:ln>
        </p:spPr>
      </p:sp>
      <p:sp>
        <p:nvSpPr>
          <p:cNvPr name="AutoShape 7" id="7"/>
          <p:cNvSpPr/>
          <p:nvPr/>
        </p:nvSpPr>
        <p:spPr>
          <a:xfrm rot="5395020">
            <a:off x="10795635" y="3938588"/>
            <a:ext cx="7898140" cy="0"/>
          </a:xfrm>
          <a:prstGeom prst="line">
            <a:avLst/>
          </a:prstGeom>
          <a:ln cap="rnd" w="9525">
            <a:solidFill>
              <a:srgbClr val="1B3141"/>
            </a:solidFill>
            <a:prstDash val="solid"/>
            <a:headEnd type="none" len="sm" w="sm"/>
            <a:tailEnd type="none" len="sm" w="sm"/>
          </a:ln>
        </p:spPr>
      </p:sp>
      <p:sp>
        <p:nvSpPr>
          <p:cNvPr name="AutoShape 8" id="8"/>
          <p:cNvSpPr/>
          <p:nvPr/>
        </p:nvSpPr>
        <p:spPr>
          <a:xfrm rot="5395020">
            <a:off x="11357991" y="3938588"/>
            <a:ext cx="7898140" cy="0"/>
          </a:xfrm>
          <a:prstGeom prst="line">
            <a:avLst/>
          </a:prstGeom>
          <a:ln cap="rnd" w="9525">
            <a:solidFill>
              <a:srgbClr val="1B3141"/>
            </a:solidFill>
            <a:prstDash val="solid"/>
            <a:headEnd type="none" len="sm" w="sm"/>
            <a:tailEnd type="none" len="sm" w="sm"/>
          </a:ln>
        </p:spPr>
      </p:sp>
      <p:sp>
        <p:nvSpPr>
          <p:cNvPr name="AutoShape 9" id="9"/>
          <p:cNvSpPr/>
          <p:nvPr/>
        </p:nvSpPr>
        <p:spPr>
          <a:xfrm rot="5395020">
            <a:off x="11920347" y="3938588"/>
            <a:ext cx="7898140" cy="0"/>
          </a:xfrm>
          <a:prstGeom prst="line">
            <a:avLst/>
          </a:prstGeom>
          <a:ln cap="rnd" w="9525">
            <a:solidFill>
              <a:srgbClr val="1B3141"/>
            </a:solidFill>
            <a:prstDash val="solid"/>
            <a:headEnd type="none" len="sm" w="sm"/>
            <a:tailEnd type="none" len="sm" w="sm"/>
          </a:ln>
        </p:spPr>
      </p:sp>
      <p:sp>
        <p:nvSpPr>
          <p:cNvPr name="AutoShape 10" id="10"/>
          <p:cNvSpPr/>
          <p:nvPr/>
        </p:nvSpPr>
        <p:spPr>
          <a:xfrm rot="5395020">
            <a:off x="12482703" y="3938588"/>
            <a:ext cx="7898140" cy="0"/>
          </a:xfrm>
          <a:prstGeom prst="line">
            <a:avLst/>
          </a:prstGeom>
          <a:ln cap="rnd" w="9525">
            <a:solidFill>
              <a:srgbClr val="1B3141"/>
            </a:solidFill>
            <a:prstDash val="solid"/>
            <a:headEnd type="none" len="sm" w="sm"/>
            <a:tailEnd type="none" len="sm" w="sm"/>
          </a:ln>
        </p:spPr>
      </p:sp>
      <p:sp>
        <p:nvSpPr>
          <p:cNvPr name="AutoShape 11" id="11"/>
          <p:cNvSpPr/>
          <p:nvPr/>
        </p:nvSpPr>
        <p:spPr>
          <a:xfrm rot="5395020">
            <a:off x="13045059" y="3938588"/>
            <a:ext cx="7898140" cy="0"/>
          </a:xfrm>
          <a:prstGeom prst="line">
            <a:avLst/>
          </a:prstGeom>
          <a:ln cap="rnd" w="9525">
            <a:solidFill>
              <a:srgbClr val="1B3141"/>
            </a:solidFill>
            <a:prstDash val="solid"/>
            <a:headEnd type="none" len="sm" w="sm"/>
            <a:tailEnd type="none" len="sm" w="sm"/>
          </a:ln>
        </p:spPr>
      </p:sp>
      <p:sp>
        <p:nvSpPr>
          <p:cNvPr name="AutoShape 12" id="12"/>
          <p:cNvSpPr/>
          <p:nvPr/>
        </p:nvSpPr>
        <p:spPr>
          <a:xfrm rot="5395020">
            <a:off x="13607415" y="3938588"/>
            <a:ext cx="7898140" cy="0"/>
          </a:xfrm>
          <a:prstGeom prst="line">
            <a:avLst/>
          </a:prstGeom>
          <a:ln cap="rnd" w="9525">
            <a:solidFill>
              <a:srgbClr val="1B3141"/>
            </a:solidFill>
            <a:prstDash val="solid"/>
            <a:headEnd type="none" len="sm" w="sm"/>
            <a:tailEnd type="none" len="sm" w="sm"/>
          </a:ln>
        </p:spPr>
      </p:sp>
      <p:sp>
        <p:nvSpPr>
          <p:cNvPr name="AutoShape 13" id="13"/>
          <p:cNvSpPr/>
          <p:nvPr/>
        </p:nvSpPr>
        <p:spPr>
          <a:xfrm rot="5395020">
            <a:off x="14169771" y="3938588"/>
            <a:ext cx="7898140" cy="0"/>
          </a:xfrm>
          <a:prstGeom prst="line">
            <a:avLst/>
          </a:prstGeom>
          <a:ln cap="rnd" w="9525">
            <a:solidFill>
              <a:srgbClr val="1B3141"/>
            </a:solidFill>
            <a:prstDash val="solid"/>
            <a:headEnd type="none" len="sm" w="sm"/>
            <a:tailEnd type="none" len="sm" w="sm"/>
          </a:ln>
        </p:spPr>
      </p:sp>
      <p:sp>
        <p:nvSpPr>
          <p:cNvPr name="AutoShape 14" id="14"/>
          <p:cNvSpPr/>
          <p:nvPr/>
        </p:nvSpPr>
        <p:spPr>
          <a:xfrm rot="6120">
            <a:off x="11858615" y="489014"/>
            <a:ext cx="6389380" cy="0"/>
          </a:xfrm>
          <a:prstGeom prst="line">
            <a:avLst/>
          </a:prstGeom>
          <a:ln cap="rnd" w="9525">
            <a:solidFill>
              <a:srgbClr val="1B3141"/>
            </a:solidFill>
            <a:prstDash val="solid"/>
            <a:headEnd type="none" len="sm" w="sm"/>
            <a:tailEnd type="none" len="sm" w="sm"/>
          </a:ln>
        </p:spPr>
      </p:sp>
      <p:sp>
        <p:nvSpPr>
          <p:cNvPr name="AutoShape 15" id="15"/>
          <p:cNvSpPr/>
          <p:nvPr/>
        </p:nvSpPr>
        <p:spPr>
          <a:xfrm rot="6120">
            <a:off x="11858615" y="1106234"/>
            <a:ext cx="6389380" cy="0"/>
          </a:xfrm>
          <a:prstGeom prst="line">
            <a:avLst/>
          </a:prstGeom>
          <a:ln cap="rnd" w="9525">
            <a:solidFill>
              <a:srgbClr val="1B3141"/>
            </a:solidFill>
            <a:prstDash val="solid"/>
            <a:headEnd type="none" len="sm" w="sm"/>
            <a:tailEnd type="none" len="sm" w="sm"/>
          </a:ln>
        </p:spPr>
      </p:sp>
      <p:sp>
        <p:nvSpPr>
          <p:cNvPr name="AutoShape 16" id="16"/>
          <p:cNvSpPr/>
          <p:nvPr/>
        </p:nvSpPr>
        <p:spPr>
          <a:xfrm rot="6120">
            <a:off x="11858615" y="1723453"/>
            <a:ext cx="6389380" cy="0"/>
          </a:xfrm>
          <a:prstGeom prst="line">
            <a:avLst/>
          </a:prstGeom>
          <a:ln cap="rnd" w="9525">
            <a:solidFill>
              <a:srgbClr val="1B3141"/>
            </a:solidFill>
            <a:prstDash val="solid"/>
            <a:headEnd type="none" len="sm" w="sm"/>
            <a:tailEnd type="none" len="sm" w="sm"/>
          </a:ln>
        </p:spPr>
      </p:sp>
      <p:sp>
        <p:nvSpPr>
          <p:cNvPr name="AutoShape 17" id="17"/>
          <p:cNvSpPr/>
          <p:nvPr/>
        </p:nvSpPr>
        <p:spPr>
          <a:xfrm rot="6120">
            <a:off x="11858615" y="2340674"/>
            <a:ext cx="6389380" cy="0"/>
          </a:xfrm>
          <a:prstGeom prst="line">
            <a:avLst/>
          </a:prstGeom>
          <a:ln cap="rnd" w="9525">
            <a:solidFill>
              <a:srgbClr val="1B3141"/>
            </a:solidFill>
            <a:prstDash val="solid"/>
            <a:headEnd type="none" len="sm" w="sm"/>
            <a:tailEnd type="none" len="sm" w="sm"/>
          </a:ln>
        </p:spPr>
      </p:sp>
      <p:sp>
        <p:nvSpPr>
          <p:cNvPr name="AutoShape 18" id="18"/>
          <p:cNvSpPr/>
          <p:nvPr/>
        </p:nvSpPr>
        <p:spPr>
          <a:xfrm rot="6120">
            <a:off x="11858615" y="2957894"/>
            <a:ext cx="6389380" cy="0"/>
          </a:xfrm>
          <a:prstGeom prst="line">
            <a:avLst/>
          </a:prstGeom>
          <a:ln cap="rnd" w="9525">
            <a:solidFill>
              <a:srgbClr val="1B3141"/>
            </a:solidFill>
            <a:prstDash val="solid"/>
            <a:headEnd type="none" len="sm" w="sm"/>
            <a:tailEnd type="none" len="sm" w="sm"/>
          </a:ln>
        </p:spPr>
      </p:sp>
      <p:sp>
        <p:nvSpPr>
          <p:cNvPr name="AutoShape 19" id="19"/>
          <p:cNvSpPr/>
          <p:nvPr/>
        </p:nvSpPr>
        <p:spPr>
          <a:xfrm rot="6120">
            <a:off x="11858615" y="3575114"/>
            <a:ext cx="6389380" cy="0"/>
          </a:xfrm>
          <a:prstGeom prst="line">
            <a:avLst/>
          </a:prstGeom>
          <a:ln cap="rnd" w="9525">
            <a:solidFill>
              <a:srgbClr val="1B3141"/>
            </a:solidFill>
            <a:prstDash val="solid"/>
            <a:headEnd type="none" len="sm" w="sm"/>
            <a:tailEnd type="none" len="sm" w="sm"/>
          </a:ln>
        </p:spPr>
      </p:sp>
      <p:sp>
        <p:nvSpPr>
          <p:cNvPr name="AutoShape 20" id="20"/>
          <p:cNvSpPr/>
          <p:nvPr/>
        </p:nvSpPr>
        <p:spPr>
          <a:xfrm rot="6120">
            <a:off x="11858615" y="4192334"/>
            <a:ext cx="6389380" cy="0"/>
          </a:xfrm>
          <a:prstGeom prst="line">
            <a:avLst/>
          </a:prstGeom>
          <a:ln cap="rnd" w="9525">
            <a:solidFill>
              <a:srgbClr val="1B3141"/>
            </a:solidFill>
            <a:prstDash val="solid"/>
            <a:headEnd type="none" len="sm" w="sm"/>
            <a:tailEnd type="none" len="sm" w="sm"/>
          </a:ln>
        </p:spPr>
      </p:sp>
      <p:sp>
        <p:nvSpPr>
          <p:cNvPr name="AutoShape 21" id="21"/>
          <p:cNvSpPr/>
          <p:nvPr/>
        </p:nvSpPr>
        <p:spPr>
          <a:xfrm rot="6120">
            <a:off x="11858615" y="4809554"/>
            <a:ext cx="6389380" cy="0"/>
          </a:xfrm>
          <a:prstGeom prst="line">
            <a:avLst/>
          </a:prstGeom>
          <a:ln cap="rnd" w="9525">
            <a:solidFill>
              <a:srgbClr val="1B3141"/>
            </a:solidFill>
            <a:prstDash val="solid"/>
            <a:headEnd type="none" len="sm" w="sm"/>
            <a:tailEnd type="none" len="sm" w="sm"/>
          </a:ln>
        </p:spPr>
      </p:sp>
      <p:sp>
        <p:nvSpPr>
          <p:cNvPr name="AutoShape 22" id="22"/>
          <p:cNvSpPr/>
          <p:nvPr/>
        </p:nvSpPr>
        <p:spPr>
          <a:xfrm rot="6120">
            <a:off x="11858615" y="5426774"/>
            <a:ext cx="6389380" cy="0"/>
          </a:xfrm>
          <a:prstGeom prst="line">
            <a:avLst/>
          </a:prstGeom>
          <a:ln cap="rnd" w="9525">
            <a:solidFill>
              <a:srgbClr val="1B3141"/>
            </a:solidFill>
            <a:prstDash val="solid"/>
            <a:headEnd type="none" len="sm" w="sm"/>
            <a:tailEnd type="none" len="sm" w="sm"/>
          </a:ln>
        </p:spPr>
      </p:sp>
      <p:sp>
        <p:nvSpPr>
          <p:cNvPr name="AutoShape 23" id="23"/>
          <p:cNvSpPr/>
          <p:nvPr/>
        </p:nvSpPr>
        <p:spPr>
          <a:xfrm rot="6120">
            <a:off x="11858615" y="6043994"/>
            <a:ext cx="6389380" cy="0"/>
          </a:xfrm>
          <a:prstGeom prst="line">
            <a:avLst/>
          </a:prstGeom>
          <a:ln cap="rnd" w="9525">
            <a:solidFill>
              <a:srgbClr val="1B3141"/>
            </a:solidFill>
            <a:prstDash val="solid"/>
            <a:headEnd type="none" len="sm" w="sm"/>
            <a:tailEnd type="none" len="sm" w="sm"/>
          </a:ln>
        </p:spPr>
      </p:sp>
      <p:sp>
        <p:nvSpPr>
          <p:cNvPr name="AutoShape 24" id="24"/>
          <p:cNvSpPr/>
          <p:nvPr/>
        </p:nvSpPr>
        <p:spPr>
          <a:xfrm rot="6120">
            <a:off x="11858615" y="6661214"/>
            <a:ext cx="6389380" cy="0"/>
          </a:xfrm>
          <a:prstGeom prst="line">
            <a:avLst/>
          </a:prstGeom>
          <a:ln cap="rnd" w="9525">
            <a:solidFill>
              <a:srgbClr val="1B3141"/>
            </a:solidFill>
            <a:prstDash val="solid"/>
            <a:headEnd type="none" len="sm" w="sm"/>
            <a:tailEnd type="none" len="sm" w="sm"/>
          </a:ln>
        </p:spPr>
      </p:sp>
      <p:sp>
        <p:nvSpPr>
          <p:cNvPr name="AutoShape 25" id="25"/>
          <p:cNvSpPr/>
          <p:nvPr/>
        </p:nvSpPr>
        <p:spPr>
          <a:xfrm rot="6120">
            <a:off x="11858615" y="7278434"/>
            <a:ext cx="6389380" cy="0"/>
          </a:xfrm>
          <a:prstGeom prst="line">
            <a:avLst/>
          </a:prstGeom>
          <a:ln cap="rnd" w="9525">
            <a:solidFill>
              <a:srgbClr val="1B3141"/>
            </a:solidFill>
            <a:prstDash val="solid"/>
            <a:headEnd type="none" len="sm" w="sm"/>
            <a:tailEnd type="none" len="sm" w="sm"/>
          </a:ln>
        </p:spPr>
      </p:sp>
      <p:grpSp>
        <p:nvGrpSpPr>
          <p:cNvPr name="Group 26" id="26"/>
          <p:cNvGrpSpPr/>
          <p:nvPr/>
        </p:nvGrpSpPr>
        <p:grpSpPr>
          <a:xfrm rot="0">
            <a:off x="1005459" y="1032891"/>
            <a:ext cx="540258" cy="94488"/>
            <a:chOff x="0" y="0"/>
            <a:chExt cx="720344" cy="125984"/>
          </a:xfrm>
        </p:grpSpPr>
        <p:sp>
          <p:nvSpPr>
            <p:cNvPr name="Freeform 27" id="27"/>
            <p:cNvSpPr/>
            <p:nvPr/>
          </p:nvSpPr>
          <p:spPr>
            <a:xfrm flipH="false" flipV="false" rot="0">
              <a:off x="0" y="0"/>
              <a:ext cx="720344" cy="125984"/>
            </a:xfrm>
            <a:custGeom>
              <a:avLst/>
              <a:gdLst/>
              <a:ahLst/>
              <a:cxnLst/>
              <a:rect r="r" b="b" t="t" l="l"/>
              <a:pathLst>
                <a:path h="125984" w="720344">
                  <a:moveTo>
                    <a:pt x="0" y="0"/>
                  </a:moveTo>
                  <a:lnTo>
                    <a:pt x="720344" y="0"/>
                  </a:lnTo>
                  <a:lnTo>
                    <a:pt x="720344" y="125984"/>
                  </a:lnTo>
                  <a:lnTo>
                    <a:pt x="0" y="125984"/>
                  </a:lnTo>
                  <a:close/>
                </a:path>
              </a:pathLst>
            </a:custGeom>
            <a:solidFill>
              <a:srgbClr val="BAF389"/>
            </a:solidFill>
          </p:spPr>
        </p:sp>
      </p:grpSp>
      <p:grpSp>
        <p:nvGrpSpPr>
          <p:cNvPr name="Group 28" id="28"/>
          <p:cNvGrpSpPr/>
          <p:nvPr/>
        </p:nvGrpSpPr>
        <p:grpSpPr>
          <a:xfrm rot="0">
            <a:off x="926866" y="1910737"/>
            <a:ext cx="12054293" cy="2092463"/>
            <a:chOff x="0" y="0"/>
            <a:chExt cx="15727680" cy="2730114"/>
          </a:xfrm>
        </p:grpSpPr>
        <p:sp>
          <p:nvSpPr>
            <p:cNvPr name="Freeform 29" id="29"/>
            <p:cNvSpPr/>
            <p:nvPr/>
          </p:nvSpPr>
          <p:spPr>
            <a:xfrm flipH="false" flipV="false" rot="0">
              <a:off x="0" y="0"/>
              <a:ext cx="15727680" cy="2730114"/>
            </a:xfrm>
            <a:custGeom>
              <a:avLst/>
              <a:gdLst/>
              <a:ahLst/>
              <a:cxnLst/>
              <a:rect r="r" b="b" t="t" l="l"/>
              <a:pathLst>
                <a:path h="2730114" w="15727680">
                  <a:moveTo>
                    <a:pt x="0" y="0"/>
                  </a:moveTo>
                  <a:lnTo>
                    <a:pt x="15727680" y="0"/>
                  </a:lnTo>
                  <a:lnTo>
                    <a:pt x="15727680" y="2730114"/>
                  </a:lnTo>
                  <a:lnTo>
                    <a:pt x="0" y="2730114"/>
                  </a:lnTo>
                  <a:close/>
                </a:path>
              </a:pathLst>
            </a:custGeom>
            <a:blipFill>
              <a:blip r:embed="rId3">
                <a:alphaModFix amt="0"/>
              </a:blip>
              <a:stretch>
                <a:fillRect l="0" t="-74402" r="0" b="-50096"/>
              </a:stretch>
            </a:blipFill>
          </p:spPr>
        </p:sp>
        <p:sp>
          <p:nvSpPr>
            <p:cNvPr name="TextBox 30" id="30"/>
            <p:cNvSpPr txBox="true"/>
            <p:nvPr/>
          </p:nvSpPr>
          <p:spPr>
            <a:xfrm>
              <a:off x="0" y="0"/>
              <a:ext cx="15727680" cy="2730114"/>
            </a:xfrm>
            <a:prstGeom prst="rect">
              <a:avLst/>
            </a:prstGeom>
          </p:spPr>
          <p:txBody>
            <a:bodyPr anchor="ctr" rtlCol="false" tIns="0" lIns="0" bIns="0" rIns="0"/>
            <a:lstStyle/>
            <a:p>
              <a:pPr algn="l">
                <a:lnSpc>
                  <a:spcPts val="11879"/>
                </a:lnSpc>
              </a:pPr>
              <a:r>
                <a:rPr lang="en-US" b="true" sz="9899" spc="-201">
                  <a:solidFill>
                    <a:srgbClr val="FFFFFF"/>
                  </a:solidFill>
                  <a:latin typeface="Inter Bold"/>
                  <a:ea typeface="Inter Bold"/>
                  <a:cs typeface="Inter Bold"/>
                  <a:sym typeface="Inter Bold"/>
                </a:rPr>
                <a:t>CLAIMPILOT</a:t>
              </a:r>
            </a:p>
          </p:txBody>
        </p:sp>
      </p:grpSp>
      <p:grpSp>
        <p:nvGrpSpPr>
          <p:cNvPr name="Group 31" id="31"/>
          <p:cNvGrpSpPr/>
          <p:nvPr/>
        </p:nvGrpSpPr>
        <p:grpSpPr>
          <a:xfrm rot="0">
            <a:off x="938213" y="3801455"/>
            <a:ext cx="11909488" cy="1248156"/>
            <a:chOff x="0" y="0"/>
            <a:chExt cx="15879317" cy="1664208"/>
          </a:xfrm>
        </p:grpSpPr>
        <p:sp>
          <p:nvSpPr>
            <p:cNvPr name="Freeform 32" id="32"/>
            <p:cNvSpPr/>
            <p:nvPr/>
          </p:nvSpPr>
          <p:spPr>
            <a:xfrm flipH="false" flipV="false" rot="0">
              <a:off x="0" y="0"/>
              <a:ext cx="15879318" cy="1664208"/>
            </a:xfrm>
            <a:custGeom>
              <a:avLst/>
              <a:gdLst/>
              <a:ahLst/>
              <a:cxnLst/>
              <a:rect r="r" b="b" t="t" l="l"/>
              <a:pathLst>
                <a:path h="1664208" w="15879318">
                  <a:moveTo>
                    <a:pt x="0" y="0"/>
                  </a:moveTo>
                  <a:lnTo>
                    <a:pt x="15879318" y="0"/>
                  </a:lnTo>
                  <a:lnTo>
                    <a:pt x="15879318" y="1664208"/>
                  </a:lnTo>
                  <a:lnTo>
                    <a:pt x="0" y="1664208"/>
                  </a:lnTo>
                  <a:close/>
                </a:path>
              </a:pathLst>
            </a:custGeom>
            <a:blipFill>
              <a:blip r:embed="rId3">
                <a:alphaModFix amt="0"/>
              </a:blip>
              <a:stretch>
                <a:fillRect l="0" t="-115943" r="10744" b="-115943"/>
              </a:stretch>
            </a:blipFill>
          </p:spPr>
        </p:sp>
        <p:sp>
          <p:nvSpPr>
            <p:cNvPr name="TextBox 33" id="33"/>
            <p:cNvSpPr txBox="true"/>
            <p:nvPr/>
          </p:nvSpPr>
          <p:spPr>
            <a:xfrm>
              <a:off x="0" y="0"/>
              <a:ext cx="15879317" cy="1664208"/>
            </a:xfrm>
            <a:prstGeom prst="rect">
              <a:avLst/>
            </a:prstGeom>
          </p:spPr>
          <p:txBody>
            <a:bodyPr anchor="ctr" rtlCol="false" tIns="0" lIns="0" bIns="0" rIns="0"/>
            <a:lstStyle/>
            <a:p>
              <a:pPr algn="l">
                <a:lnSpc>
                  <a:spcPts val="3869"/>
                </a:lnSpc>
              </a:pPr>
              <a:r>
                <a:rPr lang="en-US" sz="3225">
                  <a:solidFill>
                    <a:srgbClr val="BAF389"/>
                  </a:solidFill>
                  <a:latin typeface="Inter"/>
                  <a:ea typeface="Inter"/>
                  <a:cs typeface="Inter"/>
                  <a:sym typeface="Inter"/>
                </a:rPr>
                <a:t>Agentic AI for health-insurance cashless pre-authorisation</a:t>
              </a:r>
            </a:p>
          </p:txBody>
        </p:sp>
      </p:grpSp>
      <p:sp>
        <p:nvSpPr>
          <p:cNvPr name="AutoShape 34" id="34"/>
          <p:cNvSpPr/>
          <p:nvPr/>
        </p:nvSpPr>
        <p:spPr>
          <a:xfrm rot="6720">
            <a:off x="1032881" y="5577650"/>
            <a:ext cx="9702565" cy="0"/>
          </a:xfrm>
          <a:prstGeom prst="line">
            <a:avLst/>
          </a:prstGeom>
          <a:ln cap="rnd" w="9525">
            <a:solidFill>
              <a:srgbClr val="365266"/>
            </a:solidFill>
            <a:prstDash val="solid"/>
            <a:headEnd type="none" len="sm" w="sm"/>
            <a:tailEnd type="none" len="sm" w="sm"/>
          </a:ln>
        </p:spPr>
      </p:sp>
      <p:grpSp>
        <p:nvGrpSpPr>
          <p:cNvPr name="Group 35" id="35"/>
          <p:cNvGrpSpPr/>
          <p:nvPr/>
        </p:nvGrpSpPr>
        <p:grpSpPr>
          <a:xfrm rot="0">
            <a:off x="1056132" y="5939028"/>
            <a:ext cx="11041380" cy="658368"/>
            <a:chOff x="0" y="0"/>
            <a:chExt cx="14721840" cy="877824"/>
          </a:xfrm>
        </p:grpSpPr>
        <p:sp>
          <p:nvSpPr>
            <p:cNvPr name="Freeform 36" id="36"/>
            <p:cNvSpPr/>
            <p:nvPr/>
          </p:nvSpPr>
          <p:spPr>
            <a:xfrm flipH="false" flipV="false" rot="0">
              <a:off x="0" y="0"/>
              <a:ext cx="14721839" cy="877824"/>
            </a:xfrm>
            <a:custGeom>
              <a:avLst/>
              <a:gdLst/>
              <a:ahLst/>
              <a:cxnLst/>
              <a:rect r="r" b="b" t="t" l="l"/>
              <a:pathLst>
                <a:path h="877824" w="14721839">
                  <a:moveTo>
                    <a:pt x="0" y="0"/>
                  </a:moveTo>
                  <a:lnTo>
                    <a:pt x="14721839" y="0"/>
                  </a:lnTo>
                  <a:lnTo>
                    <a:pt x="14721839" y="877824"/>
                  </a:lnTo>
                  <a:lnTo>
                    <a:pt x="0" y="877824"/>
                  </a:lnTo>
                  <a:close/>
                </a:path>
              </a:pathLst>
            </a:custGeom>
            <a:blipFill>
              <a:blip r:embed="rId3">
                <a:alphaModFix amt="0"/>
              </a:blip>
              <a:stretch>
                <a:fillRect l="0" t="-276780" r="0" b="-276780"/>
              </a:stretch>
            </a:blipFill>
          </p:spPr>
        </p:sp>
        <p:sp>
          <p:nvSpPr>
            <p:cNvPr name="TextBox 37" id="37"/>
            <p:cNvSpPr txBox="true"/>
            <p:nvPr/>
          </p:nvSpPr>
          <p:spPr>
            <a:xfrm>
              <a:off x="0" y="0"/>
              <a:ext cx="14721840" cy="877824"/>
            </a:xfrm>
            <a:prstGeom prst="rect">
              <a:avLst/>
            </a:prstGeom>
          </p:spPr>
          <p:txBody>
            <a:bodyPr anchor="ctr" rtlCol="false" tIns="0" lIns="0" bIns="0" rIns="0"/>
            <a:lstStyle/>
            <a:p>
              <a:pPr algn="l">
                <a:lnSpc>
                  <a:spcPts val="2160"/>
                </a:lnSpc>
              </a:pPr>
              <a:r>
                <a:rPr lang="en-US" sz="1800">
                  <a:solidFill>
                    <a:srgbClr val="B9D0DC"/>
                  </a:solidFill>
                  <a:latin typeface="Inter"/>
                  <a:ea typeface="Inter"/>
                  <a:cs typeface="Inter"/>
                  <a:sym typeface="Inter"/>
                </a:rPr>
                <a:t>CA-3 · Agentic AI Proof of Concept  ·  Domain: Healthcare / Health Insurance</a:t>
              </a:r>
            </a:p>
          </p:txBody>
        </p:sp>
      </p:grpSp>
      <p:grpSp>
        <p:nvGrpSpPr>
          <p:cNvPr name="Group 38" id="38"/>
          <p:cNvGrpSpPr/>
          <p:nvPr/>
        </p:nvGrpSpPr>
        <p:grpSpPr>
          <a:xfrm rot="0">
            <a:off x="1056132" y="6844284"/>
            <a:ext cx="9738360" cy="1001268"/>
            <a:chOff x="0" y="0"/>
            <a:chExt cx="12984480" cy="1335024"/>
          </a:xfrm>
        </p:grpSpPr>
        <p:sp>
          <p:nvSpPr>
            <p:cNvPr name="Freeform 39" id="39"/>
            <p:cNvSpPr/>
            <p:nvPr/>
          </p:nvSpPr>
          <p:spPr>
            <a:xfrm flipH="false" flipV="false" rot="0">
              <a:off x="0" y="0"/>
              <a:ext cx="12984480" cy="1335024"/>
            </a:xfrm>
            <a:custGeom>
              <a:avLst/>
              <a:gdLst/>
              <a:ahLst/>
              <a:cxnLst/>
              <a:rect r="r" b="b" t="t" l="l"/>
              <a:pathLst>
                <a:path h="1335024" w="12984480">
                  <a:moveTo>
                    <a:pt x="0" y="0"/>
                  </a:moveTo>
                  <a:lnTo>
                    <a:pt x="12984480" y="0"/>
                  </a:lnTo>
                  <a:lnTo>
                    <a:pt x="12984480" y="1335024"/>
                  </a:lnTo>
                  <a:lnTo>
                    <a:pt x="0" y="1335024"/>
                  </a:lnTo>
                  <a:close/>
                </a:path>
              </a:pathLst>
            </a:custGeom>
            <a:blipFill>
              <a:blip r:embed="rId3">
                <a:alphaModFix amt="0"/>
              </a:blip>
              <a:stretch>
                <a:fillRect l="0" t="-139512" r="0" b="-139512"/>
              </a:stretch>
            </a:blipFill>
          </p:spPr>
        </p:sp>
        <p:sp>
          <p:nvSpPr>
            <p:cNvPr name="TextBox 40" id="40"/>
            <p:cNvSpPr txBox="true"/>
            <p:nvPr/>
          </p:nvSpPr>
          <p:spPr>
            <a:xfrm>
              <a:off x="0" y="-9525"/>
              <a:ext cx="12984480" cy="1344549"/>
            </a:xfrm>
            <a:prstGeom prst="rect">
              <a:avLst/>
            </a:prstGeom>
          </p:spPr>
          <p:txBody>
            <a:bodyPr anchor="ctr" rtlCol="false" tIns="0" lIns="0" bIns="0" rIns="0"/>
            <a:lstStyle/>
            <a:p>
              <a:pPr algn="l">
                <a:lnSpc>
                  <a:spcPts val="2915"/>
                </a:lnSpc>
              </a:pPr>
              <a:r>
                <a:rPr lang="en-US" sz="2429">
                  <a:solidFill>
                    <a:srgbClr val="FFFFFF"/>
                  </a:solidFill>
                  <a:latin typeface="Inter"/>
                  <a:ea typeface="Inter"/>
                  <a:cs typeface="Inter"/>
                  <a:sym typeface="Inter"/>
                </a:rPr>
                <a:t>Rishik Sinha · 24070126154</a:t>
              </a:r>
            </a:p>
            <a:p>
              <a:pPr algn="l">
                <a:lnSpc>
                  <a:spcPts val="2915"/>
                </a:lnSpc>
              </a:pPr>
              <a:r>
                <a:rPr lang="en-US" sz="2429">
                  <a:solidFill>
                    <a:srgbClr val="FFFFFF"/>
                  </a:solidFill>
                  <a:latin typeface="Inter"/>
                  <a:ea typeface="Inter"/>
                  <a:cs typeface="Inter"/>
                  <a:sym typeface="Inter"/>
                </a:rPr>
                <a:t>Rishik Gupta · 24070126153</a:t>
              </a:r>
            </a:p>
          </p:txBody>
        </p:sp>
      </p:grpSp>
      <p:sp>
        <p:nvSpPr>
          <p:cNvPr name="AutoShape 41" id="41"/>
          <p:cNvSpPr/>
          <p:nvPr/>
        </p:nvSpPr>
        <p:spPr>
          <a:xfrm rot="1018620">
            <a:off x="14274908" y="2889314"/>
            <a:ext cx="2064296" cy="0"/>
          </a:xfrm>
          <a:prstGeom prst="line">
            <a:avLst/>
          </a:prstGeom>
          <a:ln cap="rnd" w="9525">
            <a:solidFill>
              <a:srgbClr val="49718E"/>
            </a:solidFill>
            <a:prstDash val="solid"/>
            <a:headEnd type="none" len="sm" w="sm"/>
            <a:tailEnd type="none" len="sm" w="sm"/>
          </a:ln>
        </p:spPr>
      </p:sp>
      <p:sp>
        <p:nvSpPr>
          <p:cNvPr name="AutoShape 42" id="42"/>
          <p:cNvSpPr/>
          <p:nvPr/>
        </p:nvSpPr>
        <p:spPr>
          <a:xfrm rot="1320180">
            <a:off x="13423106" y="4823270"/>
            <a:ext cx="2780348" cy="0"/>
          </a:xfrm>
          <a:prstGeom prst="line">
            <a:avLst/>
          </a:prstGeom>
          <a:ln cap="rnd" w="9525">
            <a:solidFill>
              <a:srgbClr val="49718E"/>
            </a:solidFill>
            <a:prstDash val="solid"/>
            <a:headEnd type="none" len="sm" w="sm"/>
            <a:tailEnd type="none" len="sm" w="sm"/>
          </a:ln>
        </p:spPr>
      </p:sp>
      <p:sp>
        <p:nvSpPr>
          <p:cNvPr name="AutoShape 43" id="43"/>
          <p:cNvSpPr/>
          <p:nvPr/>
        </p:nvSpPr>
        <p:spPr>
          <a:xfrm rot="4592640">
            <a:off x="12621073" y="5447347"/>
            <a:ext cx="2354447" cy="0"/>
          </a:xfrm>
          <a:prstGeom prst="line">
            <a:avLst/>
          </a:prstGeom>
          <a:ln cap="rnd" w="9525">
            <a:solidFill>
              <a:srgbClr val="49718E"/>
            </a:solidFill>
            <a:prstDash val="solid"/>
            <a:headEnd type="none" len="sm" w="sm"/>
            <a:tailEnd type="none" len="sm" w="sm"/>
          </a:ln>
        </p:spPr>
      </p:sp>
      <p:sp>
        <p:nvSpPr>
          <p:cNvPr name="AutoShape 44" id="44"/>
          <p:cNvSpPr/>
          <p:nvPr/>
        </p:nvSpPr>
        <p:spPr>
          <a:xfrm rot="3490080">
            <a:off x="15602731" y="6167438"/>
            <a:ext cx="2000974" cy="0"/>
          </a:xfrm>
          <a:prstGeom prst="line">
            <a:avLst/>
          </a:prstGeom>
          <a:ln cap="rnd" w="9525">
            <a:solidFill>
              <a:srgbClr val="49718E"/>
            </a:solidFill>
            <a:prstDash val="solid"/>
            <a:headEnd type="none" len="sm" w="sm"/>
            <a:tailEnd type="none" len="sm" w="sm"/>
          </a:ln>
        </p:spPr>
      </p:sp>
      <p:grpSp>
        <p:nvGrpSpPr>
          <p:cNvPr name="Group 45" id="45"/>
          <p:cNvGrpSpPr/>
          <p:nvPr/>
        </p:nvGrpSpPr>
        <p:grpSpPr>
          <a:xfrm rot="0">
            <a:off x="13924026" y="2196846"/>
            <a:ext cx="859536" cy="859536"/>
            <a:chOff x="0" y="0"/>
            <a:chExt cx="1146048" cy="1146048"/>
          </a:xfrm>
        </p:grpSpPr>
        <p:sp>
          <p:nvSpPr>
            <p:cNvPr name="Freeform 46" id="46"/>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15283A"/>
            </a:solidFill>
            <a:ln w="22860" cap="sq">
              <a:solidFill>
                <a:srgbClr val="557289"/>
              </a:solidFill>
              <a:prstDash val="solid"/>
              <a:miter/>
            </a:ln>
          </p:spPr>
        </p:sp>
      </p:grpSp>
      <p:grpSp>
        <p:nvGrpSpPr>
          <p:cNvPr name="Group 47" id="47"/>
          <p:cNvGrpSpPr/>
          <p:nvPr/>
        </p:nvGrpSpPr>
        <p:grpSpPr>
          <a:xfrm rot="0">
            <a:off x="14213967" y="2486787"/>
            <a:ext cx="279654" cy="279654"/>
            <a:chOff x="0" y="0"/>
            <a:chExt cx="372872" cy="372872"/>
          </a:xfrm>
        </p:grpSpPr>
        <p:sp>
          <p:nvSpPr>
            <p:cNvPr name="Freeform 48" id="48"/>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FFFFFF"/>
            </a:solidFill>
          </p:spPr>
        </p:sp>
      </p:grpSp>
      <p:grpSp>
        <p:nvGrpSpPr>
          <p:cNvPr name="Group 49" id="49"/>
          <p:cNvGrpSpPr/>
          <p:nvPr/>
        </p:nvGrpSpPr>
        <p:grpSpPr>
          <a:xfrm rot="0">
            <a:off x="15871698" y="2772918"/>
            <a:ext cx="859536" cy="859536"/>
            <a:chOff x="0" y="0"/>
            <a:chExt cx="1146048" cy="1146048"/>
          </a:xfrm>
        </p:grpSpPr>
        <p:sp>
          <p:nvSpPr>
            <p:cNvPr name="Freeform 50" id="50"/>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15283A"/>
            </a:solidFill>
            <a:ln w="22860" cap="sq">
              <a:solidFill>
                <a:srgbClr val="557289"/>
              </a:solidFill>
              <a:prstDash val="solid"/>
              <a:miter/>
            </a:ln>
          </p:spPr>
        </p:sp>
      </p:grpSp>
      <p:grpSp>
        <p:nvGrpSpPr>
          <p:cNvPr name="Group 51" id="51"/>
          <p:cNvGrpSpPr/>
          <p:nvPr/>
        </p:nvGrpSpPr>
        <p:grpSpPr>
          <a:xfrm rot="0">
            <a:off x="16161639" y="3062859"/>
            <a:ext cx="279654" cy="279654"/>
            <a:chOff x="0" y="0"/>
            <a:chExt cx="372872" cy="372872"/>
          </a:xfrm>
        </p:grpSpPr>
        <p:sp>
          <p:nvSpPr>
            <p:cNvPr name="Freeform 52" id="52"/>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FFFFFF"/>
            </a:solidFill>
          </p:spPr>
        </p:sp>
      </p:grpSp>
      <p:grpSp>
        <p:nvGrpSpPr>
          <p:cNvPr name="Group 53" id="53"/>
          <p:cNvGrpSpPr/>
          <p:nvPr/>
        </p:nvGrpSpPr>
        <p:grpSpPr>
          <a:xfrm rot="0">
            <a:off x="13128498" y="3911346"/>
            <a:ext cx="859536" cy="859536"/>
            <a:chOff x="0" y="0"/>
            <a:chExt cx="1146048" cy="1146048"/>
          </a:xfrm>
        </p:grpSpPr>
        <p:sp>
          <p:nvSpPr>
            <p:cNvPr name="Freeform 54" id="54"/>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15283A"/>
            </a:solidFill>
            <a:ln w="22860" cap="sq">
              <a:solidFill>
                <a:srgbClr val="557289"/>
              </a:solidFill>
              <a:prstDash val="solid"/>
              <a:miter/>
            </a:ln>
          </p:spPr>
        </p:sp>
      </p:grpSp>
      <p:grpSp>
        <p:nvGrpSpPr>
          <p:cNvPr name="Group 55" id="55"/>
          <p:cNvGrpSpPr/>
          <p:nvPr/>
        </p:nvGrpSpPr>
        <p:grpSpPr>
          <a:xfrm rot="0">
            <a:off x="13418439" y="4201287"/>
            <a:ext cx="279654" cy="279654"/>
            <a:chOff x="0" y="0"/>
            <a:chExt cx="372872" cy="372872"/>
          </a:xfrm>
        </p:grpSpPr>
        <p:sp>
          <p:nvSpPr>
            <p:cNvPr name="Freeform 56" id="56"/>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FFFFFF"/>
            </a:solidFill>
          </p:spPr>
        </p:sp>
      </p:grpSp>
      <p:grpSp>
        <p:nvGrpSpPr>
          <p:cNvPr name="Group 57" id="57"/>
          <p:cNvGrpSpPr/>
          <p:nvPr/>
        </p:nvGrpSpPr>
        <p:grpSpPr>
          <a:xfrm rot="0">
            <a:off x="15679674" y="4926330"/>
            <a:ext cx="859536" cy="859536"/>
            <a:chOff x="0" y="0"/>
            <a:chExt cx="1146048" cy="1146048"/>
          </a:xfrm>
        </p:grpSpPr>
        <p:sp>
          <p:nvSpPr>
            <p:cNvPr name="Freeform 58" id="58"/>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BAF389"/>
            </a:solidFill>
            <a:ln w="22860" cap="sq">
              <a:solidFill>
                <a:srgbClr val="BAF389"/>
              </a:solidFill>
              <a:prstDash val="solid"/>
              <a:miter/>
            </a:ln>
          </p:spPr>
        </p:sp>
      </p:grpSp>
      <p:grpSp>
        <p:nvGrpSpPr>
          <p:cNvPr name="Group 59" id="59"/>
          <p:cNvGrpSpPr/>
          <p:nvPr/>
        </p:nvGrpSpPr>
        <p:grpSpPr>
          <a:xfrm rot="0">
            <a:off x="15969615" y="5216271"/>
            <a:ext cx="279654" cy="279654"/>
            <a:chOff x="0" y="0"/>
            <a:chExt cx="372872" cy="372872"/>
          </a:xfrm>
        </p:grpSpPr>
        <p:sp>
          <p:nvSpPr>
            <p:cNvPr name="Freeform 60" id="60"/>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101E2B"/>
            </a:solidFill>
          </p:spPr>
        </p:sp>
      </p:grpSp>
      <p:grpSp>
        <p:nvGrpSpPr>
          <p:cNvPr name="Group 61" id="61"/>
          <p:cNvGrpSpPr/>
          <p:nvPr/>
        </p:nvGrpSpPr>
        <p:grpSpPr>
          <a:xfrm rot="0">
            <a:off x="13649706" y="6174486"/>
            <a:ext cx="859536" cy="859536"/>
            <a:chOff x="0" y="0"/>
            <a:chExt cx="1146048" cy="1146048"/>
          </a:xfrm>
        </p:grpSpPr>
        <p:sp>
          <p:nvSpPr>
            <p:cNvPr name="Freeform 62" id="62"/>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15283A"/>
            </a:solidFill>
            <a:ln w="22860" cap="sq">
              <a:solidFill>
                <a:srgbClr val="557289"/>
              </a:solidFill>
              <a:prstDash val="solid"/>
              <a:miter/>
            </a:ln>
          </p:spPr>
        </p:sp>
      </p:grpSp>
      <p:grpSp>
        <p:nvGrpSpPr>
          <p:cNvPr name="Group 63" id="63"/>
          <p:cNvGrpSpPr/>
          <p:nvPr/>
        </p:nvGrpSpPr>
        <p:grpSpPr>
          <a:xfrm rot="0">
            <a:off x="13939647" y="6464427"/>
            <a:ext cx="279654" cy="279654"/>
            <a:chOff x="0" y="0"/>
            <a:chExt cx="372872" cy="372872"/>
          </a:xfrm>
        </p:grpSpPr>
        <p:sp>
          <p:nvSpPr>
            <p:cNvPr name="Freeform 64" id="64"/>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FFFFFF"/>
            </a:solidFill>
          </p:spPr>
        </p:sp>
      </p:grpSp>
      <p:grpSp>
        <p:nvGrpSpPr>
          <p:cNvPr name="Group 65" id="65"/>
          <p:cNvGrpSpPr/>
          <p:nvPr/>
        </p:nvGrpSpPr>
        <p:grpSpPr>
          <a:xfrm rot="0">
            <a:off x="16708374" y="6599682"/>
            <a:ext cx="859536" cy="859536"/>
            <a:chOff x="0" y="0"/>
            <a:chExt cx="1146048" cy="1146048"/>
          </a:xfrm>
        </p:grpSpPr>
        <p:sp>
          <p:nvSpPr>
            <p:cNvPr name="Freeform 66" id="66"/>
            <p:cNvSpPr/>
            <p:nvPr/>
          </p:nvSpPr>
          <p:spPr>
            <a:xfrm flipH="false" flipV="false" rot="0">
              <a:off x="0" y="0"/>
              <a:ext cx="1146048" cy="1146048"/>
            </a:xfrm>
            <a:custGeom>
              <a:avLst/>
              <a:gdLst/>
              <a:ahLst/>
              <a:cxnLst/>
              <a:rect r="r" b="b" t="t" l="l"/>
              <a:pathLst>
                <a:path h="1146048" w="1146048">
                  <a:moveTo>
                    <a:pt x="0" y="573024"/>
                  </a:moveTo>
                  <a:cubicBezTo>
                    <a:pt x="0" y="256540"/>
                    <a:pt x="256540" y="0"/>
                    <a:pt x="573024" y="0"/>
                  </a:cubicBezTo>
                  <a:cubicBezTo>
                    <a:pt x="889508" y="0"/>
                    <a:pt x="1146048" y="256540"/>
                    <a:pt x="1146048" y="573024"/>
                  </a:cubicBezTo>
                  <a:cubicBezTo>
                    <a:pt x="1146048" y="889508"/>
                    <a:pt x="889508" y="1146048"/>
                    <a:pt x="573024" y="1146048"/>
                  </a:cubicBezTo>
                  <a:cubicBezTo>
                    <a:pt x="256540" y="1146048"/>
                    <a:pt x="0" y="889508"/>
                    <a:pt x="0" y="573024"/>
                  </a:cubicBezTo>
                  <a:close/>
                </a:path>
              </a:pathLst>
            </a:custGeom>
            <a:solidFill>
              <a:srgbClr val="15283A"/>
            </a:solidFill>
            <a:ln w="22860" cap="sq">
              <a:solidFill>
                <a:srgbClr val="557289"/>
              </a:solidFill>
              <a:prstDash val="solid"/>
              <a:miter/>
            </a:ln>
          </p:spPr>
        </p:sp>
      </p:grpSp>
      <p:grpSp>
        <p:nvGrpSpPr>
          <p:cNvPr name="Group 67" id="67"/>
          <p:cNvGrpSpPr/>
          <p:nvPr/>
        </p:nvGrpSpPr>
        <p:grpSpPr>
          <a:xfrm rot="0">
            <a:off x="16998315" y="6889623"/>
            <a:ext cx="279654" cy="279654"/>
            <a:chOff x="0" y="0"/>
            <a:chExt cx="372872" cy="372872"/>
          </a:xfrm>
        </p:grpSpPr>
        <p:sp>
          <p:nvSpPr>
            <p:cNvPr name="Freeform 68" id="68"/>
            <p:cNvSpPr/>
            <p:nvPr/>
          </p:nvSpPr>
          <p:spPr>
            <a:xfrm flipH="false" flipV="false" rot="0">
              <a:off x="0" y="0"/>
              <a:ext cx="372872" cy="372872"/>
            </a:xfrm>
            <a:custGeom>
              <a:avLst/>
              <a:gdLst/>
              <a:ahLst/>
              <a:cxnLst/>
              <a:rect r="r" b="b" t="t" l="l"/>
              <a:pathLst>
                <a:path h="372872" w="372872">
                  <a:moveTo>
                    <a:pt x="0" y="186436"/>
                  </a:moveTo>
                  <a:cubicBezTo>
                    <a:pt x="0" y="83439"/>
                    <a:pt x="83439" y="0"/>
                    <a:pt x="186436" y="0"/>
                  </a:cubicBezTo>
                  <a:cubicBezTo>
                    <a:pt x="289433" y="0"/>
                    <a:pt x="372872" y="83439"/>
                    <a:pt x="372872" y="186436"/>
                  </a:cubicBezTo>
                  <a:cubicBezTo>
                    <a:pt x="372872" y="289433"/>
                    <a:pt x="289433" y="372872"/>
                    <a:pt x="186436" y="372872"/>
                  </a:cubicBezTo>
                  <a:cubicBezTo>
                    <a:pt x="83439" y="372872"/>
                    <a:pt x="0" y="289433"/>
                    <a:pt x="0" y="186436"/>
                  </a:cubicBezTo>
                  <a:close/>
                </a:path>
              </a:pathLst>
            </a:custGeom>
            <a:solidFill>
              <a:srgbClr val="BAF389"/>
            </a:solidFill>
          </p:spPr>
        </p:sp>
      </p:grpSp>
      <p:grpSp>
        <p:nvGrpSpPr>
          <p:cNvPr name="Group 69" id="69"/>
          <p:cNvGrpSpPr/>
          <p:nvPr/>
        </p:nvGrpSpPr>
        <p:grpSpPr>
          <a:xfrm rot="0">
            <a:off x="-9525" y="8220075"/>
            <a:ext cx="18307050" cy="2076450"/>
            <a:chOff x="0" y="0"/>
            <a:chExt cx="24409400" cy="2768600"/>
          </a:xfrm>
        </p:grpSpPr>
        <p:sp>
          <p:nvSpPr>
            <p:cNvPr name="Freeform 70" id="70"/>
            <p:cNvSpPr/>
            <p:nvPr/>
          </p:nvSpPr>
          <p:spPr>
            <a:xfrm flipH="false" flipV="false" rot="0">
              <a:off x="0" y="0"/>
              <a:ext cx="24409400" cy="2768600"/>
            </a:xfrm>
            <a:custGeom>
              <a:avLst/>
              <a:gdLst/>
              <a:ahLst/>
              <a:cxnLst/>
              <a:rect r="r" b="b" t="t" l="l"/>
              <a:pathLst>
                <a:path h="2768600" w="24409400">
                  <a:moveTo>
                    <a:pt x="0" y="0"/>
                  </a:moveTo>
                  <a:lnTo>
                    <a:pt x="24409400" y="0"/>
                  </a:lnTo>
                  <a:lnTo>
                    <a:pt x="24409400" y="2768600"/>
                  </a:lnTo>
                  <a:lnTo>
                    <a:pt x="0" y="2768600"/>
                  </a:lnTo>
                  <a:close/>
                </a:path>
              </a:pathLst>
            </a:custGeom>
            <a:solidFill>
              <a:srgbClr val="122536"/>
            </a:solidFill>
          </p:spPr>
        </p:sp>
      </p:grpSp>
      <p:sp>
        <p:nvSpPr>
          <p:cNvPr name="AutoShape 71" id="71"/>
          <p:cNvSpPr/>
          <p:nvPr/>
        </p:nvSpPr>
        <p:spPr>
          <a:xfrm rot="2580">
            <a:off x="1036225" y="8224838"/>
            <a:ext cx="16348138" cy="0"/>
          </a:xfrm>
          <a:prstGeom prst="line">
            <a:avLst/>
          </a:prstGeom>
          <a:ln cap="rnd" w="9525">
            <a:solidFill>
              <a:srgbClr val="415466"/>
            </a:solidFill>
            <a:prstDash val="solid"/>
            <a:headEnd type="none" len="sm" w="sm"/>
            <a:tailEnd type="none" len="sm" w="sm"/>
          </a:ln>
        </p:spPr>
      </p:sp>
      <p:grpSp>
        <p:nvGrpSpPr>
          <p:cNvPr name="Group 72" id="72"/>
          <p:cNvGrpSpPr/>
          <p:nvPr/>
        </p:nvGrpSpPr>
        <p:grpSpPr>
          <a:xfrm rot="0">
            <a:off x="1060323" y="8878443"/>
            <a:ext cx="595122" cy="595122"/>
            <a:chOff x="0" y="0"/>
            <a:chExt cx="793496" cy="793496"/>
          </a:xfrm>
        </p:grpSpPr>
        <p:sp>
          <p:nvSpPr>
            <p:cNvPr name="Freeform 73" id="73"/>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28485B"/>
            </a:solidFill>
          </p:spPr>
        </p:sp>
      </p:grpSp>
      <p:grpSp>
        <p:nvGrpSpPr>
          <p:cNvPr name="Group 74" id="74"/>
          <p:cNvGrpSpPr/>
          <p:nvPr/>
        </p:nvGrpSpPr>
        <p:grpSpPr>
          <a:xfrm rot="0">
            <a:off x="1069848" y="8915400"/>
            <a:ext cx="576072" cy="466344"/>
            <a:chOff x="0" y="0"/>
            <a:chExt cx="768096" cy="621792"/>
          </a:xfrm>
        </p:grpSpPr>
        <p:sp>
          <p:nvSpPr>
            <p:cNvPr name="Freeform 75" id="75"/>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76" id="76"/>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FFFFFF"/>
                  </a:solidFill>
                  <a:latin typeface="Inter Bold"/>
                  <a:ea typeface="Inter Bold"/>
                  <a:cs typeface="Inter Bold"/>
                  <a:sym typeface="Inter Bold"/>
                </a:rPr>
                <a:t>1</a:t>
              </a:r>
            </a:p>
          </p:txBody>
        </p:sp>
      </p:grpSp>
      <p:grpSp>
        <p:nvGrpSpPr>
          <p:cNvPr name="Group 77" id="77"/>
          <p:cNvGrpSpPr/>
          <p:nvPr/>
        </p:nvGrpSpPr>
        <p:grpSpPr>
          <a:xfrm rot="0">
            <a:off x="1810512" y="8887968"/>
            <a:ext cx="1837944" cy="534924"/>
            <a:chOff x="0" y="0"/>
            <a:chExt cx="2450592" cy="713232"/>
          </a:xfrm>
        </p:grpSpPr>
        <p:sp>
          <p:nvSpPr>
            <p:cNvPr name="Freeform 78" id="78"/>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79" id="79"/>
            <p:cNvSpPr txBox="true"/>
            <p:nvPr/>
          </p:nvSpPr>
          <p:spPr>
            <a:xfrm>
              <a:off x="0" y="-9525"/>
              <a:ext cx="2450592" cy="722757"/>
            </a:xfrm>
            <a:prstGeom prst="rect">
              <a:avLst/>
            </a:prstGeom>
          </p:spPr>
          <p:txBody>
            <a:bodyPr anchor="ctr" rtlCol="false" tIns="0" lIns="0" bIns="0" rIns="0"/>
            <a:lstStyle/>
            <a:p>
              <a:pPr algn="l">
                <a:lnSpc>
                  <a:spcPts val="2304"/>
                </a:lnSpc>
              </a:pPr>
              <a:r>
                <a:rPr lang="en-US" sz="1920">
                  <a:solidFill>
                    <a:srgbClr val="E2EBEF"/>
                  </a:solidFill>
                  <a:latin typeface="Inter"/>
                  <a:ea typeface="Inter"/>
                  <a:cs typeface="Inter"/>
                  <a:sym typeface="Inter"/>
                </a:rPr>
                <a:t>Planner</a:t>
              </a:r>
            </a:p>
          </p:txBody>
        </p:sp>
      </p:grpSp>
      <p:grpSp>
        <p:nvGrpSpPr>
          <p:cNvPr name="Group 80" id="80"/>
          <p:cNvGrpSpPr/>
          <p:nvPr/>
        </p:nvGrpSpPr>
        <p:grpSpPr>
          <a:xfrm rot="0">
            <a:off x="3858387" y="8878443"/>
            <a:ext cx="595122" cy="595122"/>
            <a:chOff x="0" y="0"/>
            <a:chExt cx="793496" cy="793496"/>
          </a:xfrm>
        </p:grpSpPr>
        <p:sp>
          <p:nvSpPr>
            <p:cNvPr name="Freeform 81" id="81"/>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28485B"/>
            </a:solidFill>
          </p:spPr>
        </p:sp>
      </p:grpSp>
      <p:grpSp>
        <p:nvGrpSpPr>
          <p:cNvPr name="Group 82" id="82"/>
          <p:cNvGrpSpPr/>
          <p:nvPr/>
        </p:nvGrpSpPr>
        <p:grpSpPr>
          <a:xfrm rot="0">
            <a:off x="3867912" y="8915400"/>
            <a:ext cx="576072" cy="466344"/>
            <a:chOff x="0" y="0"/>
            <a:chExt cx="768096" cy="621792"/>
          </a:xfrm>
        </p:grpSpPr>
        <p:sp>
          <p:nvSpPr>
            <p:cNvPr name="Freeform 83" id="83"/>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84" id="84"/>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FFFFFF"/>
                  </a:solidFill>
                  <a:latin typeface="Inter Bold"/>
                  <a:ea typeface="Inter Bold"/>
                  <a:cs typeface="Inter Bold"/>
                  <a:sym typeface="Inter Bold"/>
                </a:rPr>
                <a:t>2</a:t>
              </a:r>
            </a:p>
          </p:txBody>
        </p:sp>
      </p:grpSp>
      <p:grpSp>
        <p:nvGrpSpPr>
          <p:cNvPr name="Group 85" id="85"/>
          <p:cNvGrpSpPr/>
          <p:nvPr/>
        </p:nvGrpSpPr>
        <p:grpSpPr>
          <a:xfrm rot="0">
            <a:off x="4608576" y="8887968"/>
            <a:ext cx="1837944" cy="534924"/>
            <a:chOff x="0" y="0"/>
            <a:chExt cx="2450592" cy="713232"/>
          </a:xfrm>
        </p:grpSpPr>
        <p:sp>
          <p:nvSpPr>
            <p:cNvPr name="Freeform 86" id="86"/>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87" id="87"/>
            <p:cNvSpPr txBox="true"/>
            <p:nvPr/>
          </p:nvSpPr>
          <p:spPr>
            <a:xfrm>
              <a:off x="0" y="-9525"/>
              <a:ext cx="2450592" cy="722757"/>
            </a:xfrm>
            <a:prstGeom prst="rect">
              <a:avLst/>
            </a:prstGeom>
          </p:spPr>
          <p:txBody>
            <a:bodyPr anchor="ctr" rtlCol="false" tIns="0" lIns="0" bIns="0" rIns="0"/>
            <a:lstStyle/>
            <a:p>
              <a:pPr algn="l">
                <a:lnSpc>
                  <a:spcPts val="2304"/>
                </a:lnSpc>
              </a:pPr>
              <a:r>
                <a:rPr lang="en-US" sz="1920">
                  <a:solidFill>
                    <a:srgbClr val="E2EBEF"/>
                  </a:solidFill>
                  <a:latin typeface="Inter"/>
                  <a:ea typeface="Inter"/>
                  <a:cs typeface="Inter"/>
                  <a:sym typeface="Inter"/>
                </a:rPr>
                <a:t>Intake</a:t>
              </a:r>
            </a:p>
          </p:txBody>
        </p:sp>
      </p:grpSp>
      <p:grpSp>
        <p:nvGrpSpPr>
          <p:cNvPr name="Group 88" id="88"/>
          <p:cNvGrpSpPr/>
          <p:nvPr/>
        </p:nvGrpSpPr>
        <p:grpSpPr>
          <a:xfrm rot="0">
            <a:off x="6656451" y="8878443"/>
            <a:ext cx="595122" cy="595122"/>
            <a:chOff x="0" y="0"/>
            <a:chExt cx="793496" cy="793496"/>
          </a:xfrm>
        </p:grpSpPr>
        <p:sp>
          <p:nvSpPr>
            <p:cNvPr name="Freeform 89" id="89"/>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28485B"/>
            </a:solidFill>
          </p:spPr>
        </p:sp>
      </p:grpSp>
      <p:grpSp>
        <p:nvGrpSpPr>
          <p:cNvPr name="Group 90" id="90"/>
          <p:cNvGrpSpPr/>
          <p:nvPr/>
        </p:nvGrpSpPr>
        <p:grpSpPr>
          <a:xfrm rot="0">
            <a:off x="6665976" y="8915400"/>
            <a:ext cx="576072" cy="466344"/>
            <a:chOff x="0" y="0"/>
            <a:chExt cx="768096" cy="621792"/>
          </a:xfrm>
        </p:grpSpPr>
        <p:sp>
          <p:nvSpPr>
            <p:cNvPr name="Freeform 91" id="91"/>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92" id="92"/>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FFFFFF"/>
                  </a:solidFill>
                  <a:latin typeface="Inter Bold"/>
                  <a:ea typeface="Inter Bold"/>
                  <a:cs typeface="Inter Bold"/>
                  <a:sym typeface="Inter Bold"/>
                </a:rPr>
                <a:t>3</a:t>
              </a:r>
            </a:p>
          </p:txBody>
        </p:sp>
      </p:grpSp>
      <p:grpSp>
        <p:nvGrpSpPr>
          <p:cNvPr name="Group 93" id="93"/>
          <p:cNvGrpSpPr/>
          <p:nvPr/>
        </p:nvGrpSpPr>
        <p:grpSpPr>
          <a:xfrm rot="0">
            <a:off x="7406640" y="8887968"/>
            <a:ext cx="1837944" cy="534924"/>
            <a:chOff x="0" y="0"/>
            <a:chExt cx="2450592" cy="713232"/>
          </a:xfrm>
        </p:grpSpPr>
        <p:sp>
          <p:nvSpPr>
            <p:cNvPr name="Freeform 94" id="94"/>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95" id="95"/>
            <p:cNvSpPr txBox="true"/>
            <p:nvPr/>
          </p:nvSpPr>
          <p:spPr>
            <a:xfrm>
              <a:off x="0" y="-9525"/>
              <a:ext cx="2450592" cy="722757"/>
            </a:xfrm>
            <a:prstGeom prst="rect">
              <a:avLst/>
            </a:prstGeom>
          </p:spPr>
          <p:txBody>
            <a:bodyPr anchor="ctr" rtlCol="false" tIns="0" lIns="0" bIns="0" rIns="0"/>
            <a:lstStyle/>
            <a:p>
              <a:pPr algn="l">
                <a:lnSpc>
                  <a:spcPts val="2304"/>
                </a:lnSpc>
              </a:pPr>
              <a:r>
                <a:rPr lang="en-US" sz="1920">
                  <a:solidFill>
                    <a:srgbClr val="E2EBEF"/>
                  </a:solidFill>
                  <a:latin typeface="Inter"/>
                  <a:ea typeface="Inter"/>
                  <a:cs typeface="Inter"/>
                  <a:sym typeface="Inter"/>
                </a:rPr>
                <a:t>Research</a:t>
              </a:r>
            </a:p>
          </p:txBody>
        </p:sp>
      </p:grpSp>
      <p:grpSp>
        <p:nvGrpSpPr>
          <p:cNvPr name="Group 96" id="96"/>
          <p:cNvGrpSpPr/>
          <p:nvPr/>
        </p:nvGrpSpPr>
        <p:grpSpPr>
          <a:xfrm rot="0">
            <a:off x="9454515" y="8878443"/>
            <a:ext cx="595122" cy="595122"/>
            <a:chOff x="0" y="0"/>
            <a:chExt cx="793496" cy="793496"/>
          </a:xfrm>
        </p:grpSpPr>
        <p:sp>
          <p:nvSpPr>
            <p:cNvPr name="Freeform 97" id="97"/>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BAF389"/>
            </a:solidFill>
          </p:spPr>
        </p:sp>
      </p:grpSp>
      <p:grpSp>
        <p:nvGrpSpPr>
          <p:cNvPr name="Group 98" id="98"/>
          <p:cNvGrpSpPr/>
          <p:nvPr/>
        </p:nvGrpSpPr>
        <p:grpSpPr>
          <a:xfrm rot="0">
            <a:off x="9464040" y="8915400"/>
            <a:ext cx="576072" cy="466344"/>
            <a:chOff x="0" y="0"/>
            <a:chExt cx="768096" cy="621792"/>
          </a:xfrm>
        </p:grpSpPr>
        <p:sp>
          <p:nvSpPr>
            <p:cNvPr name="Freeform 99" id="99"/>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100" id="100"/>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101E2B"/>
                  </a:solidFill>
                  <a:latin typeface="Inter Bold"/>
                  <a:ea typeface="Inter Bold"/>
                  <a:cs typeface="Inter Bold"/>
                  <a:sym typeface="Inter Bold"/>
                </a:rPr>
                <a:t>4</a:t>
              </a:r>
            </a:p>
          </p:txBody>
        </p:sp>
      </p:grpSp>
      <p:grpSp>
        <p:nvGrpSpPr>
          <p:cNvPr name="Group 101" id="101"/>
          <p:cNvGrpSpPr/>
          <p:nvPr/>
        </p:nvGrpSpPr>
        <p:grpSpPr>
          <a:xfrm rot="0">
            <a:off x="10204704" y="8887968"/>
            <a:ext cx="1837944" cy="534924"/>
            <a:chOff x="0" y="0"/>
            <a:chExt cx="2450592" cy="713232"/>
          </a:xfrm>
        </p:grpSpPr>
        <p:sp>
          <p:nvSpPr>
            <p:cNvPr name="Freeform 102" id="102"/>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103" id="103"/>
            <p:cNvSpPr txBox="true"/>
            <p:nvPr/>
          </p:nvSpPr>
          <p:spPr>
            <a:xfrm>
              <a:off x="0" y="-9525"/>
              <a:ext cx="2450592" cy="722757"/>
            </a:xfrm>
            <a:prstGeom prst="rect">
              <a:avLst/>
            </a:prstGeom>
          </p:spPr>
          <p:txBody>
            <a:bodyPr anchor="ctr" rtlCol="false" tIns="0" lIns="0" bIns="0" rIns="0"/>
            <a:lstStyle/>
            <a:p>
              <a:pPr algn="l">
                <a:lnSpc>
                  <a:spcPts val="2304"/>
                </a:lnSpc>
              </a:pPr>
              <a:r>
                <a:rPr lang="en-US" sz="1920" b="true">
                  <a:solidFill>
                    <a:srgbClr val="BAF389"/>
                  </a:solidFill>
                  <a:latin typeface="Inter Bold"/>
                  <a:ea typeface="Inter Bold"/>
                  <a:cs typeface="Inter Bold"/>
                  <a:sym typeface="Inter Bold"/>
                </a:rPr>
                <a:t>Executor</a:t>
              </a:r>
            </a:p>
          </p:txBody>
        </p:sp>
      </p:grpSp>
      <p:grpSp>
        <p:nvGrpSpPr>
          <p:cNvPr name="Group 104" id="104"/>
          <p:cNvGrpSpPr/>
          <p:nvPr/>
        </p:nvGrpSpPr>
        <p:grpSpPr>
          <a:xfrm rot="0">
            <a:off x="12252579" y="8878443"/>
            <a:ext cx="595122" cy="595122"/>
            <a:chOff x="0" y="0"/>
            <a:chExt cx="793496" cy="793496"/>
          </a:xfrm>
        </p:grpSpPr>
        <p:sp>
          <p:nvSpPr>
            <p:cNvPr name="Freeform 105" id="105"/>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28485B"/>
            </a:solidFill>
          </p:spPr>
        </p:sp>
      </p:grpSp>
      <p:grpSp>
        <p:nvGrpSpPr>
          <p:cNvPr name="Group 106" id="106"/>
          <p:cNvGrpSpPr/>
          <p:nvPr/>
        </p:nvGrpSpPr>
        <p:grpSpPr>
          <a:xfrm rot="0">
            <a:off x="12262104" y="8915400"/>
            <a:ext cx="576072" cy="466344"/>
            <a:chOff x="0" y="0"/>
            <a:chExt cx="768096" cy="621792"/>
          </a:xfrm>
        </p:grpSpPr>
        <p:sp>
          <p:nvSpPr>
            <p:cNvPr name="Freeform 107" id="107"/>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108" id="108"/>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FFFFFF"/>
                  </a:solidFill>
                  <a:latin typeface="Inter Bold"/>
                  <a:ea typeface="Inter Bold"/>
                  <a:cs typeface="Inter Bold"/>
                  <a:sym typeface="Inter Bold"/>
                </a:rPr>
                <a:t>5</a:t>
              </a:r>
            </a:p>
          </p:txBody>
        </p:sp>
      </p:grpSp>
      <p:grpSp>
        <p:nvGrpSpPr>
          <p:cNvPr name="Group 109" id="109"/>
          <p:cNvGrpSpPr/>
          <p:nvPr/>
        </p:nvGrpSpPr>
        <p:grpSpPr>
          <a:xfrm rot="0">
            <a:off x="13002768" y="8887968"/>
            <a:ext cx="1837944" cy="534924"/>
            <a:chOff x="0" y="0"/>
            <a:chExt cx="2450592" cy="713232"/>
          </a:xfrm>
        </p:grpSpPr>
        <p:sp>
          <p:nvSpPr>
            <p:cNvPr name="Freeform 110" id="110"/>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111" id="111"/>
            <p:cNvSpPr txBox="true"/>
            <p:nvPr/>
          </p:nvSpPr>
          <p:spPr>
            <a:xfrm>
              <a:off x="0" y="-9525"/>
              <a:ext cx="2450592" cy="722757"/>
            </a:xfrm>
            <a:prstGeom prst="rect">
              <a:avLst/>
            </a:prstGeom>
          </p:spPr>
          <p:txBody>
            <a:bodyPr anchor="ctr" rtlCol="false" tIns="0" lIns="0" bIns="0" rIns="0"/>
            <a:lstStyle/>
            <a:p>
              <a:pPr algn="l">
                <a:lnSpc>
                  <a:spcPts val="2304"/>
                </a:lnSpc>
              </a:pPr>
              <a:r>
                <a:rPr lang="en-US" sz="1920">
                  <a:solidFill>
                    <a:srgbClr val="E2EBEF"/>
                  </a:solidFill>
                  <a:latin typeface="Inter"/>
                  <a:ea typeface="Inter"/>
                  <a:cs typeface="Inter"/>
                  <a:sym typeface="Inter"/>
                </a:rPr>
                <a:t>Critic</a:t>
              </a:r>
            </a:p>
          </p:txBody>
        </p:sp>
      </p:grpSp>
      <p:grpSp>
        <p:nvGrpSpPr>
          <p:cNvPr name="Group 112" id="112"/>
          <p:cNvGrpSpPr/>
          <p:nvPr/>
        </p:nvGrpSpPr>
        <p:grpSpPr>
          <a:xfrm rot="0">
            <a:off x="15050643" y="8878443"/>
            <a:ext cx="595122" cy="595122"/>
            <a:chOff x="0" y="0"/>
            <a:chExt cx="793496" cy="793496"/>
          </a:xfrm>
        </p:grpSpPr>
        <p:sp>
          <p:nvSpPr>
            <p:cNvPr name="Freeform 113" id="113"/>
            <p:cNvSpPr/>
            <p:nvPr/>
          </p:nvSpPr>
          <p:spPr>
            <a:xfrm flipH="false" flipV="false" rot="0">
              <a:off x="0" y="0"/>
              <a:ext cx="793496" cy="793496"/>
            </a:xfrm>
            <a:custGeom>
              <a:avLst/>
              <a:gdLst/>
              <a:ahLst/>
              <a:cxnLst/>
              <a:rect r="r" b="b" t="t" l="l"/>
              <a:pathLst>
                <a:path h="793496" w="793496">
                  <a:moveTo>
                    <a:pt x="0" y="396748"/>
                  </a:moveTo>
                  <a:cubicBezTo>
                    <a:pt x="0" y="177673"/>
                    <a:pt x="177673" y="0"/>
                    <a:pt x="396748" y="0"/>
                  </a:cubicBezTo>
                  <a:cubicBezTo>
                    <a:pt x="615823" y="0"/>
                    <a:pt x="793496" y="177673"/>
                    <a:pt x="793496" y="396748"/>
                  </a:cubicBezTo>
                  <a:cubicBezTo>
                    <a:pt x="793496" y="615823"/>
                    <a:pt x="615823" y="793496"/>
                    <a:pt x="396748" y="793496"/>
                  </a:cubicBezTo>
                  <a:cubicBezTo>
                    <a:pt x="177673" y="793496"/>
                    <a:pt x="0" y="615823"/>
                    <a:pt x="0" y="396748"/>
                  </a:cubicBezTo>
                  <a:close/>
                </a:path>
              </a:pathLst>
            </a:custGeom>
            <a:solidFill>
              <a:srgbClr val="28485B"/>
            </a:solidFill>
          </p:spPr>
        </p:sp>
      </p:grpSp>
      <p:grpSp>
        <p:nvGrpSpPr>
          <p:cNvPr name="Group 114" id="114"/>
          <p:cNvGrpSpPr/>
          <p:nvPr/>
        </p:nvGrpSpPr>
        <p:grpSpPr>
          <a:xfrm rot="0">
            <a:off x="15060168" y="8915400"/>
            <a:ext cx="576072" cy="466344"/>
            <a:chOff x="0" y="0"/>
            <a:chExt cx="768096" cy="621792"/>
          </a:xfrm>
        </p:grpSpPr>
        <p:sp>
          <p:nvSpPr>
            <p:cNvPr name="Freeform 115" id="115"/>
            <p:cNvSpPr/>
            <p:nvPr/>
          </p:nvSpPr>
          <p:spPr>
            <a:xfrm flipH="false" flipV="false" rot="0">
              <a:off x="0" y="0"/>
              <a:ext cx="768096" cy="621792"/>
            </a:xfrm>
            <a:custGeom>
              <a:avLst/>
              <a:gdLst/>
              <a:ahLst/>
              <a:cxnLst/>
              <a:rect r="r" b="b" t="t" l="l"/>
              <a:pathLst>
                <a:path h="621792" w="768096">
                  <a:moveTo>
                    <a:pt x="0" y="0"/>
                  </a:moveTo>
                  <a:lnTo>
                    <a:pt x="768096" y="0"/>
                  </a:lnTo>
                  <a:lnTo>
                    <a:pt x="768096" y="621792"/>
                  </a:lnTo>
                  <a:lnTo>
                    <a:pt x="0" y="621792"/>
                  </a:lnTo>
                  <a:close/>
                </a:path>
              </a:pathLst>
            </a:custGeom>
            <a:blipFill>
              <a:blip r:embed="rId3">
                <a:alphaModFix amt="0"/>
              </a:blip>
              <a:stretch>
                <a:fillRect l="-53864" t="0" r="-53864" b="0"/>
              </a:stretch>
            </a:blipFill>
          </p:spPr>
        </p:sp>
        <p:sp>
          <p:nvSpPr>
            <p:cNvPr name="TextBox 116" id="116"/>
            <p:cNvSpPr txBox="true"/>
            <p:nvPr/>
          </p:nvSpPr>
          <p:spPr>
            <a:xfrm>
              <a:off x="0" y="0"/>
              <a:ext cx="768096" cy="621792"/>
            </a:xfrm>
            <a:prstGeom prst="rect">
              <a:avLst/>
            </a:prstGeom>
          </p:spPr>
          <p:txBody>
            <a:bodyPr anchor="ctr" rtlCol="false" tIns="0" lIns="0" bIns="0" rIns="0"/>
            <a:lstStyle/>
            <a:p>
              <a:pPr algn="ctr">
                <a:lnSpc>
                  <a:spcPts val="2195"/>
                </a:lnSpc>
              </a:pPr>
              <a:r>
                <a:rPr lang="en-US" sz="1829" b="true">
                  <a:solidFill>
                    <a:srgbClr val="FFFFFF"/>
                  </a:solidFill>
                  <a:latin typeface="Inter Bold"/>
                  <a:ea typeface="Inter Bold"/>
                  <a:cs typeface="Inter Bold"/>
                  <a:sym typeface="Inter Bold"/>
                </a:rPr>
                <a:t>6</a:t>
              </a:r>
            </a:p>
          </p:txBody>
        </p:sp>
      </p:grpSp>
      <p:grpSp>
        <p:nvGrpSpPr>
          <p:cNvPr name="Group 117" id="117"/>
          <p:cNvGrpSpPr/>
          <p:nvPr/>
        </p:nvGrpSpPr>
        <p:grpSpPr>
          <a:xfrm rot="0">
            <a:off x="15800832" y="8887968"/>
            <a:ext cx="1837944" cy="534924"/>
            <a:chOff x="0" y="0"/>
            <a:chExt cx="2450592" cy="713232"/>
          </a:xfrm>
        </p:grpSpPr>
        <p:sp>
          <p:nvSpPr>
            <p:cNvPr name="Freeform 118" id="118"/>
            <p:cNvSpPr/>
            <p:nvPr/>
          </p:nvSpPr>
          <p:spPr>
            <a:xfrm flipH="false" flipV="false" rot="0">
              <a:off x="0" y="0"/>
              <a:ext cx="2450592" cy="713232"/>
            </a:xfrm>
            <a:custGeom>
              <a:avLst/>
              <a:gdLst/>
              <a:ahLst/>
              <a:cxnLst/>
              <a:rect r="r" b="b" t="t" l="l"/>
              <a:pathLst>
                <a:path h="713232" w="2450592">
                  <a:moveTo>
                    <a:pt x="0" y="0"/>
                  </a:moveTo>
                  <a:lnTo>
                    <a:pt x="2450592" y="0"/>
                  </a:lnTo>
                  <a:lnTo>
                    <a:pt x="2450592" y="713232"/>
                  </a:lnTo>
                  <a:lnTo>
                    <a:pt x="0" y="713232"/>
                  </a:lnTo>
                  <a:close/>
                </a:path>
              </a:pathLst>
            </a:custGeom>
            <a:blipFill>
              <a:blip r:embed="rId3">
                <a:alphaModFix amt="0"/>
              </a:blip>
              <a:stretch>
                <a:fillRect l="0" t="-16948" r="0" b="-16948"/>
              </a:stretch>
            </a:blipFill>
          </p:spPr>
        </p:sp>
        <p:sp>
          <p:nvSpPr>
            <p:cNvPr name="TextBox 119" id="119"/>
            <p:cNvSpPr txBox="true"/>
            <p:nvPr/>
          </p:nvSpPr>
          <p:spPr>
            <a:xfrm>
              <a:off x="0" y="-9525"/>
              <a:ext cx="2450592" cy="722757"/>
            </a:xfrm>
            <a:prstGeom prst="rect">
              <a:avLst/>
            </a:prstGeom>
          </p:spPr>
          <p:txBody>
            <a:bodyPr anchor="ctr" rtlCol="false" tIns="0" lIns="0" bIns="0" rIns="0"/>
            <a:lstStyle/>
            <a:p>
              <a:pPr algn="l">
                <a:lnSpc>
                  <a:spcPts val="2304"/>
                </a:lnSpc>
              </a:pPr>
              <a:r>
                <a:rPr lang="en-US" sz="1920">
                  <a:solidFill>
                    <a:srgbClr val="E2EBEF"/>
                  </a:solidFill>
                  <a:latin typeface="Inter"/>
                  <a:ea typeface="Inter"/>
                  <a:cs typeface="Inter"/>
                  <a:sym typeface="Inter"/>
                </a:rPr>
                <a:t>Decision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7327880" cy="1048410"/>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4734"/>
                </a:lnSpc>
              </a:pPr>
              <a:r>
                <a:rPr lang="en-US" sz="3945" b="true">
                  <a:solidFill>
                    <a:srgbClr val="101E2B"/>
                  </a:solidFill>
                  <a:latin typeface="Inter Bold"/>
                  <a:ea typeface="Inter Bold"/>
                  <a:cs typeface="Inter Bold"/>
                  <a:sym typeface="Inter Bold"/>
                </a:rPr>
                <a:t>Cashless pre-auth today: slow, manual, hard to audit</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936879" y="2130171"/>
            <a:ext cx="9990582" cy="2967990"/>
            <a:chOff x="0" y="0"/>
            <a:chExt cx="13320776" cy="3957320"/>
          </a:xfrm>
        </p:grpSpPr>
        <p:sp>
          <p:nvSpPr>
            <p:cNvPr name="Freeform 7" id="7"/>
            <p:cNvSpPr/>
            <p:nvPr/>
          </p:nvSpPr>
          <p:spPr>
            <a:xfrm flipH="false" flipV="false" rot="0">
              <a:off x="0" y="0"/>
              <a:ext cx="13320776" cy="3957320"/>
            </a:xfrm>
            <a:custGeom>
              <a:avLst/>
              <a:gdLst/>
              <a:ahLst/>
              <a:cxnLst/>
              <a:rect r="r" b="b" t="t" l="l"/>
              <a:pathLst>
                <a:path h="3957320" w="13320776">
                  <a:moveTo>
                    <a:pt x="0" y="0"/>
                  </a:moveTo>
                  <a:lnTo>
                    <a:pt x="13320776" y="0"/>
                  </a:lnTo>
                  <a:lnTo>
                    <a:pt x="13320776" y="3957320"/>
                  </a:lnTo>
                  <a:lnTo>
                    <a:pt x="0" y="3957320"/>
                  </a:lnTo>
                  <a:close/>
                </a:path>
              </a:pathLst>
            </a:custGeom>
            <a:solidFill>
              <a:srgbClr val="E9EDFF"/>
            </a:solidFill>
          </p:spPr>
        </p:sp>
      </p:grpSp>
      <p:grpSp>
        <p:nvGrpSpPr>
          <p:cNvPr name="Group 8" id="8"/>
          <p:cNvGrpSpPr/>
          <p:nvPr/>
        </p:nvGrpSpPr>
        <p:grpSpPr>
          <a:xfrm rot="0">
            <a:off x="936879" y="2363343"/>
            <a:ext cx="108204" cy="636270"/>
            <a:chOff x="0" y="0"/>
            <a:chExt cx="144272" cy="848360"/>
          </a:xfrm>
        </p:grpSpPr>
        <p:sp>
          <p:nvSpPr>
            <p:cNvPr name="Freeform 9" id="9"/>
            <p:cNvSpPr/>
            <p:nvPr/>
          </p:nvSpPr>
          <p:spPr>
            <a:xfrm flipH="false" flipV="false" rot="0">
              <a:off x="0" y="0"/>
              <a:ext cx="144272" cy="848360"/>
            </a:xfrm>
            <a:custGeom>
              <a:avLst/>
              <a:gdLst/>
              <a:ahLst/>
              <a:cxnLst/>
              <a:rect r="r" b="b" t="t" l="l"/>
              <a:pathLst>
                <a:path h="848360" w="144272">
                  <a:moveTo>
                    <a:pt x="0" y="0"/>
                  </a:moveTo>
                  <a:lnTo>
                    <a:pt x="144272" y="0"/>
                  </a:lnTo>
                  <a:lnTo>
                    <a:pt x="144272" y="848360"/>
                  </a:lnTo>
                  <a:lnTo>
                    <a:pt x="0" y="848360"/>
                  </a:lnTo>
                  <a:close/>
                </a:path>
              </a:pathLst>
            </a:custGeom>
            <a:solidFill>
              <a:srgbClr val="425AEF"/>
            </a:solidFill>
          </p:spPr>
        </p:sp>
      </p:grpSp>
      <p:grpSp>
        <p:nvGrpSpPr>
          <p:cNvPr name="Group 10" id="10"/>
          <p:cNvGrpSpPr/>
          <p:nvPr/>
        </p:nvGrpSpPr>
        <p:grpSpPr>
          <a:xfrm rot="0">
            <a:off x="1385316" y="2468880"/>
            <a:ext cx="8915400" cy="585266"/>
            <a:chOff x="0" y="0"/>
            <a:chExt cx="11887200" cy="780354"/>
          </a:xfrm>
        </p:grpSpPr>
        <p:sp>
          <p:nvSpPr>
            <p:cNvPr name="Freeform 11" id="11"/>
            <p:cNvSpPr/>
            <p:nvPr/>
          </p:nvSpPr>
          <p:spPr>
            <a:xfrm flipH="false" flipV="false" rot="0">
              <a:off x="0" y="0"/>
              <a:ext cx="11887200" cy="780354"/>
            </a:xfrm>
            <a:custGeom>
              <a:avLst/>
              <a:gdLst/>
              <a:ahLst/>
              <a:cxnLst/>
              <a:rect r="r" b="b" t="t" l="l"/>
              <a:pathLst>
                <a:path h="780354" w="11887200">
                  <a:moveTo>
                    <a:pt x="0" y="0"/>
                  </a:moveTo>
                  <a:lnTo>
                    <a:pt x="11887200" y="0"/>
                  </a:lnTo>
                  <a:lnTo>
                    <a:pt x="11887200" y="780354"/>
                  </a:lnTo>
                  <a:lnTo>
                    <a:pt x="0" y="780354"/>
                  </a:lnTo>
                  <a:close/>
                </a:path>
              </a:pathLst>
            </a:custGeom>
            <a:blipFill>
              <a:blip r:embed="rId3">
                <a:alphaModFix amt="0"/>
              </a:blip>
              <a:stretch>
                <a:fillRect l="0" t="-261663" r="0" b="-231970"/>
              </a:stretch>
            </a:blipFill>
          </p:spPr>
        </p:sp>
        <p:sp>
          <p:nvSpPr>
            <p:cNvPr name="TextBox 12" id="12"/>
            <p:cNvSpPr txBox="true"/>
            <p:nvPr/>
          </p:nvSpPr>
          <p:spPr>
            <a:xfrm>
              <a:off x="0" y="0"/>
              <a:ext cx="11887200" cy="780354"/>
            </a:xfrm>
            <a:prstGeom prst="rect">
              <a:avLst/>
            </a:prstGeom>
          </p:spPr>
          <p:txBody>
            <a:bodyPr anchor="ctr" rtlCol="false" tIns="0" lIns="0" bIns="0" rIns="0"/>
            <a:lstStyle/>
            <a:p>
              <a:pPr algn="l">
                <a:lnSpc>
                  <a:spcPts val="3359"/>
                </a:lnSpc>
              </a:pPr>
              <a:r>
                <a:rPr lang="en-US" sz="2799" b="true">
                  <a:solidFill>
                    <a:srgbClr val="425AEF"/>
                  </a:solidFill>
                  <a:latin typeface="Inter Bold"/>
                  <a:ea typeface="Inter Bold"/>
                  <a:cs typeface="Inter Bold"/>
                  <a:sym typeface="Inter Bold"/>
                </a:rPr>
                <a:t>Problem statement</a:t>
              </a:r>
            </a:p>
          </p:txBody>
        </p:sp>
      </p:grpSp>
      <p:grpSp>
        <p:nvGrpSpPr>
          <p:cNvPr name="Group 13" id="13"/>
          <p:cNvGrpSpPr/>
          <p:nvPr/>
        </p:nvGrpSpPr>
        <p:grpSpPr>
          <a:xfrm rot="0">
            <a:off x="1001268" y="5527548"/>
            <a:ext cx="10653051" cy="594698"/>
            <a:chOff x="0" y="0"/>
            <a:chExt cx="12984480" cy="724848"/>
          </a:xfrm>
        </p:grpSpPr>
        <p:sp>
          <p:nvSpPr>
            <p:cNvPr name="Freeform 14" id="14"/>
            <p:cNvSpPr/>
            <p:nvPr/>
          </p:nvSpPr>
          <p:spPr>
            <a:xfrm flipH="false" flipV="false" rot="0">
              <a:off x="0" y="0"/>
              <a:ext cx="12984480" cy="724848"/>
            </a:xfrm>
            <a:custGeom>
              <a:avLst/>
              <a:gdLst/>
              <a:ahLst/>
              <a:cxnLst/>
              <a:rect r="r" b="b" t="t" l="l"/>
              <a:pathLst>
                <a:path h="724848" w="12984480">
                  <a:moveTo>
                    <a:pt x="0" y="0"/>
                  </a:moveTo>
                  <a:lnTo>
                    <a:pt x="12984480" y="0"/>
                  </a:lnTo>
                  <a:lnTo>
                    <a:pt x="12984480" y="724848"/>
                  </a:lnTo>
                  <a:lnTo>
                    <a:pt x="0" y="724848"/>
                  </a:lnTo>
                  <a:close/>
                </a:path>
              </a:pathLst>
            </a:custGeom>
            <a:blipFill>
              <a:blip r:embed="rId3">
                <a:alphaModFix amt="0"/>
              </a:blip>
              <a:stretch>
                <a:fillRect l="0" t="-302367" r="0" b="-295718"/>
              </a:stretch>
            </a:blipFill>
          </p:spPr>
        </p:sp>
        <p:sp>
          <p:nvSpPr>
            <p:cNvPr name="TextBox 15" id="15"/>
            <p:cNvSpPr txBox="true"/>
            <p:nvPr/>
          </p:nvSpPr>
          <p:spPr>
            <a:xfrm>
              <a:off x="0" y="0"/>
              <a:ext cx="12984480" cy="724848"/>
            </a:xfrm>
            <a:prstGeom prst="rect">
              <a:avLst/>
            </a:prstGeom>
          </p:spPr>
          <p:txBody>
            <a:bodyPr anchor="ctr" rtlCol="false" tIns="0" lIns="0" bIns="0" rIns="0"/>
            <a:lstStyle/>
            <a:p>
              <a:pPr algn="l">
                <a:lnSpc>
                  <a:spcPts val="3095"/>
                </a:lnSpc>
              </a:pPr>
              <a:r>
                <a:rPr lang="en-US" sz="2579" b="true">
                  <a:solidFill>
                    <a:srgbClr val="101E2B"/>
                  </a:solidFill>
                  <a:latin typeface="Inter Bold"/>
                  <a:ea typeface="Inter Bold"/>
                  <a:cs typeface="Inter Bold"/>
                  <a:sym typeface="Inter Bold"/>
                </a:rPr>
                <a:t>Why we chose this problem</a:t>
              </a:r>
            </a:p>
          </p:txBody>
        </p:sp>
      </p:grpSp>
      <p:grpSp>
        <p:nvGrpSpPr>
          <p:cNvPr name="Group 16" id="16"/>
          <p:cNvGrpSpPr/>
          <p:nvPr/>
        </p:nvGrpSpPr>
        <p:grpSpPr>
          <a:xfrm rot="0">
            <a:off x="1128903" y="6388989"/>
            <a:ext cx="197358" cy="197358"/>
            <a:chOff x="0" y="0"/>
            <a:chExt cx="263144" cy="263144"/>
          </a:xfrm>
        </p:grpSpPr>
        <p:sp>
          <p:nvSpPr>
            <p:cNvPr name="Freeform 17" id="17"/>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425AEF"/>
            </a:solidFill>
          </p:spPr>
        </p:sp>
      </p:grpSp>
      <p:grpSp>
        <p:nvGrpSpPr>
          <p:cNvPr name="Group 18" id="18"/>
          <p:cNvGrpSpPr/>
          <p:nvPr/>
        </p:nvGrpSpPr>
        <p:grpSpPr>
          <a:xfrm rot="0">
            <a:off x="1522476" y="6240780"/>
            <a:ext cx="9121140" cy="576072"/>
            <a:chOff x="0" y="0"/>
            <a:chExt cx="12161520" cy="768096"/>
          </a:xfrm>
        </p:grpSpPr>
        <p:sp>
          <p:nvSpPr>
            <p:cNvPr name="Freeform 19" id="19"/>
            <p:cNvSpPr/>
            <p:nvPr/>
          </p:nvSpPr>
          <p:spPr>
            <a:xfrm flipH="false" flipV="false" rot="0">
              <a:off x="0" y="0"/>
              <a:ext cx="12161520" cy="768096"/>
            </a:xfrm>
            <a:custGeom>
              <a:avLst/>
              <a:gdLst/>
              <a:ahLst/>
              <a:cxnLst/>
              <a:rect r="r" b="b" t="t" l="l"/>
              <a:pathLst>
                <a:path h="768096" w="12161520">
                  <a:moveTo>
                    <a:pt x="0" y="0"/>
                  </a:moveTo>
                  <a:lnTo>
                    <a:pt x="12161520" y="0"/>
                  </a:lnTo>
                  <a:lnTo>
                    <a:pt x="12161520" y="768096"/>
                  </a:lnTo>
                  <a:lnTo>
                    <a:pt x="0" y="768096"/>
                  </a:lnTo>
                  <a:close/>
                </a:path>
              </a:pathLst>
            </a:custGeom>
            <a:blipFill>
              <a:blip r:embed="rId3">
                <a:alphaModFix amt="0"/>
              </a:blip>
              <a:stretch>
                <a:fillRect l="0" t="-258513" r="0" b="-258513"/>
              </a:stretch>
            </a:blipFill>
          </p:spPr>
        </p:sp>
        <p:sp>
          <p:nvSpPr>
            <p:cNvPr name="TextBox 20" id="20"/>
            <p:cNvSpPr txBox="true"/>
            <p:nvPr/>
          </p:nvSpPr>
          <p:spPr>
            <a:xfrm>
              <a:off x="0" y="-9525"/>
              <a:ext cx="12161520" cy="777621"/>
            </a:xfrm>
            <a:prstGeom prst="rect">
              <a:avLst/>
            </a:prstGeom>
          </p:spPr>
          <p:txBody>
            <a:bodyPr anchor="ctr" rtlCol="false" tIns="0" lIns="0" bIns="0" rIns="0"/>
            <a:lstStyle/>
            <a:p>
              <a:pPr algn="l">
                <a:lnSpc>
                  <a:spcPts val="2322"/>
                </a:lnSpc>
              </a:pPr>
              <a:r>
                <a:rPr lang="en-US" sz="1935">
                  <a:solidFill>
                    <a:srgbClr val="101E2B"/>
                  </a:solidFill>
                  <a:latin typeface="Inter"/>
                  <a:ea typeface="Inter"/>
                  <a:cs typeface="Inter"/>
                  <a:sym typeface="Inter"/>
                </a:rPr>
                <a:t>Rule-heavy: waiting periods, exclusions, sub-limits, co-pay, room-rent caps</a:t>
              </a:r>
            </a:p>
          </p:txBody>
        </p:sp>
      </p:grpSp>
      <p:grpSp>
        <p:nvGrpSpPr>
          <p:cNvPr name="Group 21" id="21"/>
          <p:cNvGrpSpPr/>
          <p:nvPr/>
        </p:nvGrpSpPr>
        <p:grpSpPr>
          <a:xfrm rot="0">
            <a:off x="1128903" y="7088505"/>
            <a:ext cx="197358" cy="197358"/>
            <a:chOff x="0" y="0"/>
            <a:chExt cx="263144" cy="263144"/>
          </a:xfrm>
        </p:grpSpPr>
        <p:sp>
          <p:nvSpPr>
            <p:cNvPr name="Freeform 22" id="22"/>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425AEF"/>
            </a:solidFill>
          </p:spPr>
        </p:sp>
      </p:grpSp>
      <p:grpSp>
        <p:nvGrpSpPr>
          <p:cNvPr name="Group 23" id="23"/>
          <p:cNvGrpSpPr/>
          <p:nvPr/>
        </p:nvGrpSpPr>
        <p:grpSpPr>
          <a:xfrm rot="0">
            <a:off x="1522476" y="6940296"/>
            <a:ext cx="9121140" cy="576072"/>
            <a:chOff x="0" y="0"/>
            <a:chExt cx="12161520" cy="768096"/>
          </a:xfrm>
        </p:grpSpPr>
        <p:sp>
          <p:nvSpPr>
            <p:cNvPr name="Freeform 24" id="24"/>
            <p:cNvSpPr/>
            <p:nvPr/>
          </p:nvSpPr>
          <p:spPr>
            <a:xfrm flipH="false" flipV="false" rot="0">
              <a:off x="0" y="0"/>
              <a:ext cx="12161520" cy="768096"/>
            </a:xfrm>
            <a:custGeom>
              <a:avLst/>
              <a:gdLst/>
              <a:ahLst/>
              <a:cxnLst/>
              <a:rect r="r" b="b" t="t" l="l"/>
              <a:pathLst>
                <a:path h="768096" w="12161520">
                  <a:moveTo>
                    <a:pt x="0" y="0"/>
                  </a:moveTo>
                  <a:lnTo>
                    <a:pt x="12161520" y="0"/>
                  </a:lnTo>
                  <a:lnTo>
                    <a:pt x="12161520" y="768096"/>
                  </a:lnTo>
                  <a:lnTo>
                    <a:pt x="0" y="768096"/>
                  </a:lnTo>
                  <a:close/>
                </a:path>
              </a:pathLst>
            </a:custGeom>
            <a:blipFill>
              <a:blip r:embed="rId3">
                <a:alphaModFix amt="0"/>
              </a:blip>
              <a:stretch>
                <a:fillRect l="0" t="-258513" r="0" b="-258513"/>
              </a:stretch>
            </a:blipFill>
          </p:spPr>
        </p:sp>
        <p:sp>
          <p:nvSpPr>
            <p:cNvPr name="TextBox 25" id="25"/>
            <p:cNvSpPr txBox="true"/>
            <p:nvPr/>
          </p:nvSpPr>
          <p:spPr>
            <a:xfrm>
              <a:off x="0" y="-9525"/>
              <a:ext cx="12161520" cy="777621"/>
            </a:xfrm>
            <a:prstGeom prst="rect">
              <a:avLst/>
            </a:prstGeom>
          </p:spPr>
          <p:txBody>
            <a:bodyPr anchor="ctr" rtlCol="false" tIns="0" lIns="0" bIns="0" rIns="0"/>
            <a:lstStyle/>
            <a:p>
              <a:pPr algn="l">
                <a:lnSpc>
                  <a:spcPts val="2322"/>
                </a:lnSpc>
              </a:pPr>
              <a:r>
                <a:rPr lang="en-US" sz="1935">
                  <a:solidFill>
                    <a:srgbClr val="101E2B"/>
                  </a:solidFill>
                  <a:latin typeface="Inter"/>
                  <a:ea typeface="Inter"/>
                  <a:cs typeface="Inter"/>
                  <a:sym typeface="Inter"/>
                </a:rPr>
                <a:t>Multi-step: read → look up → calculate → verify → decide → write</a:t>
              </a:r>
            </a:p>
          </p:txBody>
        </p:sp>
      </p:grpSp>
      <p:grpSp>
        <p:nvGrpSpPr>
          <p:cNvPr name="Group 26" id="26"/>
          <p:cNvGrpSpPr/>
          <p:nvPr/>
        </p:nvGrpSpPr>
        <p:grpSpPr>
          <a:xfrm rot="0">
            <a:off x="1128903" y="7788021"/>
            <a:ext cx="197358" cy="197358"/>
            <a:chOff x="0" y="0"/>
            <a:chExt cx="263144" cy="263144"/>
          </a:xfrm>
        </p:grpSpPr>
        <p:sp>
          <p:nvSpPr>
            <p:cNvPr name="Freeform 27" id="27"/>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425AEF"/>
            </a:solidFill>
          </p:spPr>
        </p:sp>
      </p:grpSp>
      <p:grpSp>
        <p:nvGrpSpPr>
          <p:cNvPr name="Group 28" id="28"/>
          <p:cNvGrpSpPr/>
          <p:nvPr/>
        </p:nvGrpSpPr>
        <p:grpSpPr>
          <a:xfrm rot="0">
            <a:off x="1522476" y="7639812"/>
            <a:ext cx="9121140" cy="576072"/>
            <a:chOff x="0" y="0"/>
            <a:chExt cx="12161520" cy="768096"/>
          </a:xfrm>
        </p:grpSpPr>
        <p:sp>
          <p:nvSpPr>
            <p:cNvPr name="Freeform 29" id="29"/>
            <p:cNvSpPr/>
            <p:nvPr/>
          </p:nvSpPr>
          <p:spPr>
            <a:xfrm flipH="false" flipV="false" rot="0">
              <a:off x="0" y="0"/>
              <a:ext cx="12161520" cy="768096"/>
            </a:xfrm>
            <a:custGeom>
              <a:avLst/>
              <a:gdLst/>
              <a:ahLst/>
              <a:cxnLst/>
              <a:rect r="r" b="b" t="t" l="l"/>
              <a:pathLst>
                <a:path h="768096" w="12161520">
                  <a:moveTo>
                    <a:pt x="0" y="0"/>
                  </a:moveTo>
                  <a:lnTo>
                    <a:pt x="12161520" y="0"/>
                  </a:lnTo>
                  <a:lnTo>
                    <a:pt x="12161520" y="768096"/>
                  </a:lnTo>
                  <a:lnTo>
                    <a:pt x="0" y="768096"/>
                  </a:lnTo>
                  <a:close/>
                </a:path>
              </a:pathLst>
            </a:custGeom>
            <a:blipFill>
              <a:blip r:embed="rId3">
                <a:alphaModFix amt="0"/>
              </a:blip>
              <a:stretch>
                <a:fillRect l="0" t="-258513" r="0" b="-258513"/>
              </a:stretch>
            </a:blipFill>
          </p:spPr>
        </p:sp>
        <p:sp>
          <p:nvSpPr>
            <p:cNvPr name="TextBox 30" id="30"/>
            <p:cNvSpPr txBox="true"/>
            <p:nvPr/>
          </p:nvSpPr>
          <p:spPr>
            <a:xfrm>
              <a:off x="0" y="-9525"/>
              <a:ext cx="12161520" cy="777621"/>
            </a:xfrm>
            <a:prstGeom prst="rect">
              <a:avLst/>
            </a:prstGeom>
          </p:spPr>
          <p:txBody>
            <a:bodyPr anchor="ctr" rtlCol="false" tIns="0" lIns="0" bIns="0" rIns="0"/>
            <a:lstStyle/>
            <a:p>
              <a:pPr algn="l">
                <a:lnSpc>
                  <a:spcPts val="2322"/>
                </a:lnSpc>
              </a:pPr>
              <a:r>
                <a:rPr lang="en-US" sz="1935">
                  <a:solidFill>
                    <a:srgbClr val="101E2B"/>
                  </a:solidFill>
                  <a:latin typeface="Inter"/>
                  <a:ea typeface="Inter"/>
                  <a:cs typeface="Inter"/>
                  <a:sym typeface="Inter"/>
                </a:rPr>
                <a:t>Time-bound: patient is waiting at the hospital desk</a:t>
              </a:r>
            </a:p>
          </p:txBody>
        </p:sp>
      </p:grpSp>
      <p:grpSp>
        <p:nvGrpSpPr>
          <p:cNvPr name="Group 31" id="31"/>
          <p:cNvGrpSpPr/>
          <p:nvPr/>
        </p:nvGrpSpPr>
        <p:grpSpPr>
          <a:xfrm rot="0">
            <a:off x="1128903" y="8487537"/>
            <a:ext cx="197358" cy="197358"/>
            <a:chOff x="0" y="0"/>
            <a:chExt cx="263144" cy="263144"/>
          </a:xfrm>
        </p:grpSpPr>
        <p:sp>
          <p:nvSpPr>
            <p:cNvPr name="Freeform 32" id="32"/>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425AEF"/>
            </a:solidFill>
          </p:spPr>
        </p:sp>
      </p:grpSp>
      <p:grpSp>
        <p:nvGrpSpPr>
          <p:cNvPr name="Group 33" id="33"/>
          <p:cNvGrpSpPr/>
          <p:nvPr/>
        </p:nvGrpSpPr>
        <p:grpSpPr>
          <a:xfrm rot="0">
            <a:off x="1522476" y="8339328"/>
            <a:ext cx="9121140" cy="576072"/>
            <a:chOff x="0" y="0"/>
            <a:chExt cx="12161520" cy="768096"/>
          </a:xfrm>
        </p:grpSpPr>
        <p:sp>
          <p:nvSpPr>
            <p:cNvPr name="Freeform 34" id="34"/>
            <p:cNvSpPr/>
            <p:nvPr/>
          </p:nvSpPr>
          <p:spPr>
            <a:xfrm flipH="false" flipV="false" rot="0">
              <a:off x="0" y="0"/>
              <a:ext cx="12161520" cy="768096"/>
            </a:xfrm>
            <a:custGeom>
              <a:avLst/>
              <a:gdLst/>
              <a:ahLst/>
              <a:cxnLst/>
              <a:rect r="r" b="b" t="t" l="l"/>
              <a:pathLst>
                <a:path h="768096" w="12161520">
                  <a:moveTo>
                    <a:pt x="0" y="0"/>
                  </a:moveTo>
                  <a:lnTo>
                    <a:pt x="12161520" y="0"/>
                  </a:lnTo>
                  <a:lnTo>
                    <a:pt x="12161520" y="768096"/>
                  </a:lnTo>
                  <a:lnTo>
                    <a:pt x="0" y="768096"/>
                  </a:lnTo>
                  <a:close/>
                </a:path>
              </a:pathLst>
            </a:custGeom>
            <a:blipFill>
              <a:blip r:embed="rId3">
                <a:alphaModFix amt="0"/>
              </a:blip>
              <a:stretch>
                <a:fillRect l="0" t="-258513" r="0" b="-258513"/>
              </a:stretch>
            </a:blipFill>
          </p:spPr>
        </p:sp>
        <p:sp>
          <p:nvSpPr>
            <p:cNvPr name="TextBox 35" id="35"/>
            <p:cNvSpPr txBox="true"/>
            <p:nvPr/>
          </p:nvSpPr>
          <p:spPr>
            <a:xfrm>
              <a:off x="0" y="-9525"/>
              <a:ext cx="12161520" cy="777621"/>
            </a:xfrm>
            <a:prstGeom prst="rect">
              <a:avLst/>
            </a:prstGeom>
          </p:spPr>
          <p:txBody>
            <a:bodyPr anchor="ctr" rtlCol="false" tIns="0" lIns="0" bIns="0" rIns="0"/>
            <a:lstStyle/>
            <a:p>
              <a:pPr algn="l">
                <a:lnSpc>
                  <a:spcPts val="2322"/>
                </a:lnSpc>
              </a:pPr>
              <a:r>
                <a:rPr lang="en-US" sz="1935" b="true">
                  <a:solidFill>
                    <a:srgbClr val="101E2B"/>
                  </a:solidFill>
                  <a:latin typeface="Inter Bold"/>
                  <a:ea typeface="Inter Bold"/>
                  <a:cs typeface="Inter Bold"/>
                  <a:sym typeface="Inter Bold"/>
                </a:rPr>
                <a:t>Must be explainable: every rupee deducted needs a policy clause</a:t>
              </a:r>
            </a:p>
          </p:txBody>
        </p:sp>
      </p:grpSp>
      <p:grpSp>
        <p:nvGrpSpPr>
          <p:cNvPr name="Group 36" id="36"/>
          <p:cNvGrpSpPr/>
          <p:nvPr/>
        </p:nvGrpSpPr>
        <p:grpSpPr>
          <a:xfrm rot="0">
            <a:off x="11292459" y="2157603"/>
            <a:ext cx="5971794" cy="3036570"/>
            <a:chOff x="0" y="0"/>
            <a:chExt cx="7962392" cy="4048760"/>
          </a:xfrm>
        </p:grpSpPr>
        <p:sp>
          <p:nvSpPr>
            <p:cNvPr name="Freeform 37" id="37"/>
            <p:cNvSpPr/>
            <p:nvPr/>
          </p:nvSpPr>
          <p:spPr>
            <a:xfrm flipH="false" flipV="false" rot="0">
              <a:off x="0" y="0"/>
              <a:ext cx="7962392" cy="4048760"/>
            </a:xfrm>
            <a:custGeom>
              <a:avLst/>
              <a:gdLst/>
              <a:ahLst/>
              <a:cxnLst/>
              <a:rect r="r" b="b" t="t" l="l"/>
              <a:pathLst>
                <a:path h="4048760" w="7962392">
                  <a:moveTo>
                    <a:pt x="0" y="0"/>
                  </a:moveTo>
                  <a:lnTo>
                    <a:pt x="7962392" y="0"/>
                  </a:lnTo>
                  <a:lnTo>
                    <a:pt x="7962392" y="4048760"/>
                  </a:lnTo>
                  <a:lnTo>
                    <a:pt x="0" y="4048760"/>
                  </a:lnTo>
                  <a:close/>
                </a:path>
              </a:pathLst>
            </a:custGeom>
            <a:solidFill>
              <a:srgbClr val="0D1826"/>
            </a:solidFill>
          </p:spPr>
        </p:sp>
      </p:grpSp>
      <p:grpSp>
        <p:nvGrpSpPr>
          <p:cNvPr name="Group 38" id="38"/>
          <p:cNvGrpSpPr/>
          <p:nvPr/>
        </p:nvGrpSpPr>
        <p:grpSpPr>
          <a:xfrm rot="0">
            <a:off x="11292459" y="5449443"/>
            <a:ext cx="5971794" cy="3022854"/>
            <a:chOff x="0" y="0"/>
            <a:chExt cx="7962392" cy="4030472"/>
          </a:xfrm>
        </p:grpSpPr>
        <p:sp>
          <p:nvSpPr>
            <p:cNvPr name="Freeform 39" id="39"/>
            <p:cNvSpPr/>
            <p:nvPr/>
          </p:nvSpPr>
          <p:spPr>
            <a:xfrm flipH="false" flipV="false" rot="0">
              <a:off x="0" y="0"/>
              <a:ext cx="7962392" cy="4030472"/>
            </a:xfrm>
            <a:custGeom>
              <a:avLst/>
              <a:gdLst/>
              <a:ahLst/>
              <a:cxnLst/>
              <a:rect r="r" b="b" t="t" l="l"/>
              <a:pathLst>
                <a:path h="4030472" w="7962392">
                  <a:moveTo>
                    <a:pt x="0" y="0"/>
                  </a:moveTo>
                  <a:lnTo>
                    <a:pt x="7962392" y="0"/>
                  </a:lnTo>
                  <a:lnTo>
                    <a:pt x="7962392" y="4030472"/>
                  </a:lnTo>
                  <a:lnTo>
                    <a:pt x="0" y="4030472"/>
                  </a:lnTo>
                  <a:close/>
                </a:path>
              </a:pathLst>
            </a:custGeom>
            <a:solidFill>
              <a:srgbClr val="E6EEE9"/>
            </a:solidFill>
          </p:spPr>
        </p:sp>
      </p:grpSp>
      <p:grpSp>
        <p:nvGrpSpPr>
          <p:cNvPr name="Group 40" id="40"/>
          <p:cNvGrpSpPr/>
          <p:nvPr/>
        </p:nvGrpSpPr>
        <p:grpSpPr>
          <a:xfrm rot="0">
            <a:off x="11836908" y="2496312"/>
            <a:ext cx="4937760" cy="1179576"/>
            <a:chOff x="0" y="0"/>
            <a:chExt cx="6583680" cy="1572768"/>
          </a:xfrm>
        </p:grpSpPr>
        <p:sp>
          <p:nvSpPr>
            <p:cNvPr name="Freeform 41" id="41"/>
            <p:cNvSpPr/>
            <p:nvPr/>
          </p:nvSpPr>
          <p:spPr>
            <a:xfrm flipH="false" flipV="false" rot="0">
              <a:off x="0" y="0"/>
              <a:ext cx="6583680" cy="1572768"/>
            </a:xfrm>
            <a:custGeom>
              <a:avLst/>
              <a:gdLst/>
              <a:ahLst/>
              <a:cxnLst/>
              <a:rect r="r" b="b" t="t" l="l"/>
              <a:pathLst>
                <a:path h="1572768" w="6583680">
                  <a:moveTo>
                    <a:pt x="0" y="0"/>
                  </a:moveTo>
                  <a:lnTo>
                    <a:pt x="6583680" y="0"/>
                  </a:lnTo>
                  <a:lnTo>
                    <a:pt x="6583680" y="1572768"/>
                  </a:lnTo>
                  <a:lnTo>
                    <a:pt x="0" y="1572768"/>
                  </a:lnTo>
                  <a:close/>
                </a:path>
              </a:pathLst>
            </a:custGeom>
            <a:blipFill>
              <a:blip r:embed="rId3">
                <a:alphaModFix amt="0"/>
              </a:blip>
              <a:stretch>
                <a:fillRect l="0" t="-31565" r="0" b="-31565"/>
              </a:stretch>
            </a:blipFill>
          </p:spPr>
        </p:sp>
        <p:sp>
          <p:nvSpPr>
            <p:cNvPr name="TextBox 42" id="42"/>
            <p:cNvSpPr txBox="true"/>
            <p:nvPr/>
          </p:nvSpPr>
          <p:spPr>
            <a:xfrm>
              <a:off x="0" y="0"/>
              <a:ext cx="6583680" cy="1572768"/>
            </a:xfrm>
            <a:prstGeom prst="rect">
              <a:avLst/>
            </a:prstGeom>
          </p:spPr>
          <p:txBody>
            <a:bodyPr anchor="ctr" rtlCol="false" tIns="0" lIns="0" bIns="0" rIns="0"/>
            <a:lstStyle/>
            <a:p>
              <a:pPr algn="l">
                <a:lnSpc>
                  <a:spcPts val="8640"/>
                </a:lnSpc>
              </a:pPr>
              <a:r>
                <a:rPr lang="en-US" sz="7200" b="true">
                  <a:solidFill>
                    <a:srgbClr val="BAF389"/>
                  </a:solidFill>
                  <a:latin typeface="Inter Bold"/>
                  <a:ea typeface="Inter Bold"/>
                  <a:cs typeface="Inter Bold"/>
                  <a:sym typeface="Inter Bold"/>
                </a:rPr>
                <a:t>1 hour</a:t>
              </a:r>
            </a:p>
          </p:txBody>
        </p:sp>
      </p:grpSp>
      <p:grpSp>
        <p:nvGrpSpPr>
          <p:cNvPr name="Group 43" id="43"/>
          <p:cNvGrpSpPr/>
          <p:nvPr/>
        </p:nvGrpSpPr>
        <p:grpSpPr>
          <a:xfrm rot="0">
            <a:off x="11836908" y="5774436"/>
            <a:ext cx="4937760" cy="1165860"/>
            <a:chOff x="0" y="0"/>
            <a:chExt cx="6583680" cy="1554480"/>
          </a:xfrm>
        </p:grpSpPr>
        <p:sp>
          <p:nvSpPr>
            <p:cNvPr name="Freeform 44" id="44"/>
            <p:cNvSpPr/>
            <p:nvPr/>
          </p:nvSpPr>
          <p:spPr>
            <a:xfrm flipH="false" flipV="false" rot="0">
              <a:off x="0" y="0"/>
              <a:ext cx="6583680" cy="1554480"/>
            </a:xfrm>
            <a:custGeom>
              <a:avLst/>
              <a:gdLst/>
              <a:ahLst/>
              <a:cxnLst/>
              <a:rect r="r" b="b" t="t" l="l"/>
              <a:pathLst>
                <a:path h="1554480" w="6583680">
                  <a:moveTo>
                    <a:pt x="0" y="0"/>
                  </a:moveTo>
                  <a:lnTo>
                    <a:pt x="6583680" y="0"/>
                  </a:lnTo>
                  <a:lnTo>
                    <a:pt x="6583680" y="1554480"/>
                  </a:lnTo>
                  <a:lnTo>
                    <a:pt x="0" y="1554480"/>
                  </a:lnTo>
                  <a:close/>
                </a:path>
              </a:pathLst>
            </a:custGeom>
            <a:blipFill>
              <a:blip r:embed="rId3">
                <a:alphaModFix amt="0"/>
              </a:blip>
              <a:stretch>
                <a:fillRect l="0" t="-32524" r="0" b="-32524"/>
              </a:stretch>
            </a:blipFill>
          </p:spPr>
        </p:sp>
        <p:sp>
          <p:nvSpPr>
            <p:cNvPr name="TextBox 45" id="45"/>
            <p:cNvSpPr txBox="true"/>
            <p:nvPr/>
          </p:nvSpPr>
          <p:spPr>
            <a:xfrm>
              <a:off x="0" y="0"/>
              <a:ext cx="6583680" cy="1554480"/>
            </a:xfrm>
            <a:prstGeom prst="rect">
              <a:avLst/>
            </a:prstGeom>
          </p:spPr>
          <p:txBody>
            <a:bodyPr anchor="ctr" rtlCol="false" tIns="0" lIns="0" bIns="0" rIns="0"/>
            <a:lstStyle/>
            <a:p>
              <a:pPr algn="l">
                <a:lnSpc>
                  <a:spcPts val="8100"/>
                </a:lnSpc>
              </a:pPr>
              <a:r>
                <a:rPr lang="en-US" sz="6750" b="true">
                  <a:solidFill>
                    <a:srgbClr val="101E2B"/>
                  </a:solidFill>
                  <a:latin typeface="Inter Bold"/>
                  <a:ea typeface="Inter Bold"/>
                  <a:cs typeface="Inter Bold"/>
                  <a:sym typeface="Inter Bold"/>
                </a:rPr>
                <a:t>3 hours</a:t>
              </a:r>
            </a:p>
          </p:txBody>
        </p:sp>
      </p:grpSp>
      <p:grpSp>
        <p:nvGrpSpPr>
          <p:cNvPr name="Group 46" id="46"/>
          <p:cNvGrpSpPr/>
          <p:nvPr/>
        </p:nvGrpSpPr>
        <p:grpSpPr>
          <a:xfrm rot="0">
            <a:off x="11329416" y="8915400"/>
            <a:ext cx="5760720" cy="562356"/>
            <a:chOff x="0" y="0"/>
            <a:chExt cx="7680960" cy="749808"/>
          </a:xfrm>
        </p:grpSpPr>
        <p:sp>
          <p:nvSpPr>
            <p:cNvPr name="Freeform 47" id="47"/>
            <p:cNvSpPr/>
            <p:nvPr/>
          </p:nvSpPr>
          <p:spPr>
            <a:xfrm flipH="false" flipV="false" rot="0">
              <a:off x="0" y="0"/>
              <a:ext cx="7680960" cy="749808"/>
            </a:xfrm>
            <a:custGeom>
              <a:avLst/>
              <a:gdLst/>
              <a:ahLst/>
              <a:cxnLst/>
              <a:rect r="r" b="b" t="t" l="l"/>
              <a:pathLst>
                <a:path h="749808" w="7680960">
                  <a:moveTo>
                    <a:pt x="0" y="0"/>
                  </a:moveTo>
                  <a:lnTo>
                    <a:pt x="7680960" y="0"/>
                  </a:lnTo>
                  <a:lnTo>
                    <a:pt x="7680960" y="749808"/>
                  </a:lnTo>
                  <a:lnTo>
                    <a:pt x="0" y="749808"/>
                  </a:lnTo>
                  <a:close/>
                </a:path>
              </a:pathLst>
            </a:custGeom>
            <a:blipFill>
              <a:blip r:embed="rId3">
                <a:alphaModFix amt="0"/>
              </a:blip>
              <a:stretch>
                <a:fillRect l="0" t="-149602" r="0" b="-149602"/>
              </a:stretch>
            </a:blipFill>
          </p:spPr>
        </p:sp>
        <p:sp>
          <p:nvSpPr>
            <p:cNvPr name="TextBox 48" id="48"/>
            <p:cNvSpPr txBox="true"/>
            <p:nvPr/>
          </p:nvSpPr>
          <p:spPr>
            <a:xfrm>
              <a:off x="0" y="-9525"/>
              <a:ext cx="7680960" cy="759333"/>
            </a:xfrm>
            <a:prstGeom prst="rect">
              <a:avLst/>
            </a:prstGeom>
          </p:spPr>
          <p:txBody>
            <a:bodyPr anchor="ctr" rtlCol="false" tIns="0" lIns="0" bIns="0" rIns="0"/>
            <a:lstStyle/>
            <a:p>
              <a:pPr algn="l">
                <a:lnSpc>
                  <a:spcPts val="1854"/>
                </a:lnSpc>
              </a:pPr>
            </a:p>
          </p:txBody>
        </p:sp>
      </p:grpSp>
      <p:grpSp>
        <p:nvGrpSpPr>
          <p:cNvPr name="Group 49" id="49"/>
          <p:cNvGrpSpPr/>
          <p:nvPr/>
        </p:nvGrpSpPr>
        <p:grpSpPr>
          <a:xfrm rot="0">
            <a:off x="946404" y="9758934"/>
            <a:ext cx="9601200" cy="260604"/>
            <a:chOff x="0" y="0"/>
            <a:chExt cx="12801600" cy="347472"/>
          </a:xfrm>
        </p:grpSpPr>
        <p:sp>
          <p:nvSpPr>
            <p:cNvPr name="Freeform 50" id="50"/>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51" id="51"/>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52" id="52"/>
          <p:cNvGrpSpPr/>
          <p:nvPr/>
        </p:nvGrpSpPr>
        <p:grpSpPr>
          <a:xfrm rot="0">
            <a:off x="16733520" y="9745218"/>
            <a:ext cx="548640" cy="301752"/>
            <a:chOff x="0" y="0"/>
            <a:chExt cx="731520" cy="402336"/>
          </a:xfrm>
        </p:grpSpPr>
        <p:sp>
          <p:nvSpPr>
            <p:cNvPr name="Freeform 53" id="53"/>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54" id="54"/>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2</a:t>
              </a:r>
            </a:p>
          </p:txBody>
        </p:sp>
      </p:grpSp>
      <p:sp>
        <p:nvSpPr>
          <p:cNvPr name="TextBox 55" id="55"/>
          <p:cNvSpPr txBox="true"/>
          <p:nvPr/>
        </p:nvSpPr>
        <p:spPr>
          <a:xfrm rot="0">
            <a:off x="1412748" y="3296031"/>
            <a:ext cx="8887968" cy="1381125"/>
          </a:xfrm>
          <a:prstGeom prst="rect">
            <a:avLst/>
          </a:prstGeom>
        </p:spPr>
        <p:txBody>
          <a:bodyPr anchor="t" rtlCol="false" tIns="0" lIns="0" bIns="0" rIns="0">
            <a:spAutoFit/>
          </a:bodyPr>
          <a:lstStyle/>
          <a:p>
            <a:pPr algn="l">
              <a:lnSpc>
                <a:spcPts val="2717"/>
              </a:lnSpc>
            </a:pPr>
            <a:r>
              <a:rPr lang="en-US" sz="2265">
                <a:solidFill>
                  <a:srgbClr val="101E2B"/>
                </a:solidFill>
                <a:latin typeface="Inter"/>
                <a:ea typeface="Inter"/>
                <a:cs typeface="Inter"/>
                <a:sym typeface="Inter"/>
              </a:rPr>
              <a:t>When an insured patient is admitted, the hospital sends a cashless request. A TPA executive must read the doctor's notes, check the policy, work out deductions and reply — by hand, under time pressure. Decisions are slow, inconsistent and hard to explain.</a:t>
            </a:r>
          </a:p>
        </p:txBody>
      </p:sp>
      <p:sp>
        <p:nvSpPr>
          <p:cNvPr name="TextBox 56" id="56"/>
          <p:cNvSpPr txBox="true"/>
          <p:nvPr/>
        </p:nvSpPr>
        <p:spPr>
          <a:xfrm rot="0">
            <a:off x="11836908" y="3981831"/>
            <a:ext cx="4773168" cy="1161669"/>
          </a:xfrm>
          <a:prstGeom prst="rect">
            <a:avLst/>
          </a:prstGeom>
        </p:spPr>
        <p:txBody>
          <a:bodyPr anchor="t" rtlCol="false" tIns="0" lIns="0" bIns="0" rIns="0">
            <a:spAutoFit/>
          </a:bodyPr>
          <a:lstStyle/>
          <a:p>
            <a:pPr algn="l">
              <a:lnSpc>
                <a:spcPts val="2717"/>
              </a:lnSpc>
            </a:pPr>
            <a:r>
              <a:rPr lang="en-US" sz="2265">
                <a:solidFill>
                  <a:srgbClr val="D4E3ED"/>
                </a:solidFill>
                <a:latin typeface="Inter"/>
                <a:ea typeface="Inter"/>
                <a:cs typeface="Inter"/>
                <a:sym typeface="Inter"/>
              </a:rPr>
              <a:t>IRDAI target for an insurer to decide a cashless request</a:t>
            </a:r>
          </a:p>
        </p:txBody>
      </p:sp>
      <p:sp>
        <p:nvSpPr>
          <p:cNvPr name="TextBox 57" id="57"/>
          <p:cNvSpPr txBox="true"/>
          <p:nvPr/>
        </p:nvSpPr>
        <p:spPr>
          <a:xfrm rot="0">
            <a:off x="11836908" y="7218807"/>
            <a:ext cx="4773168" cy="914781"/>
          </a:xfrm>
          <a:prstGeom prst="rect">
            <a:avLst/>
          </a:prstGeom>
        </p:spPr>
        <p:txBody>
          <a:bodyPr anchor="t" rtlCol="false" tIns="0" lIns="0" bIns="0" rIns="0">
            <a:spAutoFit/>
          </a:bodyPr>
          <a:lstStyle/>
          <a:p>
            <a:pPr algn="l">
              <a:lnSpc>
                <a:spcPts val="2717"/>
              </a:lnSpc>
            </a:pPr>
            <a:r>
              <a:rPr lang="en-US" sz="2265">
                <a:solidFill>
                  <a:srgbClr val="607184"/>
                </a:solidFill>
                <a:latin typeface="Inter"/>
                <a:ea typeface="Inter"/>
                <a:cs typeface="Inter"/>
                <a:sym typeface="Inter"/>
              </a:rPr>
              <a:t>IRDAI target for final authorisation at discharge</a:t>
            </a:r>
          </a:p>
        </p:txBody>
      </p:sp>
      <p:sp>
        <p:nvSpPr>
          <p:cNvPr name="Freeform 58" id="58"/>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4734"/>
                </a:lnSpc>
              </a:pPr>
              <a:r>
                <a:rPr lang="en-US" sz="3945" b="true">
                  <a:solidFill>
                    <a:srgbClr val="101E2B"/>
                  </a:solidFill>
                  <a:latin typeface="Inter Bold"/>
                  <a:ea typeface="Inter Bold"/>
                  <a:cs typeface="Inter Bold"/>
                  <a:sym typeface="Inter Bold"/>
                </a:rPr>
                <a:t>Existing process vs proposed agentic workflow</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1005459" y="2089023"/>
            <a:ext cx="7603998" cy="773430"/>
            <a:chOff x="0" y="0"/>
            <a:chExt cx="10138664" cy="1031240"/>
          </a:xfrm>
        </p:grpSpPr>
        <p:sp>
          <p:nvSpPr>
            <p:cNvPr name="Freeform 7" id="7"/>
            <p:cNvSpPr/>
            <p:nvPr/>
          </p:nvSpPr>
          <p:spPr>
            <a:xfrm flipH="false" flipV="false" rot="0">
              <a:off x="0" y="0"/>
              <a:ext cx="10138664" cy="1031240"/>
            </a:xfrm>
            <a:custGeom>
              <a:avLst/>
              <a:gdLst/>
              <a:ahLst/>
              <a:cxnLst/>
              <a:rect r="r" b="b" t="t" l="l"/>
              <a:pathLst>
                <a:path h="1031240" w="10138664">
                  <a:moveTo>
                    <a:pt x="0" y="0"/>
                  </a:moveTo>
                  <a:lnTo>
                    <a:pt x="10138664" y="0"/>
                  </a:lnTo>
                  <a:lnTo>
                    <a:pt x="10138664" y="1031240"/>
                  </a:lnTo>
                  <a:lnTo>
                    <a:pt x="0" y="1031240"/>
                  </a:lnTo>
                  <a:close/>
                </a:path>
              </a:pathLst>
            </a:custGeom>
            <a:solidFill>
              <a:srgbClr val="F1EDEA"/>
            </a:solidFill>
          </p:spPr>
        </p:sp>
      </p:grpSp>
      <p:grpSp>
        <p:nvGrpSpPr>
          <p:cNvPr name="Group 8" id="8"/>
          <p:cNvGrpSpPr/>
          <p:nvPr/>
        </p:nvGrpSpPr>
        <p:grpSpPr>
          <a:xfrm rot="0">
            <a:off x="9701403" y="2089023"/>
            <a:ext cx="7562850" cy="773430"/>
            <a:chOff x="0" y="0"/>
            <a:chExt cx="10083800" cy="1031240"/>
          </a:xfrm>
        </p:grpSpPr>
        <p:sp>
          <p:nvSpPr>
            <p:cNvPr name="Freeform 9" id="9"/>
            <p:cNvSpPr/>
            <p:nvPr/>
          </p:nvSpPr>
          <p:spPr>
            <a:xfrm flipH="false" flipV="false" rot="0">
              <a:off x="0" y="0"/>
              <a:ext cx="10083800" cy="1031240"/>
            </a:xfrm>
            <a:custGeom>
              <a:avLst/>
              <a:gdLst/>
              <a:ahLst/>
              <a:cxnLst/>
              <a:rect r="r" b="b" t="t" l="l"/>
              <a:pathLst>
                <a:path h="1031240" w="10083800">
                  <a:moveTo>
                    <a:pt x="0" y="0"/>
                  </a:moveTo>
                  <a:lnTo>
                    <a:pt x="10083800" y="0"/>
                  </a:lnTo>
                  <a:lnTo>
                    <a:pt x="10083800" y="1031240"/>
                  </a:lnTo>
                  <a:lnTo>
                    <a:pt x="0" y="1031240"/>
                  </a:lnTo>
                  <a:close/>
                </a:path>
              </a:pathLst>
            </a:custGeom>
            <a:solidFill>
              <a:srgbClr val="E4F3ED"/>
            </a:solidFill>
          </p:spPr>
        </p:sp>
      </p:grpSp>
      <p:grpSp>
        <p:nvGrpSpPr>
          <p:cNvPr name="Group 10" id="10"/>
          <p:cNvGrpSpPr/>
          <p:nvPr/>
        </p:nvGrpSpPr>
        <p:grpSpPr>
          <a:xfrm rot="0">
            <a:off x="1005459" y="2089023"/>
            <a:ext cx="108204" cy="773430"/>
            <a:chOff x="0" y="0"/>
            <a:chExt cx="144272" cy="1031240"/>
          </a:xfrm>
        </p:grpSpPr>
        <p:sp>
          <p:nvSpPr>
            <p:cNvPr name="Freeform 11" id="11"/>
            <p:cNvSpPr/>
            <p:nvPr/>
          </p:nvSpPr>
          <p:spPr>
            <a:xfrm flipH="false" flipV="false" rot="0">
              <a:off x="0" y="0"/>
              <a:ext cx="144272" cy="1031240"/>
            </a:xfrm>
            <a:custGeom>
              <a:avLst/>
              <a:gdLst/>
              <a:ahLst/>
              <a:cxnLst/>
              <a:rect r="r" b="b" t="t" l="l"/>
              <a:pathLst>
                <a:path h="1031240" w="144272">
                  <a:moveTo>
                    <a:pt x="0" y="0"/>
                  </a:moveTo>
                  <a:lnTo>
                    <a:pt x="144272" y="0"/>
                  </a:lnTo>
                  <a:lnTo>
                    <a:pt x="144272" y="1031240"/>
                  </a:lnTo>
                  <a:lnTo>
                    <a:pt x="0" y="1031240"/>
                  </a:lnTo>
                  <a:close/>
                </a:path>
              </a:pathLst>
            </a:custGeom>
            <a:solidFill>
              <a:srgbClr val="EE6A59"/>
            </a:solidFill>
          </p:spPr>
        </p:sp>
      </p:grpSp>
      <p:grpSp>
        <p:nvGrpSpPr>
          <p:cNvPr name="Group 12" id="12"/>
          <p:cNvGrpSpPr/>
          <p:nvPr/>
        </p:nvGrpSpPr>
        <p:grpSpPr>
          <a:xfrm rot="0">
            <a:off x="9701403" y="2089023"/>
            <a:ext cx="108204" cy="773430"/>
            <a:chOff x="0" y="0"/>
            <a:chExt cx="144272" cy="1031240"/>
          </a:xfrm>
        </p:grpSpPr>
        <p:sp>
          <p:nvSpPr>
            <p:cNvPr name="Freeform 13" id="13"/>
            <p:cNvSpPr/>
            <p:nvPr/>
          </p:nvSpPr>
          <p:spPr>
            <a:xfrm flipH="false" flipV="false" rot="0">
              <a:off x="0" y="0"/>
              <a:ext cx="144272" cy="1031240"/>
            </a:xfrm>
            <a:custGeom>
              <a:avLst/>
              <a:gdLst/>
              <a:ahLst/>
              <a:cxnLst/>
              <a:rect r="r" b="b" t="t" l="l"/>
              <a:pathLst>
                <a:path h="1031240" w="144272">
                  <a:moveTo>
                    <a:pt x="0" y="0"/>
                  </a:moveTo>
                  <a:lnTo>
                    <a:pt x="144272" y="0"/>
                  </a:lnTo>
                  <a:lnTo>
                    <a:pt x="144272" y="1031240"/>
                  </a:lnTo>
                  <a:lnTo>
                    <a:pt x="0" y="1031240"/>
                  </a:lnTo>
                  <a:close/>
                </a:path>
              </a:pathLst>
            </a:custGeom>
            <a:solidFill>
              <a:srgbClr val="008E86"/>
            </a:solidFill>
          </p:spPr>
        </p:sp>
      </p:grpSp>
      <p:grpSp>
        <p:nvGrpSpPr>
          <p:cNvPr name="Group 14" id="14"/>
          <p:cNvGrpSpPr/>
          <p:nvPr/>
        </p:nvGrpSpPr>
        <p:grpSpPr>
          <a:xfrm rot="0">
            <a:off x="1385316" y="2221992"/>
            <a:ext cx="6967728" cy="480060"/>
            <a:chOff x="0" y="0"/>
            <a:chExt cx="9290304" cy="640080"/>
          </a:xfrm>
        </p:grpSpPr>
        <p:sp>
          <p:nvSpPr>
            <p:cNvPr name="Freeform 15" id="15"/>
            <p:cNvSpPr/>
            <p:nvPr/>
          </p:nvSpPr>
          <p:spPr>
            <a:xfrm flipH="false" flipV="false" rot="0">
              <a:off x="0" y="0"/>
              <a:ext cx="9290304" cy="640080"/>
            </a:xfrm>
            <a:custGeom>
              <a:avLst/>
              <a:gdLst/>
              <a:ahLst/>
              <a:cxnLst/>
              <a:rect r="r" b="b" t="t" l="l"/>
              <a:pathLst>
                <a:path h="640080" w="9290304">
                  <a:moveTo>
                    <a:pt x="0" y="0"/>
                  </a:moveTo>
                  <a:lnTo>
                    <a:pt x="9290304" y="0"/>
                  </a:lnTo>
                  <a:lnTo>
                    <a:pt x="9290304" y="640080"/>
                  </a:lnTo>
                  <a:lnTo>
                    <a:pt x="0" y="640080"/>
                  </a:lnTo>
                  <a:close/>
                </a:path>
              </a:pathLst>
            </a:custGeom>
            <a:blipFill>
              <a:blip r:embed="rId3">
                <a:alphaModFix amt="0"/>
              </a:blip>
              <a:stretch>
                <a:fillRect l="0" t="-232811" r="0" b="-232811"/>
              </a:stretch>
            </a:blipFill>
          </p:spPr>
        </p:sp>
        <p:sp>
          <p:nvSpPr>
            <p:cNvPr name="TextBox 16" id="16"/>
            <p:cNvSpPr txBox="true"/>
            <p:nvPr/>
          </p:nvSpPr>
          <p:spPr>
            <a:xfrm>
              <a:off x="0" y="-9525"/>
              <a:ext cx="9290304" cy="649605"/>
            </a:xfrm>
            <a:prstGeom prst="rect">
              <a:avLst/>
            </a:prstGeom>
          </p:spPr>
          <p:txBody>
            <a:bodyPr anchor="ctr" rtlCol="false" tIns="0" lIns="0" bIns="0" rIns="0"/>
            <a:lstStyle/>
            <a:p>
              <a:pPr algn="l">
                <a:lnSpc>
                  <a:spcPts val="2934"/>
                </a:lnSpc>
              </a:pPr>
              <a:r>
                <a:rPr lang="en-US" sz="2445" b="true">
                  <a:solidFill>
                    <a:srgbClr val="9C4B48"/>
                  </a:solidFill>
                  <a:latin typeface="Inter Bold"/>
                  <a:ea typeface="Inter Bold"/>
                  <a:cs typeface="Inter Bold"/>
                  <a:sym typeface="Inter Bold"/>
                </a:rPr>
                <a:t>Today: manual TPA desk</a:t>
              </a:r>
            </a:p>
          </p:txBody>
        </p:sp>
      </p:grpSp>
      <p:grpSp>
        <p:nvGrpSpPr>
          <p:cNvPr name="Group 17" id="17"/>
          <p:cNvGrpSpPr/>
          <p:nvPr/>
        </p:nvGrpSpPr>
        <p:grpSpPr>
          <a:xfrm rot="0">
            <a:off x="10081260" y="2221992"/>
            <a:ext cx="6720840" cy="480060"/>
            <a:chOff x="0" y="0"/>
            <a:chExt cx="8961120" cy="640080"/>
          </a:xfrm>
        </p:grpSpPr>
        <p:sp>
          <p:nvSpPr>
            <p:cNvPr name="Freeform 18" id="18"/>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19" id="19"/>
            <p:cNvSpPr txBox="true"/>
            <p:nvPr/>
          </p:nvSpPr>
          <p:spPr>
            <a:xfrm>
              <a:off x="0" y="-9525"/>
              <a:ext cx="8961120" cy="649605"/>
            </a:xfrm>
            <a:prstGeom prst="rect">
              <a:avLst/>
            </a:prstGeom>
          </p:spPr>
          <p:txBody>
            <a:bodyPr anchor="ctr" rtlCol="false" tIns="0" lIns="0" bIns="0" rIns="0"/>
            <a:lstStyle/>
            <a:p>
              <a:pPr algn="l">
                <a:lnSpc>
                  <a:spcPts val="2934"/>
                </a:lnSpc>
              </a:pPr>
              <a:r>
                <a:rPr lang="en-US" sz="2445" b="true">
                  <a:solidFill>
                    <a:srgbClr val="008E86"/>
                  </a:solidFill>
                  <a:latin typeface="Inter Bold"/>
                  <a:ea typeface="Inter Bold"/>
                  <a:cs typeface="Inter Bold"/>
                  <a:sym typeface="Inter Bold"/>
                </a:rPr>
                <a:t>With ClaimPilot</a:t>
              </a:r>
            </a:p>
          </p:txBody>
        </p:sp>
      </p:grpSp>
      <p:grpSp>
        <p:nvGrpSpPr>
          <p:cNvPr name="Group 20" id="20"/>
          <p:cNvGrpSpPr/>
          <p:nvPr/>
        </p:nvGrpSpPr>
        <p:grpSpPr>
          <a:xfrm rot="0">
            <a:off x="1020604" y="3146584"/>
            <a:ext cx="7601140" cy="976312"/>
            <a:chOff x="0" y="0"/>
            <a:chExt cx="10134854" cy="1301750"/>
          </a:xfrm>
        </p:grpSpPr>
        <p:sp>
          <p:nvSpPr>
            <p:cNvPr name="Freeform 21" id="21"/>
            <p:cNvSpPr/>
            <p:nvPr/>
          </p:nvSpPr>
          <p:spPr>
            <a:xfrm flipH="false" flipV="false" rot="0">
              <a:off x="0" y="0"/>
              <a:ext cx="10134854" cy="1301750"/>
            </a:xfrm>
            <a:custGeom>
              <a:avLst/>
              <a:gdLst/>
              <a:ahLst/>
              <a:cxnLst/>
              <a:rect r="r" b="b" t="t" l="l"/>
              <a:pathLst>
                <a:path h="1301750" w="10134854">
                  <a:moveTo>
                    <a:pt x="0" y="148717"/>
                  </a:moveTo>
                  <a:cubicBezTo>
                    <a:pt x="0" y="66548"/>
                    <a:pt x="66548" y="0"/>
                    <a:pt x="148717" y="0"/>
                  </a:cubicBezTo>
                  <a:lnTo>
                    <a:pt x="9986137" y="0"/>
                  </a:lnTo>
                  <a:cubicBezTo>
                    <a:pt x="10068306" y="0"/>
                    <a:pt x="10134854" y="66548"/>
                    <a:pt x="10134854" y="148717"/>
                  </a:cubicBezTo>
                  <a:lnTo>
                    <a:pt x="10134854" y="1153033"/>
                  </a:lnTo>
                  <a:cubicBezTo>
                    <a:pt x="10134854" y="1235202"/>
                    <a:pt x="10068306" y="1301750"/>
                    <a:pt x="9986137" y="1301750"/>
                  </a:cubicBezTo>
                  <a:lnTo>
                    <a:pt x="148717" y="1301750"/>
                  </a:lnTo>
                  <a:cubicBezTo>
                    <a:pt x="66548" y="1301750"/>
                    <a:pt x="0" y="1235202"/>
                    <a:pt x="0" y="1153033"/>
                  </a:cubicBezTo>
                  <a:close/>
                </a:path>
              </a:pathLst>
            </a:custGeom>
            <a:solidFill>
              <a:srgbClr val="FFFFFF"/>
            </a:solidFill>
            <a:ln w="16192" cap="sq">
              <a:solidFill>
                <a:srgbClr val="DCE3E6"/>
              </a:solidFill>
              <a:prstDash val="solid"/>
              <a:miter/>
            </a:ln>
          </p:spPr>
        </p:sp>
      </p:grpSp>
      <p:grpSp>
        <p:nvGrpSpPr>
          <p:cNvPr name="Group 22" id="22"/>
          <p:cNvGrpSpPr/>
          <p:nvPr/>
        </p:nvGrpSpPr>
        <p:grpSpPr>
          <a:xfrm rot="0">
            <a:off x="9716548" y="3146584"/>
            <a:ext cx="7546276" cy="976312"/>
            <a:chOff x="0" y="0"/>
            <a:chExt cx="10061702" cy="1301750"/>
          </a:xfrm>
        </p:grpSpPr>
        <p:sp>
          <p:nvSpPr>
            <p:cNvPr name="Freeform 23" id="23"/>
            <p:cNvSpPr/>
            <p:nvPr/>
          </p:nvSpPr>
          <p:spPr>
            <a:xfrm flipH="false" flipV="false" rot="0">
              <a:off x="0" y="0"/>
              <a:ext cx="10061702" cy="1301750"/>
            </a:xfrm>
            <a:custGeom>
              <a:avLst/>
              <a:gdLst/>
              <a:ahLst/>
              <a:cxnLst/>
              <a:rect r="r" b="b" t="t" l="l"/>
              <a:pathLst>
                <a:path h="1301750" w="10061702">
                  <a:moveTo>
                    <a:pt x="0" y="148717"/>
                  </a:moveTo>
                  <a:cubicBezTo>
                    <a:pt x="0" y="66548"/>
                    <a:pt x="66548" y="0"/>
                    <a:pt x="148717" y="0"/>
                  </a:cubicBezTo>
                  <a:lnTo>
                    <a:pt x="9912985" y="0"/>
                  </a:lnTo>
                  <a:cubicBezTo>
                    <a:pt x="9995153" y="0"/>
                    <a:pt x="10061702" y="66548"/>
                    <a:pt x="10061702" y="148717"/>
                  </a:cubicBezTo>
                  <a:lnTo>
                    <a:pt x="10061702" y="1153033"/>
                  </a:lnTo>
                  <a:cubicBezTo>
                    <a:pt x="10061702" y="1235202"/>
                    <a:pt x="9995153" y="1301750"/>
                    <a:pt x="9912985" y="1301750"/>
                  </a:cubicBezTo>
                  <a:lnTo>
                    <a:pt x="148717" y="1301750"/>
                  </a:lnTo>
                  <a:cubicBezTo>
                    <a:pt x="66548" y="1301750"/>
                    <a:pt x="0" y="1235202"/>
                    <a:pt x="0" y="1153033"/>
                  </a:cubicBezTo>
                  <a:close/>
                </a:path>
              </a:pathLst>
            </a:custGeom>
            <a:solidFill>
              <a:srgbClr val="FFFFFF"/>
            </a:solidFill>
            <a:ln w="16192" cap="sq">
              <a:solidFill>
                <a:srgbClr val="BCE1D6"/>
              </a:solidFill>
              <a:prstDash val="solid"/>
              <a:miter/>
            </a:ln>
          </p:spPr>
        </p:sp>
      </p:grpSp>
      <p:grpSp>
        <p:nvGrpSpPr>
          <p:cNvPr name="Group 24" id="24"/>
          <p:cNvGrpSpPr/>
          <p:nvPr/>
        </p:nvGrpSpPr>
        <p:grpSpPr>
          <a:xfrm rot="0">
            <a:off x="1019175" y="3145155"/>
            <a:ext cx="101346" cy="979170"/>
            <a:chOff x="0" y="0"/>
            <a:chExt cx="135128" cy="1305560"/>
          </a:xfrm>
        </p:grpSpPr>
        <p:sp>
          <p:nvSpPr>
            <p:cNvPr name="Freeform 25" id="25"/>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9A6A0"/>
            </a:solidFill>
          </p:spPr>
        </p:sp>
      </p:grpSp>
      <p:grpSp>
        <p:nvGrpSpPr>
          <p:cNvPr name="Group 26" id="26"/>
          <p:cNvGrpSpPr/>
          <p:nvPr/>
        </p:nvGrpSpPr>
        <p:grpSpPr>
          <a:xfrm rot="0">
            <a:off x="9715119" y="3145155"/>
            <a:ext cx="101346" cy="979170"/>
            <a:chOff x="0" y="0"/>
            <a:chExt cx="135128" cy="1305560"/>
          </a:xfrm>
        </p:grpSpPr>
        <p:sp>
          <p:nvSpPr>
            <p:cNvPr name="Freeform 27" id="27"/>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008E86"/>
            </a:solidFill>
          </p:spPr>
        </p:sp>
      </p:grpSp>
      <p:grpSp>
        <p:nvGrpSpPr>
          <p:cNvPr name="Group 28" id="28"/>
          <p:cNvGrpSpPr/>
          <p:nvPr/>
        </p:nvGrpSpPr>
        <p:grpSpPr>
          <a:xfrm rot="0">
            <a:off x="1385316" y="3291840"/>
            <a:ext cx="6789420" cy="699516"/>
            <a:chOff x="0" y="0"/>
            <a:chExt cx="9052560" cy="932688"/>
          </a:xfrm>
        </p:grpSpPr>
        <p:sp>
          <p:nvSpPr>
            <p:cNvPr name="Freeform 29" id="29"/>
            <p:cNvSpPr/>
            <p:nvPr/>
          </p:nvSpPr>
          <p:spPr>
            <a:xfrm flipH="false" flipV="false" rot="0">
              <a:off x="0" y="0"/>
              <a:ext cx="9052560" cy="932688"/>
            </a:xfrm>
            <a:custGeom>
              <a:avLst/>
              <a:gdLst/>
              <a:ahLst/>
              <a:cxnLst/>
              <a:rect r="r" b="b" t="t" l="l"/>
              <a:pathLst>
                <a:path h="932688" w="9052560">
                  <a:moveTo>
                    <a:pt x="0" y="0"/>
                  </a:moveTo>
                  <a:lnTo>
                    <a:pt x="9052560" y="0"/>
                  </a:lnTo>
                  <a:lnTo>
                    <a:pt x="9052560" y="932688"/>
                  </a:lnTo>
                  <a:lnTo>
                    <a:pt x="0" y="932688"/>
                  </a:lnTo>
                  <a:close/>
                </a:path>
              </a:pathLst>
            </a:custGeom>
            <a:blipFill>
              <a:blip r:embed="rId3">
                <a:alphaModFix amt="0"/>
              </a:blip>
              <a:stretch>
                <a:fillRect l="0" t="-139119" r="0" b="-139119"/>
              </a:stretch>
            </a:blipFill>
          </p:spPr>
        </p:sp>
        <p:sp>
          <p:nvSpPr>
            <p:cNvPr name="TextBox 30" id="30"/>
            <p:cNvSpPr txBox="true"/>
            <p:nvPr/>
          </p:nvSpPr>
          <p:spPr>
            <a:xfrm>
              <a:off x="0" y="-9525"/>
              <a:ext cx="9052560"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Executive reads free-text doctor notes</a:t>
              </a:r>
            </a:p>
          </p:txBody>
        </p:sp>
      </p:grpSp>
      <p:grpSp>
        <p:nvGrpSpPr>
          <p:cNvPr name="Group 31" id="31"/>
          <p:cNvGrpSpPr/>
          <p:nvPr/>
        </p:nvGrpSpPr>
        <p:grpSpPr>
          <a:xfrm rot="0">
            <a:off x="10094976" y="3291840"/>
            <a:ext cx="6775704" cy="699516"/>
            <a:chOff x="0" y="0"/>
            <a:chExt cx="9034272" cy="932688"/>
          </a:xfrm>
        </p:grpSpPr>
        <p:sp>
          <p:nvSpPr>
            <p:cNvPr name="Freeform 32" id="32"/>
            <p:cNvSpPr/>
            <p:nvPr/>
          </p:nvSpPr>
          <p:spPr>
            <a:xfrm flipH="false" flipV="false" rot="0">
              <a:off x="0" y="0"/>
              <a:ext cx="9034272" cy="932688"/>
            </a:xfrm>
            <a:custGeom>
              <a:avLst/>
              <a:gdLst/>
              <a:ahLst/>
              <a:cxnLst/>
              <a:rect r="r" b="b" t="t" l="l"/>
              <a:pathLst>
                <a:path h="932688" w="9034272">
                  <a:moveTo>
                    <a:pt x="0" y="0"/>
                  </a:moveTo>
                  <a:lnTo>
                    <a:pt x="9034272" y="0"/>
                  </a:lnTo>
                  <a:lnTo>
                    <a:pt x="9034272" y="932688"/>
                  </a:lnTo>
                  <a:lnTo>
                    <a:pt x="0" y="932688"/>
                  </a:lnTo>
                  <a:close/>
                </a:path>
              </a:pathLst>
            </a:custGeom>
            <a:blipFill>
              <a:blip r:embed="rId3">
                <a:alphaModFix amt="0"/>
              </a:blip>
              <a:stretch>
                <a:fillRect l="0" t="-138737" r="0" b="-138737"/>
              </a:stretch>
            </a:blipFill>
          </p:spPr>
        </p:sp>
        <p:sp>
          <p:nvSpPr>
            <p:cNvPr name="TextBox 33" id="33"/>
            <p:cNvSpPr txBox="true"/>
            <p:nvPr/>
          </p:nvSpPr>
          <p:spPr>
            <a:xfrm>
              <a:off x="0" y="-9525"/>
              <a:ext cx="9034272"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Intake agent extracts procedure, conditions, flags</a:t>
              </a:r>
            </a:p>
          </p:txBody>
        </p:sp>
      </p:grpSp>
      <p:sp>
        <p:nvSpPr>
          <p:cNvPr name="AutoShape 34" id="34"/>
          <p:cNvSpPr/>
          <p:nvPr/>
        </p:nvSpPr>
        <p:spPr>
          <a:xfrm>
            <a:off x="8869185" y="3634740"/>
            <a:ext cx="476488" cy="0"/>
          </a:xfrm>
          <a:prstGeom prst="line">
            <a:avLst/>
          </a:prstGeom>
          <a:ln cap="rnd" w="19050">
            <a:solidFill>
              <a:srgbClr val="425AEF"/>
            </a:solidFill>
            <a:prstDash val="solid"/>
            <a:headEnd type="none" len="sm" w="sm"/>
            <a:tailEnd type="triangle" len="med" w="lg"/>
          </a:ln>
        </p:spPr>
      </p:sp>
      <p:grpSp>
        <p:nvGrpSpPr>
          <p:cNvPr name="Group 35" id="35"/>
          <p:cNvGrpSpPr/>
          <p:nvPr/>
        </p:nvGrpSpPr>
        <p:grpSpPr>
          <a:xfrm rot="0">
            <a:off x="1020604" y="4312444"/>
            <a:ext cx="7601140" cy="976312"/>
            <a:chOff x="0" y="0"/>
            <a:chExt cx="10134854" cy="1301750"/>
          </a:xfrm>
        </p:grpSpPr>
        <p:sp>
          <p:nvSpPr>
            <p:cNvPr name="Freeform 36" id="36"/>
            <p:cNvSpPr/>
            <p:nvPr/>
          </p:nvSpPr>
          <p:spPr>
            <a:xfrm flipH="false" flipV="false" rot="0">
              <a:off x="0" y="0"/>
              <a:ext cx="10134854" cy="1301750"/>
            </a:xfrm>
            <a:custGeom>
              <a:avLst/>
              <a:gdLst/>
              <a:ahLst/>
              <a:cxnLst/>
              <a:rect r="r" b="b" t="t" l="l"/>
              <a:pathLst>
                <a:path h="1301750" w="10134854">
                  <a:moveTo>
                    <a:pt x="0" y="148717"/>
                  </a:moveTo>
                  <a:cubicBezTo>
                    <a:pt x="0" y="66548"/>
                    <a:pt x="66548" y="0"/>
                    <a:pt x="148717" y="0"/>
                  </a:cubicBezTo>
                  <a:lnTo>
                    <a:pt x="9986137" y="0"/>
                  </a:lnTo>
                  <a:cubicBezTo>
                    <a:pt x="10068306" y="0"/>
                    <a:pt x="10134854" y="66548"/>
                    <a:pt x="10134854" y="148717"/>
                  </a:cubicBezTo>
                  <a:lnTo>
                    <a:pt x="10134854" y="1153033"/>
                  </a:lnTo>
                  <a:cubicBezTo>
                    <a:pt x="10134854" y="1235202"/>
                    <a:pt x="10068306" y="1301750"/>
                    <a:pt x="9986137" y="1301750"/>
                  </a:cubicBezTo>
                  <a:lnTo>
                    <a:pt x="148717" y="1301750"/>
                  </a:lnTo>
                  <a:cubicBezTo>
                    <a:pt x="66548" y="1301750"/>
                    <a:pt x="0" y="1235202"/>
                    <a:pt x="0" y="1153033"/>
                  </a:cubicBezTo>
                  <a:close/>
                </a:path>
              </a:pathLst>
            </a:custGeom>
            <a:solidFill>
              <a:srgbClr val="FFFFFF"/>
            </a:solidFill>
            <a:ln w="16192" cap="sq">
              <a:solidFill>
                <a:srgbClr val="DCE3E6"/>
              </a:solidFill>
              <a:prstDash val="solid"/>
              <a:miter/>
            </a:ln>
          </p:spPr>
        </p:sp>
      </p:grpSp>
      <p:grpSp>
        <p:nvGrpSpPr>
          <p:cNvPr name="Group 37" id="37"/>
          <p:cNvGrpSpPr/>
          <p:nvPr/>
        </p:nvGrpSpPr>
        <p:grpSpPr>
          <a:xfrm rot="0">
            <a:off x="9716548" y="4312444"/>
            <a:ext cx="7546276" cy="976312"/>
            <a:chOff x="0" y="0"/>
            <a:chExt cx="10061702" cy="1301750"/>
          </a:xfrm>
        </p:grpSpPr>
        <p:sp>
          <p:nvSpPr>
            <p:cNvPr name="Freeform 38" id="38"/>
            <p:cNvSpPr/>
            <p:nvPr/>
          </p:nvSpPr>
          <p:spPr>
            <a:xfrm flipH="false" flipV="false" rot="0">
              <a:off x="0" y="0"/>
              <a:ext cx="10061702" cy="1301750"/>
            </a:xfrm>
            <a:custGeom>
              <a:avLst/>
              <a:gdLst/>
              <a:ahLst/>
              <a:cxnLst/>
              <a:rect r="r" b="b" t="t" l="l"/>
              <a:pathLst>
                <a:path h="1301750" w="10061702">
                  <a:moveTo>
                    <a:pt x="0" y="148717"/>
                  </a:moveTo>
                  <a:cubicBezTo>
                    <a:pt x="0" y="66548"/>
                    <a:pt x="66548" y="0"/>
                    <a:pt x="148717" y="0"/>
                  </a:cubicBezTo>
                  <a:lnTo>
                    <a:pt x="9912985" y="0"/>
                  </a:lnTo>
                  <a:cubicBezTo>
                    <a:pt x="9995153" y="0"/>
                    <a:pt x="10061702" y="66548"/>
                    <a:pt x="10061702" y="148717"/>
                  </a:cubicBezTo>
                  <a:lnTo>
                    <a:pt x="10061702" y="1153033"/>
                  </a:lnTo>
                  <a:cubicBezTo>
                    <a:pt x="10061702" y="1235202"/>
                    <a:pt x="9995153" y="1301750"/>
                    <a:pt x="9912985" y="1301750"/>
                  </a:cubicBezTo>
                  <a:lnTo>
                    <a:pt x="148717" y="1301750"/>
                  </a:lnTo>
                  <a:cubicBezTo>
                    <a:pt x="66548" y="1301750"/>
                    <a:pt x="0" y="1235202"/>
                    <a:pt x="0" y="1153033"/>
                  </a:cubicBezTo>
                  <a:close/>
                </a:path>
              </a:pathLst>
            </a:custGeom>
            <a:solidFill>
              <a:srgbClr val="FFFFFF"/>
            </a:solidFill>
            <a:ln w="16192" cap="sq">
              <a:solidFill>
                <a:srgbClr val="BCE1D6"/>
              </a:solidFill>
              <a:prstDash val="solid"/>
              <a:miter/>
            </a:ln>
          </p:spPr>
        </p:sp>
      </p:grpSp>
      <p:grpSp>
        <p:nvGrpSpPr>
          <p:cNvPr name="Group 39" id="39"/>
          <p:cNvGrpSpPr/>
          <p:nvPr/>
        </p:nvGrpSpPr>
        <p:grpSpPr>
          <a:xfrm rot="0">
            <a:off x="1019175" y="4311015"/>
            <a:ext cx="101346" cy="979170"/>
            <a:chOff x="0" y="0"/>
            <a:chExt cx="135128" cy="1305560"/>
          </a:xfrm>
        </p:grpSpPr>
        <p:sp>
          <p:nvSpPr>
            <p:cNvPr name="Freeform 40" id="40"/>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9A6A0"/>
            </a:solidFill>
          </p:spPr>
        </p:sp>
      </p:grpSp>
      <p:grpSp>
        <p:nvGrpSpPr>
          <p:cNvPr name="Group 41" id="41"/>
          <p:cNvGrpSpPr/>
          <p:nvPr/>
        </p:nvGrpSpPr>
        <p:grpSpPr>
          <a:xfrm rot="0">
            <a:off x="9715119" y="4311015"/>
            <a:ext cx="101346" cy="979170"/>
            <a:chOff x="0" y="0"/>
            <a:chExt cx="135128" cy="1305560"/>
          </a:xfrm>
        </p:grpSpPr>
        <p:sp>
          <p:nvSpPr>
            <p:cNvPr name="Freeform 42" id="42"/>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008E86"/>
            </a:solidFill>
          </p:spPr>
        </p:sp>
      </p:grpSp>
      <p:grpSp>
        <p:nvGrpSpPr>
          <p:cNvPr name="Group 43" id="43"/>
          <p:cNvGrpSpPr/>
          <p:nvPr/>
        </p:nvGrpSpPr>
        <p:grpSpPr>
          <a:xfrm rot="0">
            <a:off x="1385316" y="4457700"/>
            <a:ext cx="6789420" cy="699516"/>
            <a:chOff x="0" y="0"/>
            <a:chExt cx="9052560" cy="932688"/>
          </a:xfrm>
        </p:grpSpPr>
        <p:sp>
          <p:nvSpPr>
            <p:cNvPr name="Freeform 44" id="44"/>
            <p:cNvSpPr/>
            <p:nvPr/>
          </p:nvSpPr>
          <p:spPr>
            <a:xfrm flipH="false" flipV="false" rot="0">
              <a:off x="0" y="0"/>
              <a:ext cx="9052560" cy="932688"/>
            </a:xfrm>
            <a:custGeom>
              <a:avLst/>
              <a:gdLst/>
              <a:ahLst/>
              <a:cxnLst/>
              <a:rect r="r" b="b" t="t" l="l"/>
              <a:pathLst>
                <a:path h="932688" w="9052560">
                  <a:moveTo>
                    <a:pt x="0" y="0"/>
                  </a:moveTo>
                  <a:lnTo>
                    <a:pt x="9052560" y="0"/>
                  </a:lnTo>
                  <a:lnTo>
                    <a:pt x="9052560" y="932688"/>
                  </a:lnTo>
                  <a:lnTo>
                    <a:pt x="0" y="932688"/>
                  </a:lnTo>
                  <a:close/>
                </a:path>
              </a:pathLst>
            </a:custGeom>
            <a:blipFill>
              <a:blip r:embed="rId3">
                <a:alphaModFix amt="0"/>
              </a:blip>
              <a:stretch>
                <a:fillRect l="0" t="-139119" r="0" b="-139119"/>
              </a:stretch>
            </a:blipFill>
          </p:spPr>
        </p:sp>
        <p:sp>
          <p:nvSpPr>
            <p:cNvPr name="TextBox 45" id="45"/>
            <p:cNvSpPr txBox="true"/>
            <p:nvPr/>
          </p:nvSpPr>
          <p:spPr>
            <a:xfrm>
              <a:off x="0" y="-9525"/>
              <a:ext cx="9052560"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Searches the policy PDF for clauses</a:t>
              </a:r>
            </a:p>
          </p:txBody>
        </p:sp>
      </p:grpSp>
      <p:grpSp>
        <p:nvGrpSpPr>
          <p:cNvPr name="Group 46" id="46"/>
          <p:cNvGrpSpPr/>
          <p:nvPr/>
        </p:nvGrpSpPr>
        <p:grpSpPr>
          <a:xfrm rot="0">
            <a:off x="10094976" y="4457700"/>
            <a:ext cx="6775704" cy="699516"/>
            <a:chOff x="0" y="0"/>
            <a:chExt cx="9034272" cy="932688"/>
          </a:xfrm>
        </p:grpSpPr>
        <p:sp>
          <p:nvSpPr>
            <p:cNvPr name="Freeform 47" id="47"/>
            <p:cNvSpPr/>
            <p:nvPr/>
          </p:nvSpPr>
          <p:spPr>
            <a:xfrm flipH="false" flipV="false" rot="0">
              <a:off x="0" y="0"/>
              <a:ext cx="9034272" cy="932688"/>
            </a:xfrm>
            <a:custGeom>
              <a:avLst/>
              <a:gdLst/>
              <a:ahLst/>
              <a:cxnLst/>
              <a:rect r="r" b="b" t="t" l="l"/>
              <a:pathLst>
                <a:path h="932688" w="9034272">
                  <a:moveTo>
                    <a:pt x="0" y="0"/>
                  </a:moveTo>
                  <a:lnTo>
                    <a:pt x="9034272" y="0"/>
                  </a:lnTo>
                  <a:lnTo>
                    <a:pt x="9034272" y="932688"/>
                  </a:lnTo>
                  <a:lnTo>
                    <a:pt x="0" y="932688"/>
                  </a:lnTo>
                  <a:close/>
                </a:path>
              </a:pathLst>
            </a:custGeom>
            <a:blipFill>
              <a:blip r:embed="rId3">
                <a:alphaModFix amt="0"/>
              </a:blip>
              <a:stretch>
                <a:fillRect l="0" t="-138737" r="0" b="-138737"/>
              </a:stretch>
            </a:blipFill>
          </p:spPr>
        </p:sp>
        <p:sp>
          <p:nvSpPr>
            <p:cNvPr name="TextBox 48" id="48"/>
            <p:cNvSpPr txBox="true"/>
            <p:nvPr/>
          </p:nvSpPr>
          <p:spPr>
            <a:xfrm>
              <a:off x="0" y="-9525"/>
              <a:ext cx="9034272"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Research agent retrieves clauses + tariff</a:t>
              </a:r>
            </a:p>
          </p:txBody>
        </p:sp>
      </p:grpSp>
      <p:sp>
        <p:nvSpPr>
          <p:cNvPr name="AutoShape 49" id="49"/>
          <p:cNvSpPr/>
          <p:nvPr/>
        </p:nvSpPr>
        <p:spPr>
          <a:xfrm>
            <a:off x="8869246" y="4795180"/>
            <a:ext cx="476365" cy="10841"/>
          </a:xfrm>
          <a:prstGeom prst="line">
            <a:avLst/>
          </a:prstGeom>
          <a:ln cap="rnd" w="19050">
            <a:solidFill>
              <a:srgbClr val="425AEF"/>
            </a:solidFill>
            <a:prstDash val="solid"/>
            <a:headEnd type="none" len="sm" w="sm"/>
            <a:tailEnd type="triangle" len="med" w="lg"/>
          </a:ln>
        </p:spPr>
      </p:sp>
      <p:grpSp>
        <p:nvGrpSpPr>
          <p:cNvPr name="Group 50" id="50"/>
          <p:cNvGrpSpPr/>
          <p:nvPr/>
        </p:nvGrpSpPr>
        <p:grpSpPr>
          <a:xfrm rot="0">
            <a:off x="1020604" y="5478304"/>
            <a:ext cx="7601140" cy="976312"/>
            <a:chOff x="0" y="0"/>
            <a:chExt cx="10134854" cy="1301750"/>
          </a:xfrm>
        </p:grpSpPr>
        <p:sp>
          <p:nvSpPr>
            <p:cNvPr name="Freeform 51" id="51"/>
            <p:cNvSpPr/>
            <p:nvPr/>
          </p:nvSpPr>
          <p:spPr>
            <a:xfrm flipH="false" flipV="false" rot="0">
              <a:off x="0" y="0"/>
              <a:ext cx="10134854" cy="1301750"/>
            </a:xfrm>
            <a:custGeom>
              <a:avLst/>
              <a:gdLst/>
              <a:ahLst/>
              <a:cxnLst/>
              <a:rect r="r" b="b" t="t" l="l"/>
              <a:pathLst>
                <a:path h="1301750" w="10134854">
                  <a:moveTo>
                    <a:pt x="0" y="148717"/>
                  </a:moveTo>
                  <a:cubicBezTo>
                    <a:pt x="0" y="66548"/>
                    <a:pt x="66548" y="0"/>
                    <a:pt x="148717" y="0"/>
                  </a:cubicBezTo>
                  <a:lnTo>
                    <a:pt x="9986137" y="0"/>
                  </a:lnTo>
                  <a:cubicBezTo>
                    <a:pt x="10068306" y="0"/>
                    <a:pt x="10134854" y="66548"/>
                    <a:pt x="10134854" y="148717"/>
                  </a:cubicBezTo>
                  <a:lnTo>
                    <a:pt x="10134854" y="1153033"/>
                  </a:lnTo>
                  <a:cubicBezTo>
                    <a:pt x="10134854" y="1235202"/>
                    <a:pt x="10068306" y="1301750"/>
                    <a:pt x="9986137" y="1301750"/>
                  </a:cubicBezTo>
                  <a:lnTo>
                    <a:pt x="148717" y="1301750"/>
                  </a:lnTo>
                  <a:cubicBezTo>
                    <a:pt x="66548" y="1301750"/>
                    <a:pt x="0" y="1235202"/>
                    <a:pt x="0" y="1153033"/>
                  </a:cubicBezTo>
                  <a:close/>
                </a:path>
              </a:pathLst>
            </a:custGeom>
            <a:solidFill>
              <a:srgbClr val="FFFFFF"/>
            </a:solidFill>
            <a:ln w="16192" cap="sq">
              <a:solidFill>
                <a:srgbClr val="DCE3E6"/>
              </a:solidFill>
              <a:prstDash val="solid"/>
              <a:miter/>
            </a:ln>
          </p:spPr>
        </p:sp>
      </p:grpSp>
      <p:grpSp>
        <p:nvGrpSpPr>
          <p:cNvPr name="Group 52" id="52"/>
          <p:cNvGrpSpPr/>
          <p:nvPr/>
        </p:nvGrpSpPr>
        <p:grpSpPr>
          <a:xfrm rot="0">
            <a:off x="9716548" y="5478304"/>
            <a:ext cx="7546276" cy="976312"/>
            <a:chOff x="0" y="0"/>
            <a:chExt cx="10061702" cy="1301750"/>
          </a:xfrm>
        </p:grpSpPr>
        <p:sp>
          <p:nvSpPr>
            <p:cNvPr name="Freeform 53" id="53"/>
            <p:cNvSpPr/>
            <p:nvPr/>
          </p:nvSpPr>
          <p:spPr>
            <a:xfrm flipH="false" flipV="false" rot="0">
              <a:off x="0" y="0"/>
              <a:ext cx="10061702" cy="1301750"/>
            </a:xfrm>
            <a:custGeom>
              <a:avLst/>
              <a:gdLst/>
              <a:ahLst/>
              <a:cxnLst/>
              <a:rect r="r" b="b" t="t" l="l"/>
              <a:pathLst>
                <a:path h="1301750" w="10061702">
                  <a:moveTo>
                    <a:pt x="0" y="148717"/>
                  </a:moveTo>
                  <a:cubicBezTo>
                    <a:pt x="0" y="66548"/>
                    <a:pt x="66548" y="0"/>
                    <a:pt x="148717" y="0"/>
                  </a:cubicBezTo>
                  <a:lnTo>
                    <a:pt x="9912985" y="0"/>
                  </a:lnTo>
                  <a:cubicBezTo>
                    <a:pt x="9995153" y="0"/>
                    <a:pt x="10061702" y="66548"/>
                    <a:pt x="10061702" y="148717"/>
                  </a:cubicBezTo>
                  <a:lnTo>
                    <a:pt x="10061702" y="1153033"/>
                  </a:lnTo>
                  <a:cubicBezTo>
                    <a:pt x="10061702" y="1235202"/>
                    <a:pt x="9995153" y="1301750"/>
                    <a:pt x="9912985" y="1301750"/>
                  </a:cubicBezTo>
                  <a:lnTo>
                    <a:pt x="148717" y="1301750"/>
                  </a:lnTo>
                  <a:cubicBezTo>
                    <a:pt x="66548" y="1301750"/>
                    <a:pt x="0" y="1235202"/>
                    <a:pt x="0" y="1153033"/>
                  </a:cubicBezTo>
                  <a:close/>
                </a:path>
              </a:pathLst>
            </a:custGeom>
            <a:solidFill>
              <a:srgbClr val="FFFFFF"/>
            </a:solidFill>
            <a:ln w="16192" cap="sq">
              <a:solidFill>
                <a:srgbClr val="BCE1D6"/>
              </a:solidFill>
              <a:prstDash val="solid"/>
              <a:miter/>
            </a:ln>
          </p:spPr>
        </p:sp>
      </p:grpSp>
      <p:grpSp>
        <p:nvGrpSpPr>
          <p:cNvPr name="Group 54" id="54"/>
          <p:cNvGrpSpPr/>
          <p:nvPr/>
        </p:nvGrpSpPr>
        <p:grpSpPr>
          <a:xfrm rot="0">
            <a:off x="1019175" y="5476875"/>
            <a:ext cx="101346" cy="979170"/>
            <a:chOff x="0" y="0"/>
            <a:chExt cx="135128" cy="1305560"/>
          </a:xfrm>
        </p:grpSpPr>
        <p:sp>
          <p:nvSpPr>
            <p:cNvPr name="Freeform 55" id="55"/>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9A6A0"/>
            </a:solidFill>
          </p:spPr>
        </p:sp>
      </p:grpSp>
      <p:grpSp>
        <p:nvGrpSpPr>
          <p:cNvPr name="Group 56" id="56"/>
          <p:cNvGrpSpPr/>
          <p:nvPr/>
        </p:nvGrpSpPr>
        <p:grpSpPr>
          <a:xfrm rot="0">
            <a:off x="9715119" y="5476875"/>
            <a:ext cx="101346" cy="979170"/>
            <a:chOff x="0" y="0"/>
            <a:chExt cx="135128" cy="1305560"/>
          </a:xfrm>
        </p:grpSpPr>
        <p:sp>
          <p:nvSpPr>
            <p:cNvPr name="Freeform 57" id="57"/>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008E86"/>
            </a:solidFill>
          </p:spPr>
        </p:sp>
      </p:grpSp>
      <p:grpSp>
        <p:nvGrpSpPr>
          <p:cNvPr name="Group 58" id="58"/>
          <p:cNvGrpSpPr/>
          <p:nvPr/>
        </p:nvGrpSpPr>
        <p:grpSpPr>
          <a:xfrm rot="0">
            <a:off x="1385316" y="5623560"/>
            <a:ext cx="6789420" cy="699516"/>
            <a:chOff x="0" y="0"/>
            <a:chExt cx="9052560" cy="932688"/>
          </a:xfrm>
        </p:grpSpPr>
        <p:sp>
          <p:nvSpPr>
            <p:cNvPr name="Freeform 59" id="59"/>
            <p:cNvSpPr/>
            <p:nvPr/>
          </p:nvSpPr>
          <p:spPr>
            <a:xfrm flipH="false" flipV="false" rot="0">
              <a:off x="0" y="0"/>
              <a:ext cx="9052560" cy="932688"/>
            </a:xfrm>
            <a:custGeom>
              <a:avLst/>
              <a:gdLst/>
              <a:ahLst/>
              <a:cxnLst/>
              <a:rect r="r" b="b" t="t" l="l"/>
              <a:pathLst>
                <a:path h="932688" w="9052560">
                  <a:moveTo>
                    <a:pt x="0" y="0"/>
                  </a:moveTo>
                  <a:lnTo>
                    <a:pt x="9052560" y="0"/>
                  </a:lnTo>
                  <a:lnTo>
                    <a:pt x="9052560" y="932688"/>
                  </a:lnTo>
                  <a:lnTo>
                    <a:pt x="0" y="932688"/>
                  </a:lnTo>
                  <a:close/>
                </a:path>
              </a:pathLst>
            </a:custGeom>
            <a:blipFill>
              <a:blip r:embed="rId3">
                <a:alphaModFix amt="0"/>
              </a:blip>
              <a:stretch>
                <a:fillRect l="0" t="-139119" r="0" b="-139119"/>
              </a:stretch>
            </a:blipFill>
          </p:spPr>
        </p:sp>
        <p:sp>
          <p:nvSpPr>
            <p:cNvPr name="TextBox 60" id="60"/>
            <p:cNvSpPr txBox="true"/>
            <p:nvPr/>
          </p:nvSpPr>
          <p:spPr>
            <a:xfrm>
              <a:off x="0" y="-9525"/>
              <a:ext cx="9052560"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Works out deductions in a spreadsheet</a:t>
              </a:r>
            </a:p>
          </p:txBody>
        </p:sp>
      </p:grpSp>
      <p:grpSp>
        <p:nvGrpSpPr>
          <p:cNvPr name="Group 61" id="61"/>
          <p:cNvGrpSpPr/>
          <p:nvPr/>
        </p:nvGrpSpPr>
        <p:grpSpPr>
          <a:xfrm rot="0">
            <a:off x="10094976" y="5623560"/>
            <a:ext cx="6775704" cy="699516"/>
            <a:chOff x="0" y="0"/>
            <a:chExt cx="9034272" cy="932688"/>
          </a:xfrm>
        </p:grpSpPr>
        <p:sp>
          <p:nvSpPr>
            <p:cNvPr name="Freeform 62" id="62"/>
            <p:cNvSpPr/>
            <p:nvPr/>
          </p:nvSpPr>
          <p:spPr>
            <a:xfrm flipH="false" flipV="false" rot="0">
              <a:off x="0" y="0"/>
              <a:ext cx="9034272" cy="932688"/>
            </a:xfrm>
            <a:custGeom>
              <a:avLst/>
              <a:gdLst/>
              <a:ahLst/>
              <a:cxnLst/>
              <a:rect r="r" b="b" t="t" l="l"/>
              <a:pathLst>
                <a:path h="932688" w="9034272">
                  <a:moveTo>
                    <a:pt x="0" y="0"/>
                  </a:moveTo>
                  <a:lnTo>
                    <a:pt x="9034272" y="0"/>
                  </a:lnTo>
                  <a:lnTo>
                    <a:pt x="9034272" y="932688"/>
                  </a:lnTo>
                  <a:lnTo>
                    <a:pt x="0" y="932688"/>
                  </a:lnTo>
                  <a:close/>
                </a:path>
              </a:pathLst>
            </a:custGeom>
            <a:blipFill>
              <a:blip r:embed="rId3">
                <a:alphaModFix amt="0"/>
              </a:blip>
              <a:stretch>
                <a:fillRect l="0" t="-138737" r="0" b="-138737"/>
              </a:stretch>
            </a:blipFill>
          </p:spPr>
        </p:sp>
        <p:sp>
          <p:nvSpPr>
            <p:cNvPr name="TextBox 63" id="63"/>
            <p:cNvSpPr txBox="true"/>
            <p:nvPr/>
          </p:nvSpPr>
          <p:spPr>
            <a:xfrm>
              <a:off x="0" y="-9525"/>
              <a:ext cx="9034272"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Executor tools compute an exact, itemised amount</a:t>
              </a:r>
            </a:p>
          </p:txBody>
        </p:sp>
      </p:grpSp>
      <p:sp>
        <p:nvSpPr>
          <p:cNvPr name="AutoShape 64" id="64"/>
          <p:cNvSpPr/>
          <p:nvPr/>
        </p:nvSpPr>
        <p:spPr>
          <a:xfrm>
            <a:off x="8869185" y="5966460"/>
            <a:ext cx="476488" cy="0"/>
          </a:xfrm>
          <a:prstGeom prst="line">
            <a:avLst/>
          </a:prstGeom>
          <a:ln cap="rnd" w="19050">
            <a:solidFill>
              <a:srgbClr val="425AEF"/>
            </a:solidFill>
            <a:prstDash val="solid"/>
            <a:headEnd type="none" len="sm" w="sm"/>
            <a:tailEnd type="triangle" len="med" w="lg"/>
          </a:ln>
        </p:spPr>
      </p:sp>
      <p:grpSp>
        <p:nvGrpSpPr>
          <p:cNvPr name="Group 65" id="65"/>
          <p:cNvGrpSpPr/>
          <p:nvPr/>
        </p:nvGrpSpPr>
        <p:grpSpPr>
          <a:xfrm rot="0">
            <a:off x="1020604" y="6644164"/>
            <a:ext cx="7601140" cy="976312"/>
            <a:chOff x="0" y="0"/>
            <a:chExt cx="10134854" cy="1301750"/>
          </a:xfrm>
        </p:grpSpPr>
        <p:sp>
          <p:nvSpPr>
            <p:cNvPr name="Freeform 66" id="66"/>
            <p:cNvSpPr/>
            <p:nvPr/>
          </p:nvSpPr>
          <p:spPr>
            <a:xfrm flipH="false" flipV="false" rot="0">
              <a:off x="0" y="0"/>
              <a:ext cx="10134854" cy="1301750"/>
            </a:xfrm>
            <a:custGeom>
              <a:avLst/>
              <a:gdLst/>
              <a:ahLst/>
              <a:cxnLst/>
              <a:rect r="r" b="b" t="t" l="l"/>
              <a:pathLst>
                <a:path h="1301750" w="10134854">
                  <a:moveTo>
                    <a:pt x="0" y="148717"/>
                  </a:moveTo>
                  <a:cubicBezTo>
                    <a:pt x="0" y="66548"/>
                    <a:pt x="66548" y="0"/>
                    <a:pt x="148717" y="0"/>
                  </a:cubicBezTo>
                  <a:lnTo>
                    <a:pt x="9986137" y="0"/>
                  </a:lnTo>
                  <a:cubicBezTo>
                    <a:pt x="10068306" y="0"/>
                    <a:pt x="10134854" y="66548"/>
                    <a:pt x="10134854" y="148717"/>
                  </a:cubicBezTo>
                  <a:lnTo>
                    <a:pt x="10134854" y="1153033"/>
                  </a:lnTo>
                  <a:cubicBezTo>
                    <a:pt x="10134854" y="1235202"/>
                    <a:pt x="10068306" y="1301750"/>
                    <a:pt x="9986137" y="1301750"/>
                  </a:cubicBezTo>
                  <a:lnTo>
                    <a:pt x="148717" y="1301750"/>
                  </a:lnTo>
                  <a:cubicBezTo>
                    <a:pt x="66548" y="1301750"/>
                    <a:pt x="0" y="1235202"/>
                    <a:pt x="0" y="1153033"/>
                  </a:cubicBezTo>
                  <a:close/>
                </a:path>
              </a:pathLst>
            </a:custGeom>
            <a:solidFill>
              <a:srgbClr val="FFFFFF"/>
            </a:solidFill>
            <a:ln w="16192" cap="sq">
              <a:solidFill>
                <a:srgbClr val="DCE3E6"/>
              </a:solidFill>
              <a:prstDash val="solid"/>
              <a:miter/>
            </a:ln>
          </p:spPr>
        </p:sp>
      </p:grpSp>
      <p:grpSp>
        <p:nvGrpSpPr>
          <p:cNvPr name="Group 67" id="67"/>
          <p:cNvGrpSpPr/>
          <p:nvPr/>
        </p:nvGrpSpPr>
        <p:grpSpPr>
          <a:xfrm rot="0">
            <a:off x="9716548" y="6644164"/>
            <a:ext cx="7546276" cy="976312"/>
            <a:chOff x="0" y="0"/>
            <a:chExt cx="10061702" cy="1301750"/>
          </a:xfrm>
        </p:grpSpPr>
        <p:sp>
          <p:nvSpPr>
            <p:cNvPr name="Freeform 68" id="68"/>
            <p:cNvSpPr/>
            <p:nvPr/>
          </p:nvSpPr>
          <p:spPr>
            <a:xfrm flipH="false" flipV="false" rot="0">
              <a:off x="0" y="0"/>
              <a:ext cx="10061702" cy="1301750"/>
            </a:xfrm>
            <a:custGeom>
              <a:avLst/>
              <a:gdLst/>
              <a:ahLst/>
              <a:cxnLst/>
              <a:rect r="r" b="b" t="t" l="l"/>
              <a:pathLst>
                <a:path h="1301750" w="10061702">
                  <a:moveTo>
                    <a:pt x="0" y="148717"/>
                  </a:moveTo>
                  <a:cubicBezTo>
                    <a:pt x="0" y="66548"/>
                    <a:pt x="66548" y="0"/>
                    <a:pt x="148717" y="0"/>
                  </a:cubicBezTo>
                  <a:lnTo>
                    <a:pt x="9912985" y="0"/>
                  </a:lnTo>
                  <a:cubicBezTo>
                    <a:pt x="9995153" y="0"/>
                    <a:pt x="10061702" y="66548"/>
                    <a:pt x="10061702" y="148717"/>
                  </a:cubicBezTo>
                  <a:lnTo>
                    <a:pt x="10061702" y="1153033"/>
                  </a:lnTo>
                  <a:cubicBezTo>
                    <a:pt x="10061702" y="1235202"/>
                    <a:pt x="9995153" y="1301750"/>
                    <a:pt x="9912985" y="1301750"/>
                  </a:cubicBezTo>
                  <a:lnTo>
                    <a:pt x="148717" y="1301750"/>
                  </a:lnTo>
                  <a:cubicBezTo>
                    <a:pt x="66548" y="1301750"/>
                    <a:pt x="0" y="1235202"/>
                    <a:pt x="0" y="1153033"/>
                  </a:cubicBezTo>
                  <a:close/>
                </a:path>
              </a:pathLst>
            </a:custGeom>
            <a:solidFill>
              <a:srgbClr val="FFFFFF"/>
            </a:solidFill>
            <a:ln w="16192" cap="sq">
              <a:solidFill>
                <a:srgbClr val="BCE1D6"/>
              </a:solidFill>
              <a:prstDash val="solid"/>
              <a:miter/>
            </a:ln>
          </p:spPr>
        </p:sp>
      </p:grpSp>
      <p:grpSp>
        <p:nvGrpSpPr>
          <p:cNvPr name="Group 69" id="69"/>
          <p:cNvGrpSpPr/>
          <p:nvPr/>
        </p:nvGrpSpPr>
        <p:grpSpPr>
          <a:xfrm rot="0">
            <a:off x="1019175" y="6642735"/>
            <a:ext cx="101346" cy="979170"/>
            <a:chOff x="0" y="0"/>
            <a:chExt cx="135128" cy="1305560"/>
          </a:xfrm>
        </p:grpSpPr>
        <p:sp>
          <p:nvSpPr>
            <p:cNvPr name="Freeform 70" id="70"/>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9A6A0"/>
            </a:solidFill>
          </p:spPr>
        </p:sp>
      </p:grpSp>
      <p:grpSp>
        <p:nvGrpSpPr>
          <p:cNvPr name="Group 71" id="71"/>
          <p:cNvGrpSpPr/>
          <p:nvPr/>
        </p:nvGrpSpPr>
        <p:grpSpPr>
          <a:xfrm rot="0">
            <a:off x="9715119" y="6642735"/>
            <a:ext cx="101346" cy="979170"/>
            <a:chOff x="0" y="0"/>
            <a:chExt cx="135128" cy="1305560"/>
          </a:xfrm>
        </p:grpSpPr>
        <p:sp>
          <p:nvSpPr>
            <p:cNvPr name="Freeform 72" id="72"/>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008E86"/>
            </a:solidFill>
          </p:spPr>
        </p:sp>
      </p:grpSp>
      <p:grpSp>
        <p:nvGrpSpPr>
          <p:cNvPr name="Group 73" id="73"/>
          <p:cNvGrpSpPr/>
          <p:nvPr/>
        </p:nvGrpSpPr>
        <p:grpSpPr>
          <a:xfrm rot="0">
            <a:off x="1385316" y="6789420"/>
            <a:ext cx="6789420" cy="699516"/>
            <a:chOff x="0" y="0"/>
            <a:chExt cx="9052560" cy="932688"/>
          </a:xfrm>
        </p:grpSpPr>
        <p:sp>
          <p:nvSpPr>
            <p:cNvPr name="Freeform 74" id="74"/>
            <p:cNvSpPr/>
            <p:nvPr/>
          </p:nvSpPr>
          <p:spPr>
            <a:xfrm flipH="false" flipV="false" rot="0">
              <a:off x="0" y="0"/>
              <a:ext cx="9052560" cy="932688"/>
            </a:xfrm>
            <a:custGeom>
              <a:avLst/>
              <a:gdLst/>
              <a:ahLst/>
              <a:cxnLst/>
              <a:rect r="r" b="b" t="t" l="l"/>
              <a:pathLst>
                <a:path h="932688" w="9052560">
                  <a:moveTo>
                    <a:pt x="0" y="0"/>
                  </a:moveTo>
                  <a:lnTo>
                    <a:pt x="9052560" y="0"/>
                  </a:lnTo>
                  <a:lnTo>
                    <a:pt x="9052560" y="932688"/>
                  </a:lnTo>
                  <a:lnTo>
                    <a:pt x="0" y="932688"/>
                  </a:lnTo>
                  <a:close/>
                </a:path>
              </a:pathLst>
            </a:custGeom>
            <a:blipFill>
              <a:blip r:embed="rId3">
                <a:alphaModFix amt="0"/>
              </a:blip>
              <a:stretch>
                <a:fillRect l="0" t="-139119" r="0" b="-139119"/>
              </a:stretch>
            </a:blipFill>
          </p:spPr>
        </p:sp>
        <p:sp>
          <p:nvSpPr>
            <p:cNvPr name="TextBox 75" id="75"/>
            <p:cNvSpPr txBox="true"/>
            <p:nvPr/>
          </p:nvSpPr>
          <p:spPr>
            <a:xfrm>
              <a:off x="0" y="-9525"/>
              <a:ext cx="9052560"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Errors and non-disclosure found only at audit</a:t>
              </a:r>
            </a:p>
          </p:txBody>
        </p:sp>
      </p:grpSp>
      <p:grpSp>
        <p:nvGrpSpPr>
          <p:cNvPr name="Group 76" id="76"/>
          <p:cNvGrpSpPr/>
          <p:nvPr/>
        </p:nvGrpSpPr>
        <p:grpSpPr>
          <a:xfrm rot="0">
            <a:off x="10094976" y="6789420"/>
            <a:ext cx="6775704" cy="699516"/>
            <a:chOff x="0" y="0"/>
            <a:chExt cx="9034272" cy="932688"/>
          </a:xfrm>
        </p:grpSpPr>
        <p:sp>
          <p:nvSpPr>
            <p:cNvPr name="Freeform 77" id="77"/>
            <p:cNvSpPr/>
            <p:nvPr/>
          </p:nvSpPr>
          <p:spPr>
            <a:xfrm flipH="false" flipV="false" rot="0">
              <a:off x="0" y="0"/>
              <a:ext cx="9034272" cy="932688"/>
            </a:xfrm>
            <a:custGeom>
              <a:avLst/>
              <a:gdLst/>
              <a:ahLst/>
              <a:cxnLst/>
              <a:rect r="r" b="b" t="t" l="l"/>
              <a:pathLst>
                <a:path h="932688" w="9034272">
                  <a:moveTo>
                    <a:pt x="0" y="0"/>
                  </a:moveTo>
                  <a:lnTo>
                    <a:pt x="9034272" y="0"/>
                  </a:lnTo>
                  <a:lnTo>
                    <a:pt x="9034272" y="932688"/>
                  </a:lnTo>
                  <a:lnTo>
                    <a:pt x="0" y="932688"/>
                  </a:lnTo>
                  <a:close/>
                </a:path>
              </a:pathLst>
            </a:custGeom>
            <a:blipFill>
              <a:blip r:embed="rId3">
                <a:alphaModFix amt="0"/>
              </a:blip>
              <a:stretch>
                <a:fillRect l="0" t="-138737" r="0" b="-138737"/>
              </a:stretch>
            </a:blipFill>
          </p:spPr>
        </p:sp>
        <p:sp>
          <p:nvSpPr>
            <p:cNvPr name="TextBox 78" id="78"/>
            <p:cNvSpPr txBox="true"/>
            <p:nvPr/>
          </p:nvSpPr>
          <p:spPr>
            <a:xfrm>
              <a:off x="0" y="-9525"/>
              <a:ext cx="9034272" cy="942213"/>
            </a:xfrm>
            <a:prstGeom prst="rect">
              <a:avLst/>
            </a:prstGeom>
          </p:spPr>
          <p:txBody>
            <a:bodyPr anchor="ctr" rtlCol="false" tIns="0" lIns="0" bIns="0" rIns="0"/>
            <a:lstStyle/>
            <a:p>
              <a:pPr algn="l">
                <a:lnSpc>
                  <a:spcPts val="2475"/>
                </a:lnSpc>
              </a:pPr>
              <a:r>
                <a:rPr lang="en-US" sz="2062" b="true">
                  <a:solidFill>
                    <a:srgbClr val="101E2B"/>
                  </a:solidFill>
                  <a:latin typeface="Inter Bold"/>
                  <a:ea typeface="Inter Bold"/>
                  <a:cs typeface="Inter Bold"/>
                  <a:sym typeface="Inter Bold"/>
                </a:rPr>
                <a:t>Critic re-checks every case; revises or escalates</a:t>
              </a:r>
            </a:p>
          </p:txBody>
        </p:sp>
      </p:grpSp>
      <p:sp>
        <p:nvSpPr>
          <p:cNvPr name="AutoShape 79" id="79"/>
          <p:cNvSpPr/>
          <p:nvPr/>
        </p:nvSpPr>
        <p:spPr>
          <a:xfrm>
            <a:off x="8869433" y="7121446"/>
            <a:ext cx="475992" cy="21748"/>
          </a:xfrm>
          <a:prstGeom prst="line">
            <a:avLst/>
          </a:prstGeom>
          <a:ln cap="rnd" w="19050">
            <a:solidFill>
              <a:srgbClr val="425AEF"/>
            </a:solidFill>
            <a:prstDash val="solid"/>
            <a:headEnd type="none" len="sm" w="sm"/>
            <a:tailEnd type="triangle" len="med" w="lg"/>
          </a:ln>
        </p:spPr>
      </p:sp>
      <p:grpSp>
        <p:nvGrpSpPr>
          <p:cNvPr name="Group 80" id="80"/>
          <p:cNvGrpSpPr/>
          <p:nvPr/>
        </p:nvGrpSpPr>
        <p:grpSpPr>
          <a:xfrm rot="0">
            <a:off x="1020604" y="7810024"/>
            <a:ext cx="7601140" cy="976312"/>
            <a:chOff x="0" y="0"/>
            <a:chExt cx="10134854" cy="1301750"/>
          </a:xfrm>
        </p:grpSpPr>
        <p:sp>
          <p:nvSpPr>
            <p:cNvPr name="Freeform 81" id="81"/>
            <p:cNvSpPr/>
            <p:nvPr/>
          </p:nvSpPr>
          <p:spPr>
            <a:xfrm flipH="false" flipV="false" rot="0">
              <a:off x="0" y="0"/>
              <a:ext cx="10134854" cy="1301750"/>
            </a:xfrm>
            <a:custGeom>
              <a:avLst/>
              <a:gdLst/>
              <a:ahLst/>
              <a:cxnLst/>
              <a:rect r="r" b="b" t="t" l="l"/>
              <a:pathLst>
                <a:path h="1301750" w="10134854">
                  <a:moveTo>
                    <a:pt x="0" y="148717"/>
                  </a:moveTo>
                  <a:cubicBezTo>
                    <a:pt x="0" y="66548"/>
                    <a:pt x="66548" y="0"/>
                    <a:pt x="148717" y="0"/>
                  </a:cubicBezTo>
                  <a:lnTo>
                    <a:pt x="9986137" y="0"/>
                  </a:lnTo>
                  <a:cubicBezTo>
                    <a:pt x="10068306" y="0"/>
                    <a:pt x="10134854" y="66548"/>
                    <a:pt x="10134854" y="148717"/>
                  </a:cubicBezTo>
                  <a:lnTo>
                    <a:pt x="10134854" y="1153033"/>
                  </a:lnTo>
                  <a:cubicBezTo>
                    <a:pt x="10134854" y="1235202"/>
                    <a:pt x="10068306" y="1301750"/>
                    <a:pt x="9986137" y="1301750"/>
                  </a:cubicBezTo>
                  <a:lnTo>
                    <a:pt x="148717" y="1301750"/>
                  </a:lnTo>
                  <a:cubicBezTo>
                    <a:pt x="66548" y="1301750"/>
                    <a:pt x="0" y="1235202"/>
                    <a:pt x="0" y="1153033"/>
                  </a:cubicBezTo>
                  <a:close/>
                </a:path>
              </a:pathLst>
            </a:custGeom>
            <a:solidFill>
              <a:srgbClr val="FFFFFF"/>
            </a:solidFill>
            <a:ln w="16192" cap="sq">
              <a:solidFill>
                <a:srgbClr val="DCE3E6"/>
              </a:solidFill>
              <a:prstDash val="solid"/>
              <a:miter/>
            </a:ln>
          </p:spPr>
        </p:sp>
      </p:grpSp>
      <p:grpSp>
        <p:nvGrpSpPr>
          <p:cNvPr name="Group 82" id="82"/>
          <p:cNvGrpSpPr/>
          <p:nvPr/>
        </p:nvGrpSpPr>
        <p:grpSpPr>
          <a:xfrm rot="0">
            <a:off x="9716548" y="7810024"/>
            <a:ext cx="7546276" cy="976312"/>
            <a:chOff x="0" y="0"/>
            <a:chExt cx="10061702" cy="1301750"/>
          </a:xfrm>
        </p:grpSpPr>
        <p:sp>
          <p:nvSpPr>
            <p:cNvPr name="Freeform 83" id="83"/>
            <p:cNvSpPr/>
            <p:nvPr/>
          </p:nvSpPr>
          <p:spPr>
            <a:xfrm flipH="false" flipV="false" rot="0">
              <a:off x="0" y="0"/>
              <a:ext cx="10061702" cy="1301750"/>
            </a:xfrm>
            <a:custGeom>
              <a:avLst/>
              <a:gdLst/>
              <a:ahLst/>
              <a:cxnLst/>
              <a:rect r="r" b="b" t="t" l="l"/>
              <a:pathLst>
                <a:path h="1301750" w="10061702">
                  <a:moveTo>
                    <a:pt x="0" y="148717"/>
                  </a:moveTo>
                  <a:cubicBezTo>
                    <a:pt x="0" y="66548"/>
                    <a:pt x="66548" y="0"/>
                    <a:pt x="148717" y="0"/>
                  </a:cubicBezTo>
                  <a:lnTo>
                    <a:pt x="9912985" y="0"/>
                  </a:lnTo>
                  <a:cubicBezTo>
                    <a:pt x="9995153" y="0"/>
                    <a:pt x="10061702" y="66548"/>
                    <a:pt x="10061702" y="148717"/>
                  </a:cubicBezTo>
                  <a:lnTo>
                    <a:pt x="10061702" y="1153033"/>
                  </a:lnTo>
                  <a:cubicBezTo>
                    <a:pt x="10061702" y="1235202"/>
                    <a:pt x="9995153" y="1301750"/>
                    <a:pt x="9912985" y="1301750"/>
                  </a:cubicBezTo>
                  <a:lnTo>
                    <a:pt x="148717" y="1301750"/>
                  </a:lnTo>
                  <a:cubicBezTo>
                    <a:pt x="66548" y="1301750"/>
                    <a:pt x="0" y="1235202"/>
                    <a:pt x="0" y="1153033"/>
                  </a:cubicBezTo>
                  <a:close/>
                </a:path>
              </a:pathLst>
            </a:custGeom>
            <a:solidFill>
              <a:srgbClr val="FFFFFF"/>
            </a:solidFill>
            <a:ln w="16192" cap="sq">
              <a:solidFill>
                <a:srgbClr val="BCE1D6"/>
              </a:solidFill>
              <a:prstDash val="solid"/>
              <a:miter/>
            </a:ln>
          </p:spPr>
        </p:sp>
      </p:grpSp>
      <p:grpSp>
        <p:nvGrpSpPr>
          <p:cNvPr name="Group 84" id="84"/>
          <p:cNvGrpSpPr/>
          <p:nvPr/>
        </p:nvGrpSpPr>
        <p:grpSpPr>
          <a:xfrm rot="0">
            <a:off x="1019175" y="7808595"/>
            <a:ext cx="101346" cy="979170"/>
            <a:chOff x="0" y="0"/>
            <a:chExt cx="135128" cy="1305560"/>
          </a:xfrm>
        </p:grpSpPr>
        <p:sp>
          <p:nvSpPr>
            <p:cNvPr name="Freeform 85" id="85"/>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D9A6A0"/>
            </a:solidFill>
          </p:spPr>
        </p:sp>
      </p:grpSp>
      <p:grpSp>
        <p:nvGrpSpPr>
          <p:cNvPr name="Group 86" id="86"/>
          <p:cNvGrpSpPr/>
          <p:nvPr/>
        </p:nvGrpSpPr>
        <p:grpSpPr>
          <a:xfrm rot="0">
            <a:off x="9715119" y="7808595"/>
            <a:ext cx="101346" cy="979170"/>
            <a:chOff x="0" y="0"/>
            <a:chExt cx="135128" cy="1305560"/>
          </a:xfrm>
        </p:grpSpPr>
        <p:sp>
          <p:nvSpPr>
            <p:cNvPr name="Freeform 87" id="87"/>
            <p:cNvSpPr/>
            <p:nvPr/>
          </p:nvSpPr>
          <p:spPr>
            <a:xfrm flipH="false" flipV="false" rot="0">
              <a:off x="0" y="0"/>
              <a:ext cx="135128" cy="1305560"/>
            </a:xfrm>
            <a:custGeom>
              <a:avLst/>
              <a:gdLst/>
              <a:ahLst/>
              <a:cxnLst/>
              <a:rect r="r" b="b" t="t" l="l"/>
              <a:pathLst>
                <a:path h="1305560" w="135128">
                  <a:moveTo>
                    <a:pt x="0" y="0"/>
                  </a:moveTo>
                  <a:lnTo>
                    <a:pt x="135128" y="0"/>
                  </a:lnTo>
                  <a:lnTo>
                    <a:pt x="135128" y="1305560"/>
                  </a:lnTo>
                  <a:lnTo>
                    <a:pt x="0" y="1305560"/>
                  </a:lnTo>
                  <a:close/>
                </a:path>
              </a:pathLst>
            </a:custGeom>
            <a:solidFill>
              <a:srgbClr val="008E86"/>
            </a:solidFill>
          </p:spPr>
        </p:sp>
      </p:grpSp>
      <p:grpSp>
        <p:nvGrpSpPr>
          <p:cNvPr name="Group 88" id="88"/>
          <p:cNvGrpSpPr/>
          <p:nvPr/>
        </p:nvGrpSpPr>
        <p:grpSpPr>
          <a:xfrm rot="0">
            <a:off x="1385316" y="7955280"/>
            <a:ext cx="6789420" cy="699516"/>
            <a:chOff x="0" y="0"/>
            <a:chExt cx="9052560" cy="932688"/>
          </a:xfrm>
        </p:grpSpPr>
        <p:sp>
          <p:nvSpPr>
            <p:cNvPr name="Freeform 89" id="89"/>
            <p:cNvSpPr/>
            <p:nvPr/>
          </p:nvSpPr>
          <p:spPr>
            <a:xfrm flipH="false" flipV="false" rot="0">
              <a:off x="0" y="0"/>
              <a:ext cx="9052560" cy="932688"/>
            </a:xfrm>
            <a:custGeom>
              <a:avLst/>
              <a:gdLst/>
              <a:ahLst/>
              <a:cxnLst/>
              <a:rect r="r" b="b" t="t" l="l"/>
              <a:pathLst>
                <a:path h="932688" w="9052560">
                  <a:moveTo>
                    <a:pt x="0" y="0"/>
                  </a:moveTo>
                  <a:lnTo>
                    <a:pt x="9052560" y="0"/>
                  </a:lnTo>
                  <a:lnTo>
                    <a:pt x="9052560" y="932688"/>
                  </a:lnTo>
                  <a:lnTo>
                    <a:pt x="0" y="932688"/>
                  </a:lnTo>
                  <a:close/>
                </a:path>
              </a:pathLst>
            </a:custGeom>
            <a:blipFill>
              <a:blip r:embed="rId3">
                <a:alphaModFix amt="0"/>
              </a:blip>
              <a:stretch>
                <a:fillRect l="0" t="-139119" r="0" b="-139119"/>
              </a:stretch>
            </a:blipFill>
          </p:spPr>
        </p:sp>
        <p:sp>
          <p:nvSpPr>
            <p:cNvPr name="TextBox 90" id="90"/>
            <p:cNvSpPr txBox="true"/>
            <p:nvPr/>
          </p:nvSpPr>
          <p:spPr>
            <a:xfrm>
              <a:off x="0" y="-9525"/>
              <a:ext cx="9052560" cy="942213"/>
            </a:xfrm>
            <a:prstGeom prst="rect">
              <a:avLst/>
            </a:prstGeom>
          </p:spPr>
          <p:txBody>
            <a:bodyPr anchor="ctr" rtlCol="false" tIns="0" lIns="0" bIns="0" rIns="0"/>
            <a:lstStyle/>
            <a:p>
              <a:pPr algn="l">
                <a:lnSpc>
                  <a:spcPts val="2475"/>
                </a:lnSpc>
              </a:pPr>
              <a:r>
                <a:rPr lang="en-US" sz="2062">
                  <a:solidFill>
                    <a:srgbClr val="101E2B"/>
                  </a:solidFill>
                  <a:latin typeface="Inter"/>
                  <a:ea typeface="Inter"/>
                  <a:cs typeface="Inter"/>
                  <a:sym typeface="Inter"/>
                </a:rPr>
                <a:t>Types letter; queries go back and forth</a:t>
              </a:r>
            </a:p>
          </p:txBody>
        </p:sp>
      </p:grpSp>
      <p:grpSp>
        <p:nvGrpSpPr>
          <p:cNvPr name="Group 91" id="91"/>
          <p:cNvGrpSpPr/>
          <p:nvPr/>
        </p:nvGrpSpPr>
        <p:grpSpPr>
          <a:xfrm rot="0">
            <a:off x="10094976" y="7955280"/>
            <a:ext cx="6775704" cy="699516"/>
            <a:chOff x="0" y="0"/>
            <a:chExt cx="9034272" cy="932688"/>
          </a:xfrm>
        </p:grpSpPr>
        <p:sp>
          <p:nvSpPr>
            <p:cNvPr name="Freeform 92" id="92"/>
            <p:cNvSpPr/>
            <p:nvPr/>
          </p:nvSpPr>
          <p:spPr>
            <a:xfrm flipH="false" flipV="false" rot="0">
              <a:off x="0" y="0"/>
              <a:ext cx="9034272" cy="932688"/>
            </a:xfrm>
            <a:custGeom>
              <a:avLst/>
              <a:gdLst/>
              <a:ahLst/>
              <a:cxnLst/>
              <a:rect r="r" b="b" t="t" l="l"/>
              <a:pathLst>
                <a:path h="932688" w="9034272">
                  <a:moveTo>
                    <a:pt x="0" y="0"/>
                  </a:moveTo>
                  <a:lnTo>
                    <a:pt x="9034272" y="0"/>
                  </a:lnTo>
                  <a:lnTo>
                    <a:pt x="9034272" y="932688"/>
                  </a:lnTo>
                  <a:lnTo>
                    <a:pt x="0" y="932688"/>
                  </a:lnTo>
                  <a:close/>
                </a:path>
              </a:pathLst>
            </a:custGeom>
            <a:blipFill>
              <a:blip r:embed="rId3">
                <a:alphaModFix amt="0"/>
              </a:blip>
              <a:stretch>
                <a:fillRect l="0" t="-138737" r="0" b="-138737"/>
              </a:stretch>
            </a:blipFill>
          </p:spPr>
        </p:sp>
        <p:sp>
          <p:nvSpPr>
            <p:cNvPr name="TextBox 93" id="93"/>
            <p:cNvSpPr txBox="true"/>
            <p:nvPr/>
          </p:nvSpPr>
          <p:spPr>
            <a:xfrm>
              <a:off x="0" y="-9525"/>
              <a:ext cx="9034272" cy="942213"/>
            </a:xfrm>
            <a:prstGeom prst="rect">
              <a:avLst/>
            </a:prstGeom>
          </p:spPr>
          <p:txBody>
            <a:bodyPr anchor="ctr" rtlCol="false" tIns="0" lIns="0" bIns="0" rIns="0"/>
            <a:lstStyle/>
            <a:p>
              <a:pPr algn="l">
                <a:lnSpc>
                  <a:spcPts val="2475"/>
                </a:lnSpc>
              </a:pPr>
              <a:r>
                <a:rPr lang="en-US" sz="2062" b="true">
                  <a:solidFill>
                    <a:srgbClr val="101E2B"/>
                  </a:solidFill>
                  <a:latin typeface="Inter Bold"/>
                  <a:ea typeface="Inter Bold"/>
                  <a:cs typeface="Inter Bold"/>
                  <a:sym typeface="Inter Bold"/>
                </a:rPr>
                <a:t>Letter drafted with reasons and clause numbers</a:t>
              </a:r>
            </a:p>
          </p:txBody>
        </p:sp>
      </p:grpSp>
      <p:sp>
        <p:nvSpPr>
          <p:cNvPr name="AutoShape 94" id="94"/>
          <p:cNvSpPr/>
          <p:nvPr/>
        </p:nvSpPr>
        <p:spPr>
          <a:xfrm>
            <a:off x="8869185" y="8298180"/>
            <a:ext cx="476488" cy="0"/>
          </a:xfrm>
          <a:prstGeom prst="line">
            <a:avLst/>
          </a:prstGeom>
          <a:ln cap="rnd" w="19050">
            <a:solidFill>
              <a:srgbClr val="425AEF"/>
            </a:solidFill>
            <a:prstDash val="solid"/>
            <a:headEnd type="none" len="sm" w="sm"/>
            <a:tailEnd type="triangle" len="med" w="lg"/>
          </a:ln>
        </p:spPr>
      </p:sp>
      <p:grpSp>
        <p:nvGrpSpPr>
          <p:cNvPr name="Group 95" id="95"/>
          <p:cNvGrpSpPr/>
          <p:nvPr/>
        </p:nvGrpSpPr>
        <p:grpSpPr>
          <a:xfrm rot="0">
            <a:off x="946404" y="9758934"/>
            <a:ext cx="9601200" cy="260604"/>
            <a:chOff x="0" y="0"/>
            <a:chExt cx="12801600" cy="347472"/>
          </a:xfrm>
        </p:grpSpPr>
        <p:sp>
          <p:nvSpPr>
            <p:cNvPr name="Freeform 96" id="96"/>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97" id="97"/>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98" id="98"/>
          <p:cNvGrpSpPr/>
          <p:nvPr/>
        </p:nvGrpSpPr>
        <p:grpSpPr>
          <a:xfrm rot="0">
            <a:off x="16733520" y="9745218"/>
            <a:ext cx="548640" cy="301752"/>
            <a:chOff x="0" y="0"/>
            <a:chExt cx="731520" cy="402336"/>
          </a:xfrm>
        </p:grpSpPr>
        <p:sp>
          <p:nvSpPr>
            <p:cNvPr name="Freeform 99" id="99"/>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100" id="100"/>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3</a:t>
              </a:r>
            </a:p>
          </p:txBody>
        </p:sp>
      </p:grpSp>
      <p:sp>
        <p:nvSpPr>
          <p:cNvPr name="Freeform 101" id="101"/>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5220"/>
                </a:lnSpc>
              </a:pPr>
              <a:r>
                <a:rPr lang="en-US" sz="4350" b="true">
                  <a:solidFill>
                    <a:srgbClr val="101E2B"/>
                  </a:solidFill>
                  <a:latin typeface="Inter Bold"/>
                  <a:ea typeface="Inter Bold"/>
                  <a:cs typeface="Inter Bold"/>
                  <a:sym typeface="Inter Bold"/>
                </a:rPr>
                <a:t>Six agents, each with one job</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979456" y="2117884"/>
            <a:ext cx="5255704" cy="3294316"/>
            <a:chOff x="0" y="0"/>
            <a:chExt cx="7007606" cy="4392422"/>
          </a:xfrm>
        </p:grpSpPr>
        <p:sp>
          <p:nvSpPr>
            <p:cNvPr name="Freeform 7" id="7"/>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8" id="8"/>
          <p:cNvGrpSpPr/>
          <p:nvPr/>
        </p:nvGrpSpPr>
        <p:grpSpPr>
          <a:xfrm rot="0">
            <a:off x="978027" y="2116455"/>
            <a:ext cx="5258562" cy="108204"/>
            <a:chOff x="0" y="0"/>
            <a:chExt cx="7011416" cy="144272"/>
          </a:xfrm>
        </p:grpSpPr>
        <p:sp>
          <p:nvSpPr>
            <p:cNvPr name="Freeform 9" id="9"/>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425AEF"/>
            </a:solidFill>
          </p:spPr>
        </p:sp>
      </p:grpSp>
      <p:grpSp>
        <p:nvGrpSpPr>
          <p:cNvPr name="Group 10" id="10"/>
          <p:cNvGrpSpPr/>
          <p:nvPr/>
        </p:nvGrpSpPr>
        <p:grpSpPr>
          <a:xfrm rot="0">
            <a:off x="1316736" y="2441448"/>
            <a:ext cx="4622292" cy="822960"/>
            <a:chOff x="0" y="0"/>
            <a:chExt cx="6163056" cy="1097280"/>
          </a:xfrm>
        </p:grpSpPr>
        <p:sp>
          <p:nvSpPr>
            <p:cNvPr name="Freeform 11" id="11"/>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12" id="12"/>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1  Planner</a:t>
              </a:r>
            </a:p>
          </p:txBody>
        </p:sp>
      </p:grpSp>
      <p:sp>
        <p:nvSpPr>
          <p:cNvPr name="AutoShape 13" id="13"/>
          <p:cNvSpPr/>
          <p:nvPr/>
        </p:nvSpPr>
        <p:spPr>
          <a:xfrm rot="14160">
            <a:off x="1293476" y="3424238"/>
            <a:ext cx="4627664" cy="0"/>
          </a:xfrm>
          <a:prstGeom prst="line">
            <a:avLst/>
          </a:prstGeom>
          <a:ln cap="rnd" w="9525">
            <a:solidFill>
              <a:srgbClr val="DCE3E6"/>
            </a:solidFill>
            <a:prstDash val="solid"/>
            <a:headEnd type="none" len="sm" w="sm"/>
            <a:tailEnd type="none" len="sm" w="sm"/>
          </a:ln>
        </p:spPr>
      </p:sp>
      <p:sp>
        <p:nvSpPr>
          <p:cNvPr name="TextBox 14" id="14"/>
          <p:cNvSpPr txBox="true"/>
          <p:nvPr/>
        </p:nvSpPr>
        <p:spPr>
          <a:xfrm rot="0">
            <a:off x="1303020" y="3666363"/>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Profiles the request, sets priority and required documents, builds the task plan</a:t>
            </a:r>
          </a:p>
        </p:txBody>
      </p:sp>
      <p:grpSp>
        <p:nvGrpSpPr>
          <p:cNvPr name="Group 15" id="15"/>
          <p:cNvGrpSpPr/>
          <p:nvPr/>
        </p:nvGrpSpPr>
        <p:grpSpPr>
          <a:xfrm rot="0">
            <a:off x="1303020" y="4896612"/>
            <a:ext cx="4594860" cy="329184"/>
            <a:chOff x="0" y="0"/>
            <a:chExt cx="6126480" cy="438912"/>
          </a:xfrm>
        </p:grpSpPr>
        <p:sp>
          <p:nvSpPr>
            <p:cNvPr name="Freeform 16" id="16"/>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17" id="17"/>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425AEF"/>
                  </a:solidFill>
                  <a:latin typeface="Inter Bold"/>
                  <a:ea typeface="Inter Bold"/>
                  <a:cs typeface="Inter Bold"/>
                  <a:sym typeface="Inter Bold"/>
                </a:rPr>
                <a:t>claim profiler</a:t>
              </a:r>
            </a:p>
          </p:txBody>
        </p:sp>
      </p:grpSp>
      <p:grpSp>
        <p:nvGrpSpPr>
          <p:cNvPr name="Group 18" id="18"/>
          <p:cNvGrpSpPr/>
          <p:nvPr/>
        </p:nvGrpSpPr>
        <p:grpSpPr>
          <a:xfrm rot="0">
            <a:off x="6507004" y="2117884"/>
            <a:ext cx="5255704" cy="3294316"/>
            <a:chOff x="0" y="0"/>
            <a:chExt cx="7007606" cy="4392422"/>
          </a:xfrm>
        </p:grpSpPr>
        <p:sp>
          <p:nvSpPr>
            <p:cNvPr name="Freeform 19" id="19"/>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20" id="20"/>
          <p:cNvGrpSpPr/>
          <p:nvPr/>
        </p:nvGrpSpPr>
        <p:grpSpPr>
          <a:xfrm rot="0">
            <a:off x="6505575" y="2116455"/>
            <a:ext cx="5258562" cy="108204"/>
            <a:chOff x="0" y="0"/>
            <a:chExt cx="7011416" cy="144272"/>
          </a:xfrm>
        </p:grpSpPr>
        <p:sp>
          <p:nvSpPr>
            <p:cNvPr name="Freeform 21" id="21"/>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425AEF"/>
            </a:solidFill>
          </p:spPr>
        </p:sp>
      </p:grpSp>
      <p:grpSp>
        <p:nvGrpSpPr>
          <p:cNvPr name="Group 22" id="22"/>
          <p:cNvGrpSpPr/>
          <p:nvPr/>
        </p:nvGrpSpPr>
        <p:grpSpPr>
          <a:xfrm rot="0">
            <a:off x="6844284" y="2441448"/>
            <a:ext cx="4622292" cy="822960"/>
            <a:chOff x="0" y="0"/>
            <a:chExt cx="6163056" cy="1097280"/>
          </a:xfrm>
        </p:grpSpPr>
        <p:sp>
          <p:nvSpPr>
            <p:cNvPr name="Freeform 23" id="23"/>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24" id="24"/>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2  Document Intake</a:t>
              </a:r>
            </a:p>
          </p:txBody>
        </p:sp>
      </p:grpSp>
      <p:sp>
        <p:nvSpPr>
          <p:cNvPr name="AutoShape 25" id="25"/>
          <p:cNvSpPr/>
          <p:nvPr/>
        </p:nvSpPr>
        <p:spPr>
          <a:xfrm rot="14160">
            <a:off x="6821024" y="3424238"/>
            <a:ext cx="4627664" cy="0"/>
          </a:xfrm>
          <a:prstGeom prst="line">
            <a:avLst/>
          </a:prstGeom>
          <a:ln cap="rnd" w="9525">
            <a:solidFill>
              <a:srgbClr val="DCE3E6"/>
            </a:solidFill>
            <a:prstDash val="solid"/>
            <a:headEnd type="none" len="sm" w="sm"/>
            <a:tailEnd type="none" len="sm" w="sm"/>
          </a:ln>
        </p:spPr>
      </p:sp>
      <p:sp>
        <p:nvSpPr>
          <p:cNvPr name="TextBox 26" id="26"/>
          <p:cNvSpPr txBox="true"/>
          <p:nvPr/>
        </p:nvSpPr>
        <p:spPr>
          <a:xfrm rot="0">
            <a:off x="6830568" y="3666363"/>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Checks documents; extracts procedure, chronic conditions and cosmetic/accident flags from notes</a:t>
            </a:r>
          </a:p>
        </p:txBody>
      </p:sp>
      <p:grpSp>
        <p:nvGrpSpPr>
          <p:cNvPr name="Group 27" id="27"/>
          <p:cNvGrpSpPr/>
          <p:nvPr/>
        </p:nvGrpSpPr>
        <p:grpSpPr>
          <a:xfrm rot="0">
            <a:off x="6830568" y="4896612"/>
            <a:ext cx="4594860" cy="329184"/>
            <a:chOff x="0" y="0"/>
            <a:chExt cx="6126480" cy="438912"/>
          </a:xfrm>
        </p:grpSpPr>
        <p:sp>
          <p:nvSpPr>
            <p:cNvPr name="Freeform 28" id="28"/>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29" id="29"/>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425AEF"/>
                  </a:solidFill>
                  <a:latin typeface="Inter Bold"/>
                  <a:ea typeface="Inter Bold"/>
                  <a:cs typeface="Inter Bold"/>
                  <a:sym typeface="Inter Bold"/>
                </a:rPr>
                <a:t>LLM or negation-aware rules</a:t>
              </a:r>
            </a:p>
          </p:txBody>
        </p:sp>
      </p:grpSp>
      <p:grpSp>
        <p:nvGrpSpPr>
          <p:cNvPr name="Group 30" id="30"/>
          <p:cNvGrpSpPr/>
          <p:nvPr/>
        </p:nvGrpSpPr>
        <p:grpSpPr>
          <a:xfrm rot="0">
            <a:off x="12034552" y="2117884"/>
            <a:ext cx="5255704" cy="3294316"/>
            <a:chOff x="0" y="0"/>
            <a:chExt cx="7007606" cy="4392422"/>
          </a:xfrm>
        </p:grpSpPr>
        <p:sp>
          <p:nvSpPr>
            <p:cNvPr name="Freeform 31" id="31"/>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32" id="32"/>
          <p:cNvGrpSpPr/>
          <p:nvPr/>
        </p:nvGrpSpPr>
        <p:grpSpPr>
          <a:xfrm rot="0">
            <a:off x="12033123" y="2116455"/>
            <a:ext cx="5258562" cy="108204"/>
            <a:chOff x="0" y="0"/>
            <a:chExt cx="7011416" cy="144272"/>
          </a:xfrm>
        </p:grpSpPr>
        <p:sp>
          <p:nvSpPr>
            <p:cNvPr name="Freeform 33" id="33"/>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425AEF"/>
            </a:solidFill>
          </p:spPr>
        </p:sp>
      </p:grpSp>
      <p:grpSp>
        <p:nvGrpSpPr>
          <p:cNvPr name="Group 34" id="34"/>
          <p:cNvGrpSpPr/>
          <p:nvPr/>
        </p:nvGrpSpPr>
        <p:grpSpPr>
          <a:xfrm rot="0">
            <a:off x="12371832" y="2441448"/>
            <a:ext cx="4622292" cy="822960"/>
            <a:chOff x="0" y="0"/>
            <a:chExt cx="6163056" cy="1097280"/>
          </a:xfrm>
        </p:grpSpPr>
        <p:sp>
          <p:nvSpPr>
            <p:cNvPr name="Freeform 35" id="35"/>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36" id="36"/>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3  Policy Research</a:t>
              </a:r>
            </a:p>
          </p:txBody>
        </p:sp>
      </p:grpSp>
      <p:sp>
        <p:nvSpPr>
          <p:cNvPr name="AutoShape 37" id="37"/>
          <p:cNvSpPr/>
          <p:nvPr/>
        </p:nvSpPr>
        <p:spPr>
          <a:xfrm rot="14160">
            <a:off x="12348572" y="3424238"/>
            <a:ext cx="4627664" cy="0"/>
          </a:xfrm>
          <a:prstGeom prst="line">
            <a:avLst/>
          </a:prstGeom>
          <a:ln cap="rnd" w="9525">
            <a:solidFill>
              <a:srgbClr val="DCE3E6"/>
            </a:solidFill>
            <a:prstDash val="solid"/>
            <a:headEnd type="none" len="sm" w="sm"/>
            <a:tailEnd type="none" len="sm" w="sm"/>
          </a:ln>
        </p:spPr>
      </p:sp>
      <p:sp>
        <p:nvSpPr>
          <p:cNvPr name="TextBox 38" id="38"/>
          <p:cNvSpPr txBox="true"/>
          <p:nvPr/>
        </p:nvSpPr>
        <p:spPr>
          <a:xfrm rot="0">
            <a:off x="12358116" y="3666363"/>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Fetches the policy schedule, retrieves relevant clauses, looks up the tariff benchmark</a:t>
            </a:r>
          </a:p>
        </p:txBody>
      </p:sp>
      <p:grpSp>
        <p:nvGrpSpPr>
          <p:cNvPr name="Group 39" id="39"/>
          <p:cNvGrpSpPr/>
          <p:nvPr/>
        </p:nvGrpSpPr>
        <p:grpSpPr>
          <a:xfrm rot="0">
            <a:off x="12358116" y="4896612"/>
            <a:ext cx="4594860" cy="329184"/>
            <a:chOff x="0" y="0"/>
            <a:chExt cx="6126480" cy="438912"/>
          </a:xfrm>
        </p:grpSpPr>
        <p:sp>
          <p:nvSpPr>
            <p:cNvPr name="Freeform 40" id="40"/>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41" id="41"/>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425AEF"/>
                  </a:solidFill>
                  <a:latin typeface="Inter Bold"/>
                  <a:ea typeface="Inter Bold"/>
                  <a:cs typeface="Inter Bold"/>
                  <a:sym typeface="Inter Bold"/>
                </a:rPr>
                <a:t>policy_lookup · clause_search · tariff_lookup</a:t>
              </a:r>
            </a:p>
          </p:txBody>
        </p:sp>
      </p:grpSp>
      <p:grpSp>
        <p:nvGrpSpPr>
          <p:cNvPr name="Group 42" id="42"/>
          <p:cNvGrpSpPr/>
          <p:nvPr/>
        </p:nvGrpSpPr>
        <p:grpSpPr>
          <a:xfrm rot="0">
            <a:off x="979456" y="5725192"/>
            <a:ext cx="5255704" cy="3294316"/>
            <a:chOff x="0" y="0"/>
            <a:chExt cx="7007606" cy="4392422"/>
          </a:xfrm>
        </p:grpSpPr>
        <p:sp>
          <p:nvSpPr>
            <p:cNvPr name="Freeform 43" id="43"/>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44" id="44"/>
          <p:cNvGrpSpPr/>
          <p:nvPr/>
        </p:nvGrpSpPr>
        <p:grpSpPr>
          <a:xfrm rot="0">
            <a:off x="978027" y="5723763"/>
            <a:ext cx="5258562" cy="108204"/>
            <a:chOff x="0" y="0"/>
            <a:chExt cx="7011416" cy="144272"/>
          </a:xfrm>
        </p:grpSpPr>
        <p:sp>
          <p:nvSpPr>
            <p:cNvPr name="Freeform 45" id="45"/>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008E86"/>
            </a:solidFill>
          </p:spPr>
        </p:sp>
      </p:grpSp>
      <p:grpSp>
        <p:nvGrpSpPr>
          <p:cNvPr name="Group 46" id="46"/>
          <p:cNvGrpSpPr/>
          <p:nvPr/>
        </p:nvGrpSpPr>
        <p:grpSpPr>
          <a:xfrm rot="0">
            <a:off x="1316736" y="6048756"/>
            <a:ext cx="4622292" cy="822960"/>
            <a:chOff x="0" y="0"/>
            <a:chExt cx="6163056" cy="1097280"/>
          </a:xfrm>
        </p:grpSpPr>
        <p:sp>
          <p:nvSpPr>
            <p:cNvPr name="Freeform 47" id="47"/>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48" id="48"/>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4  Coverage Executor</a:t>
              </a:r>
            </a:p>
          </p:txBody>
        </p:sp>
      </p:grpSp>
      <p:sp>
        <p:nvSpPr>
          <p:cNvPr name="AutoShape 49" id="49"/>
          <p:cNvSpPr/>
          <p:nvPr/>
        </p:nvSpPr>
        <p:spPr>
          <a:xfrm rot="14160">
            <a:off x="1293476" y="7031546"/>
            <a:ext cx="4627664" cy="0"/>
          </a:xfrm>
          <a:prstGeom prst="line">
            <a:avLst/>
          </a:prstGeom>
          <a:ln cap="rnd" w="9525">
            <a:solidFill>
              <a:srgbClr val="DCE3E6"/>
            </a:solidFill>
            <a:prstDash val="solid"/>
            <a:headEnd type="none" len="sm" w="sm"/>
            <a:tailEnd type="none" len="sm" w="sm"/>
          </a:ln>
        </p:spPr>
      </p:sp>
      <p:sp>
        <p:nvSpPr>
          <p:cNvPr name="TextBox 50" id="50"/>
          <p:cNvSpPr txBox="true"/>
          <p:nvPr/>
        </p:nvSpPr>
        <p:spPr>
          <a:xfrm rot="0">
            <a:off x="1303020" y="7273671"/>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Runs eligibility checks, then computes the payable amount step by step</a:t>
            </a:r>
          </a:p>
        </p:txBody>
      </p:sp>
      <p:grpSp>
        <p:nvGrpSpPr>
          <p:cNvPr name="Group 51" id="51"/>
          <p:cNvGrpSpPr/>
          <p:nvPr/>
        </p:nvGrpSpPr>
        <p:grpSpPr>
          <a:xfrm rot="0">
            <a:off x="1303020" y="8503920"/>
            <a:ext cx="4594860" cy="329184"/>
            <a:chOff x="0" y="0"/>
            <a:chExt cx="6126480" cy="438912"/>
          </a:xfrm>
        </p:grpSpPr>
        <p:sp>
          <p:nvSpPr>
            <p:cNvPr name="Freeform 52" id="52"/>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53" id="53"/>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008E86"/>
                  </a:solidFill>
                  <a:latin typeface="Inter Bold"/>
                  <a:ea typeface="Inter Bold"/>
                  <a:cs typeface="Inter Bold"/>
                  <a:sym typeface="Inter Bold"/>
                </a:rPr>
                <a:t>date &amp; money tools (pure Python)</a:t>
              </a:r>
            </a:p>
          </p:txBody>
        </p:sp>
      </p:grpSp>
      <p:grpSp>
        <p:nvGrpSpPr>
          <p:cNvPr name="Group 54" id="54"/>
          <p:cNvGrpSpPr/>
          <p:nvPr/>
        </p:nvGrpSpPr>
        <p:grpSpPr>
          <a:xfrm rot="0">
            <a:off x="6507004" y="5725192"/>
            <a:ext cx="5255704" cy="3294316"/>
            <a:chOff x="0" y="0"/>
            <a:chExt cx="7007606" cy="4392422"/>
          </a:xfrm>
        </p:grpSpPr>
        <p:sp>
          <p:nvSpPr>
            <p:cNvPr name="Freeform 55" id="55"/>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56" id="56"/>
          <p:cNvGrpSpPr/>
          <p:nvPr/>
        </p:nvGrpSpPr>
        <p:grpSpPr>
          <a:xfrm rot="0">
            <a:off x="6505575" y="5723763"/>
            <a:ext cx="5258562" cy="108204"/>
            <a:chOff x="0" y="0"/>
            <a:chExt cx="7011416" cy="144272"/>
          </a:xfrm>
        </p:grpSpPr>
        <p:sp>
          <p:nvSpPr>
            <p:cNvPr name="Freeform 57" id="57"/>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008E86"/>
            </a:solidFill>
          </p:spPr>
        </p:sp>
      </p:grpSp>
      <p:grpSp>
        <p:nvGrpSpPr>
          <p:cNvPr name="Group 58" id="58"/>
          <p:cNvGrpSpPr/>
          <p:nvPr/>
        </p:nvGrpSpPr>
        <p:grpSpPr>
          <a:xfrm rot="0">
            <a:off x="6844284" y="6048756"/>
            <a:ext cx="4622292" cy="822960"/>
            <a:chOff x="0" y="0"/>
            <a:chExt cx="6163056" cy="1097280"/>
          </a:xfrm>
        </p:grpSpPr>
        <p:sp>
          <p:nvSpPr>
            <p:cNvPr name="Freeform 59" id="59"/>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60" id="60"/>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5  Critic</a:t>
              </a:r>
            </a:p>
          </p:txBody>
        </p:sp>
      </p:grpSp>
      <p:sp>
        <p:nvSpPr>
          <p:cNvPr name="AutoShape 61" id="61"/>
          <p:cNvSpPr/>
          <p:nvPr/>
        </p:nvSpPr>
        <p:spPr>
          <a:xfrm rot="14160">
            <a:off x="6821024" y="7031546"/>
            <a:ext cx="4627664" cy="0"/>
          </a:xfrm>
          <a:prstGeom prst="line">
            <a:avLst/>
          </a:prstGeom>
          <a:ln cap="rnd" w="9525">
            <a:solidFill>
              <a:srgbClr val="DCE3E6"/>
            </a:solidFill>
            <a:prstDash val="solid"/>
            <a:headEnd type="none" len="sm" w="sm"/>
            <a:tailEnd type="none" len="sm" w="sm"/>
          </a:ln>
        </p:spPr>
      </p:sp>
      <p:sp>
        <p:nvSpPr>
          <p:cNvPr name="TextBox 62" id="62"/>
          <p:cNvSpPr txBox="true"/>
          <p:nvPr/>
        </p:nvSpPr>
        <p:spPr>
          <a:xfrm rot="0">
            <a:off x="6830568" y="7273671"/>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Re-computes independently; re-runs eligibility on the rule-based facts; checks tariff, ICD-10, PED</a:t>
            </a:r>
          </a:p>
        </p:txBody>
      </p:sp>
      <p:grpSp>
        <p:nvGrpSpPr>
          <p:cNvPr name="Group 63" id="63"/>
          <p:cNvGrpSpPr/>
          <p:nvPr/>
        </p:nvGrpSpPr>
        <p:grpSpPr>
          <a:xfrm rot="0">
            <a:off x="6830568" y="8503920"/>
            <a:ext cx="4594860" cy="329184"/>
            <a:chOff x="0" y="0"/>
            <a:chExt cx="6126480" cy="438912"/>
          </a:xfrm>
        </p:grpSpPr>
        <p:sp>
          <p:nvSpPr>
            <p:cNvPr name="Freeform 64" id="64"/>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65" id="65"/>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008E86"/>
                  </a:solidFill>
                  <a:latin typeface="Inter Bold"/>
                  <a:ea typeface="Inter Bold"/>
                  <a:cs typeface="Inter Bold"/>
                  <a:sym typeface="Inter Bold"/>
                </a:rPr>
                <a:t>can REVISE or HOLD</a:t>
              </a:r>
            </a:p>
          </p:txBody>
        </p:sp>
      </p:grpSp>
      <p:grpSp>
        <p:nvGrpSpPr>
          <p:cNvPr name="Group 66" id="66"/>
          <p:cNvGrpSpPr/>
          <p:nvPr/>
        </p:nvGrpSpPr>
        <p:grpSpPr>
          <a:xfrm rot="0">
            <a:off x="12034552" y="5725192"/>
            <a:ext cx="5255704" cy="3294316"/>
            <a:chOff x="0" y="0"/>
            <a:chExt cx="7007606" cy="4392422"/>
          </a:xfrm>
        </p:grpSpPr>
        <p:sp>
          <p:nvSpPr>
            <p:cNvPr name="Freeform 67" id="67"/>
            <p:cNvSpPr/>
            <p:nvPr/>
          </p:nvSpPr>
          <p:spPr>
            <a:xfrm flipH="false" flipV="false" rot="0">
              <a:off x="0" y="0"/>
              <a:ext cx="7007606" cy="4392422"/>
            </a:xfrm>
            <a:custGeom>
              <a:avLst/>
              <a:gdLst/>
              <a:ahLst/>
              <a:cxnLst/>
              <a:rect r="r" b="b" t="t" l="l"/>
              <a:pathLst>
                <a:path h="4392422" w="7007606">
                  <a:moveTo>
                    <a:pt x="0" y="183769"/>
                  </a:moveTo>
                  <a:cubicBezTo>
                    <a:pt x="0" y="82296"/>
                    <a:pt x="82296" y="0"/>
                    <a:pt x="183769" y="0"/>
                  </a:cubicBezTo>
                  <a:lnTo>
                    <a:pt x="6823837" y="0"/>
                  </a:lnTo>
                  <a:cubicBezTo>
                    <a:pt x="6925310" y="0"/>
                    <a:pt x="7007606" y="82296"/>
                    <a:pt x="7007606" y="183769"/>
                  </a:cubicBezTo>
                  <a:lnTo>
                    <a:pt x="7007606" y="4208653"/>
                  </a:lnTo>
                  <a:cubicBezTo>
                    <a:pt x="7007606" y="4310126"/>
                    <a:pt x="6925310" y="4392422"/>
                    <a:pt x="6823837" y="4392422"/>
                  </a:cubicBezTo>
                  <a:lnTo>
                    <a:pt x="183769" y="4392422"/>
                  </a:lnTo>
                  <a:cubicBezTo>
                    <a:pt x="82296" y="4392422"/>
                    <a:pt x="0" y="4310126"/>
                    <a:pt x="0" y="4208653"/>
                  </a:cubicBezTo>
                  <a:close/>
                </a:path>
              </a:pathLst>
            </a:custGeom>
            <a:solidFill>
              <a:srgbClr val="FFFFFF"/>
            </a:solidFill>
            <a:ln w="16192" cap="sq">
              <a:solidFill>
                <a:srgbClr val="DCE3E6"/>
              </a:solidFill>
              <a:prstDash val="solid"/>
              <a:miter/>
            </a:ln>
          </p:spPr>
        </p:sp>
      </p:grpSp>
      <p:grpSp>
        <p:nvGrpSpPr>
          <p:cNvPr name="Group 68" id="68"/>
          <p:cNvGrpSpPr/>
          <p:nvPr/>
        </p:nvGrpSpPr>
        <p:grpSpPr>
          <a:xfrm rot="0">
            <a:off x="12033123" y="5723763"/>
            <a:ext cx="5258562" cy="108204"/>
            <a:chOff x="0" y="0"/>
            <a:chExt cx="7011416" cy="144272"/>
          </a:xfrm>
        </p:grpSpPr>
        <p:sp>
          <p:nvSpPr>
            <p:cNvPr name="Freeform 69" id="69"/>
            <p:cNvSpPr/>
            <p:nvPr/>
          </p:nvSpPr>
          <p:spPr>
            <a:xfrm flipH="false" flipV="false" rot="0">
              <a:off x="0" y="0"/>
              <a:ext cx="7011416" cy="144272"/>
            </a:xfrm>
            <a:custGeom>
              <a:avLst/>
              <a:gdLst/>
              <a:ahLst/>
              <a:cxnLst/>
              <a:rect r="r" b="b" t="t" l="l"/>
              <a:pathLst>
                <a:path h="144272" w="7011416">
                  <a:moveTo>
                    <a:pt x="0" y="0"/>
                  </a:moveTo>
                  <a:lnTo>
                    <a:pt x="7011416" y="0"/>
                  </a:lnTo>
                  <a:lnTo>
                    <a:pt x="7011416" y="144272"/>
                  </a:lnTo>
                  <a:lnTo>
                    <a:pt x="0" y="144272"/>
                  </a:lnTo>
                  <a:close/>
                </a:path>
              </a:pathLst>
            </a:custGeom>
            <a:solidFill>
              <a:srgbClr val="008E86"/>
            </a:solidFill>
          </p:spPr>
        </p:sp>
      </p:grpSp>
      <p:grpSp>
        <p:nvGrpSpPr>
          <p:cNvPr name="Group 70" id="70"/>
          <p:cNvGrpSpPr/>
          <p:nvPr/>
        </p:nvGrpSpPr>
        <p:grpSpPr>
          <a:xfrm rot="0">
            <a:off x="12371832" y="6048756"/>
            <a:ext cx="4622292" cy="822960"/>
            <a:chOff x="0" y="0"/>
            <a:chExt cx="6163056" cy="1097280"/>
          </a:xfrm>
        </p:grpSpPr>
        <p:sp>
          <p:nvSpPr>
            <p:cNvPr name="Freeform 71" id="71"/>
            <p:cNvSpPr/>
            <p:nvPr/>
          </p:nvSpPr>
          <p:spPr>
            <a:xfrm flipH="false" flipV="false" rot="0">
              <a:off x="0" y="0"/>
              <a:ext cx="6163056" cy="1097280"/>
            </a:xfrm>
            <a:custGeom>
              <a:avLst/>
              <a:gdLst/>
              <a:ahLst/>
              <a:cxnLst/>
              <a:rect r="r" b="b" t="t" l="l"/>
              <a:pathLst>
                <a:path h="1097280" w="6163056">
                  <a:moveTo>
                    <a:pt x="0" y="0"/>
                  </a:moveTo>
                  <a:lnTo>
                    <a:pt x="6163056" y="0"/>
                  </a:lnTo>
                  <a:lnTo>
                    <a:pt x="6163056" y="1097280"/>
                  </a:lnTo>
                  <a:lnTo>
                    <a:pt x="0" y="1097280"/>
                  </a:lnTo>
                  <a:close/>
                </a:path>
              </a:pathLst>
            </a:custGeom>
            <a:blipFill>
              <a:blip r:embed="rId3">
                <a:alphaModFix amt="0"/>
              </a:blip>
              <a:stretch>
                <a:fillRect l="0" t="-59440" r="0" b="-59440"/>
              </a:stretch>
            </a:blipFill>
          </p:spPr>
        </p:sp>
        <p:sp>
          <p:nvSpPr>
            <p:cNvPr name="TextBox 72" id="72"/>
            <p:cNvSpPr txBox="true"/>
            <p:nvPr/>
          </p:nvSpPr>
          <p:spPr>
            <a:xfrm>
              <a:off x="0" y="0"/>
              <a:ext cx="6163056" cy="1097280"/>
            </a:xfrm>
            <a:prstGeom prst="rect">
              <a:avLst/>
            </a:prstGeom>
          </p:spPr>
          <p:txBody>
            <a:bodyPr anchor="ctr" rtlCol="false" tIns="0" lIns="0" bIns="0" rIns="0"/>
            <a:lstStyle/>
            <a:p>
              <a:pPr algn="l">
                <a:lnSpc>
                  <a:spcPts val="3168"/>
                </a:lnSpc>
              </a:pPr>
              <a:r>
                <a:rPr lang="en-US" sz="2640" b="true">
                  <a:solidFill>
                    <a:srgbClr val="101E2B"/>
                  </a:solidFill>
                  <a:latin typeface="Inter Bold"/>
                  <a:ea typeface="Inter Bold"/>
                  <a:cs typeface="Inter Bold"/>
                  <a:sym typeface="Inter Bold"/>
                </a:rPr>
                <a:t>6  Decision &amp; Letter</a:t>
              </a:r>
            </a:p>
          </p:txBody>
        </p:sp>
      </p:grpSp>
      <p:sp>
        <p:nvSpPr>
          <p:cNvPr name="AutoShape 73" id="73"/>
          <p:cNvSpPr/>
          <p:nvPr/>
        </p:nvSpPr>
        <p:spPr>
          <a:xfrm rot="14160">
            <a:off x="12348572" y="7031546"/>
            <a:ext cx="4627664" cy="0"/>
          </a:xfrm>
          <a:prstGeom prst="line">
            <a:avLst/>
          </a:prstGeom>
          <a:ln cap="rnd" w="9525">
            <a:solidFill>
              <a:srgbClr val="DCE3E6"/>
            </a:solidFill>
            <a:prstDash val="solid"/>
            <a:headEnd type="none" len="sm" w="sm"/>
            <a:tailEnd type="none" len="sm" w="sm"/>
          </a:ln>
        </p:spPr>
      </p:sp>
      <p:sp>
        <p:nvSpPr>
          <p:cNvPr name="TextBox 74" id="74"/>
          <p:cNvSpPr txBox="true"/>
          <p:nvPr/>
        </p:nvSpPr>
        <p:spPr>
          <a:xfrm rot="0">
            <a:off x="12358116" y="7273671"/>
            <a:ext cx="4581144" cy="1051941"/>
          </a:xfrm>
          <a:prstGeom prst="rect">
            <a:avLst/>
          </a:prstGeom>
        </p:spPr>
        <p:txBody>
          <a:bodyPr anchor="t" rtlCol="false" tIns="0" lIns="0" bIns="0" rIns="0">
            <a:spAutoFit/>
          </a:bodyPr>
          <a:lstStyle/>
          <a:p>
            <a:pPr algn="l">
              <a:lnSpc>
                <a:spcPts val="2322"/>
              </a:lnSpc>
            </a:pPr>
            <a:r>
              <a:rPr lang="en-US" sz="1935">
                <a:solidFill>
                  <a:srgbClr val="101E2B"/>
                </a:solidFill>
                <a:latin typeface="Inter"/>
                <a:ea typeface="Inter"/>
                <a:cs typeface="Inter"/>
                <a:sym typeface="Inter"/>
              </a:rPr>
              <a:t>Picks Approve / Partial / Query / Deny / Escalate; writes reasons and letter</a:t>
            </a:r>
          </a:p>
        </p:txBody>
      </p:sp>
      <p:grpSp>
        <p:nvGrpSpPr>
          <p:cNvPr name="Group 75" id="75"/>
          <p:cNvGrpSpPr/>
          <p:nvPr/>
        </p:nvGrpSpPr>
        <p:grpSpPr>
          <a:xfrm rot="0">
            <a:off x="12358116" y="8503920"/>
            <a:ext cx="4594860" cy="329184"/>
            <a:chOff x="0" y="0"/>
            <a:chExt cx="6126480" cy="438912"/>
          </a:xfrm>
        </p:grpSpPr>
        <p:sp>
          <p:nvSpPr>
            <p:cNvPr name="Freeform 76" id="76"/>
            <p:cNvSpPr/>
            <p:nvPr/>
          </p:nvSpPr>
          <p:spPr>
            <a:xfrm flipH="false" flipV="false" rot="0">
              <a:off x="0" y="0"/>
              <a:ext cx="6126480" cy="438912"/>
            </a:xfrm>
            <a:custGeom>
              <a:avLst/>
              <a:gdLst/>
              <a:ahLst/>
              <a:cxnLst/>
              <a:rect r="r" b="b" t="t" l="l"/>
              <a:pathLst>
                <a:path h="438912" w="6126480">
                  <a:moveTo>
                    <a:pt x="0" y="0"/>
                  </a:moveTo>
                  <a:lnTo>
                    <a:pt x="6126480" y="0"/>
                  </a:lnTo>
                  <a:lnTo>
                    <a:pt x="6126480" y="438912"/>
                  </a:lnTo>
                  <a:lnTo>
                    <a:pt x="0" y="438912"/>
                  </a:lnTo>
                  <a:close/>
                </a:path>
              </a:pathLst>
            </a:custGeom>
            <a:blipFill>
              <a:blip r:embed="rId3">
                <a:alphaModFix amt="0"/>
              </a:blip>
              <a:stretch>
                <a:fillRect l="0" t="-221978" r="0" b="-221978"/>
              </a:stretch>
            </a:blipFill>
          </p:spPr>
        </p:sp>
        <p:sp>
          <p:nvSpPr>
            <p:cNvPr name="TextBox 77" id="77"/>
            <p:cNvSpPr txBox="true"/>
            <p:nvPr/>
          </p:nvSpPr>
          <p:spPr>
            <a:xfrm>
              <a:off x="0" y="-9525"/>
              <a:ext cx="6126480" cy="448437"/>
            </a:xfrm>
            <a:prstGeom prst="rect">
              <a:avLst/>
            </a:prstGeom>
          </p:spPr>
          <p:txBody>
            <a:bodyPr anchor="ctr" rtlCol="false" tIns="0" lIns="0" bIns="0" rIns="0"/>
            <a:lstStyle/>
            <a:p>
              <a:pPr algn="l">
                <a:lnSpc>
                  <a:spcPts val="1907"/>
                </a:lnSpc>
              </a:pPr>
              <a:r>
                <a:rPr lang="en-US" sz="1589" b="true">
                  <a:solidFill>
                    <a:srgbClr val="008E86"/>
                  </a:solidFill>
                  <a:latin typeface="Inter Bold"/>
                  <a:ea typeface="Inter Bold"/>
                  <a:cs typeface="Inter Bold"/>
                  <a:sym typeface="Inter Bold"/>
                </a:rPr>
                <a:t>decision policy · LLM or template</a:t>
              </a:r>
            </a:p>
          </p:txBody>
        </p:sp>
      </p:grpSp>
      <p:grpSp>
        <p:nvGrpSpPr>
          <p:cNvPr name="Group 78" id="78"/>
          <p:cNvGrpSpPr/>
          <p:nvPr/>
        </p:nvGrpSpPr>
        <p:grpSpPr>
          <a:xfrm rot="0">
            <a:off x="946404" y="9758934"/>
            <a:ext cx="9601200" cy="260604"/>
            <a:chOff x="0" y="0"/>
            <a:chExt cx="12801600" cy="347472"/>
          </a:xfrm>
        </p:grpSpPr>
        <p:sp>
          <p:nvSpPr>
            <p:cNvPr name="Freeform 79" id="79"/>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80" id="80"/>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81" id="81"/>
          <p:cNvGrpSpPr/>
          <p:nvPr/>
        </p:nvGrpSpPr>
        <p:grpSpPr>
          <a:xfrm rot="0">
            <a:off x="16733520" y="9745218"/>
            <a:ext cx="548640" cy="301752"/>
            <a:chOff x="0" y="0"/>
            <a:chExt cx="731520" cy="402336"/>
          </a:xfrm>
        </p:grpSpPr>
        <p:sp>
          <p:nvSpPr>
            <p:cNvPr name="Freeform 82" id="82"/>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83" id="83"/>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4</a:t>
              </a:r>
            </a:p>
          </p:txBody>
        </p:sp>
      </p:grpSp>
      <p:sp>
        <p:nvSpPr>
          <p:cNvPr name="Freeform 84" id="84"/>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4500"/>
                </a:lnSpc>
              </a:pPr>
              <a:r>
                <a:rPr lang="en-US" sz="3750" b="true">
                  <a:solidFill>
                    <a:srgbClr val="101E2B"/>
                  </a:solidFill>
                  <a:latin typeface="Inter Bold"/>
                  <a:ea typeface="Inter Bold"/>
                  <a:cs typeface="Inter Bold"/>
                  <a:sym typeface="Inter Bold"/>
                </a:rPr>
                <a:t>Orchestration: one shared state, three decision points</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sp>
        <p:nvSpPr>
          <p:cNvPr name="AutoShape 6" id="6"/>
          <p:cNvSpPr/>
          <p:nvPr/>
        </p:nvSpPr>
        <p:spPr>
          <a:xfrm rot="5378100">
            <a:off x="-1548441" y="5456301"/>
            <a:ext cx="5977252" cy="0"/>
          </a:xfrm>
          <a:prstGeom prst="line">
            <a:avLst/>
          </a:prstGeom>
          <a:ln cap="rnd" w="19050">
            <a:solidFill>
              <a:srgbClr val="A8B7BB"/>
            </a:solidFill>
            <a:prstDash val="solid"/>
            <a:headEnd type="none" len="sm" w="sm"/>
            <a:tailEnd type="none" len="sm" w="sm"/>
          </a:ln>
        </p:spPr>
      </p:sp>
      <p:grpSp>
        <p:nvGrpSpPr>
          <p:cNvPr name="Group 7" id="7"/>
          <p:cNvGrpSpPr/>
          <p:nvPr/>
        </p:nvGrpSpPr>
        <p:grpSpPr>
          <a:xfrm rot="0">
            <a:off x="1006888" y="2076736"/>
            <a:ext cx="8012620" cy="784288"/>
            <a:chOff x="0" y="0"/>
            <a:chExt cx="10683494" cy="1045718"/>
          </a:xfrm>
        </p:grpSpPr>
        <p:sp>
          <p:nvSpPr>
            <p:cNvPr name="Freeform 8" id="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E4F3ED"/>
            </a:solidFill>
            <a:ln w="16192" cap="sq">
              <a:solidFill>
                <a:srgbClr val="DCE3E6"/>
              </a:solidFill>
              <a:prstDash val="solid"/>
              <a:miter/>
            </a:ln>
          </p:spPr>
        </p:sp>
      </p:grpSp>
      <p:grpSp>
        <p:nvGrpSpPr>
          <p:cNvPr name="Group 9" id="9"/>
          <p:cNvGrpSpPr/>
          <p:nvPr/>
        </p:nvGrpSpPr>
        <p:grpSpPr>
          <a:xfrm rot="0">
            <a:off x="1115187" y="2185035"/>
            <a:ext cx="567690" cy="567690"/>
            <a:chOff x="0" y="0"/>
            <a:chExt cx="756920" cy="756920"/>
          </a:xfrm>
        </p:grpSpPr>
        <p:sp>
          <p:nvSpPr>
            <p:cNvPr name="Freeform 10" id="1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425AEF"/>
            </a:solidFill>
          </p:spPr>
        </p:sp>
      </p:grpSp>
      <p:grpSp>
        <p:nvGrpSpPr>
          <p:cNvPr name="Group 11" id="11"/>
          <p:cNvGrpSpPr/>
          <p:nvPr/>
        </p:nvGrpSpPr>
        <p:grpSpPr>
          <a:xfrm rot="0">
            <a:off x="1124712" y="2221992"/>
            <a:ext cx="548640" cy="411480"/>
            <a:chOff x="0" y="0"/>
            <a:chExt cx="731520" cy="548640"/>
          </a:xfrm>
        </p:grpSpPr>
        <p:sp>
          <p:nvSpPr>
            <p:cNvPr name="Freeform 12" id="1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13" id="1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1</a:t>
              </a:r>
            </a:p>
          </p:txBody>
        </p:sp>
      </p:grpSp>
      <p:grpSp>
        <p:nvGrpSpPr>
          <p:cNvPr name="Group 14" id="14"/>
          <p:cNvGrpSpPr/>
          <p:nvPr/>
        </p:nvGrpSpPr>
        <p:grpSpPr>
          <a:xfrm rot="0">
            <a:off x="1906524" y="2215134"/>
            <a:ext cx="6775704" cy="521208"/>
            <a:chOff x="0" y="0"/>
            <a:chExt cx="9034272" cy="694944"/>
          </a:xfrm>
        </p:grpSpPr>
        <p:sp>
          <p:nvSpPr>
            <p:cNvPr name="Freeform 15" id="1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16" id="1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Planner writes the task plan into shared state</a:t>
              </a:r>
            </a:p>
          </p:txBody>
        </p:sp>
      </p:grpSp>
      <p:grpSp>
        <p:nvGrpSpPr>
          <p:cNvPr name="Group 17" id="17"/>
          <p:cNvGrpSpPr/>
          <p:nvPr/>
        </p:nvGrpSpPr>
        <p:grpSpPr>
          <a:xfrm rot="0">
            <a:off x="1006888" y="2995708"/>
            <a:ext cx="8012620" cy="784288"/>
            <a:chOff x="0" y="0"/>
            <a:chExt cx="10683494" cy="1045718"/>
          </a:xfrm>
        </p:grpSpPr>
        <p:sp>
          <p:nvSpPr>
            <p:cNvPr name="Freeform 18" id="1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FFFFFF"/>
            </a:solidFill>
            <a:ln w="16192" cap="sq">
              <a:solidFill>
                <a:srgbClr val="DCE3E6"/>
              </a:solidFill>
              <a:prstDash val="solid"/>
              <a:miter/>
            </a:ln>
          </p:spPr>
        </p:sp>
      </p:grpSp>
      <p:grpSp>
        <p:nvGrpSpPr>
          <p:cNvPr name="Group 19" id="19"/>
          <p:cNvGrpSpPr/>
          <p:nvPr/>
        </p:nvGrpSpPr>
        <p:grpSpPr>
          <a:xfrm rot="0">
            <a:off x="1115187" y="3104007"/>
            <a:ext cx="567690" cy="567690"/>
            <a:chOff x="0" y="0"/>
            <a:chExt cx="756920" cy="756920"/>
          </a:xfrm>
        </p:grpSpPr>
        <p:sp>
          <p:nvSpPr>
            <p:cNvPr name="Freeform 20" id="2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425AEF"/>
            </a:solidFill>
          </p:spPr>
        </p:sp>
      </p:grpSp>
      <p:grpSp>
        <p:nvGrpSpPr>
          <p:cNvPr name="Group 21" id="21"/>
          <p:cNvGrpSpPr/>
          <p:nvPr/>
        </p:nvGrpSpPr>
        <p:grpSpPr>
          <a:xfrm rot="0">
            <a:off x="1124712" y="3140964"/>
            <a:ext cx="548640" cy="411480"/>
            <a:chOff x="0" y="0"/>
            <a:chExt cx="731520" cy="548640"/>
          </a:xfrm>
        </p:grpSpPr>
        <p:sp>
          <p:nvSpPr>
            <p:cNvPr name="Freeform 22" id="2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23" id="2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2</a:t>
              </a:r>
            </a:p>
          </p:txBody>
        </p:sp>
      </p:grpSp>
      <p:grpSp>
        <p:nvGrpSpPr>
          <p:cNvPr name="Group 24" id="24"/>
          <p:cNvGrpSpPr/>
          <p:nvPr/>
        </p:nvGrpSpPr>
        <p:grpSpPr>
          <a:xfrm rot="0">
            <a:off x="1906524" y="3134106"/>
            <a:ext cx="6775704" cy="521208"/>
            <a:chOff x="0" y="0"/>
            <a:chExt cx="9034272" cy="694944"/>
          </a:xfrm>
        </p:grpSpPr>
        <p:sp>
          <p:nvSpPr>
            <p:cNvPr name="Freeform 25" id="2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26" id="2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Intake adds extracted facts and missing documents</a:t>
              </a:r>
            </a:p>
          </p:txBody>
        </p:sp>
      </p:grpSp>
      <p:grpSp>
        <p:nvGrpSpPr>
          <p:cNvPr name="Group 27" id="27"/>
          <p:cNvGrpSpPr/>
          <p:nvPr/>
        </p:nvGrpSpPr>
        <p:grpSpPr>
          <a:xfrm rot="0">
            <a:off x="1006888" y="3914680"/>
            <a:ext cx="8012620" cy="784288"/>
            <a:chOff x="0" y="0"/>
            <a:chExt cx="10683494" cy="1045718"/>
          </a:xfrm>
        </p:grpSpPr>
        <p:sp>
          <p:nvSpPr>
            <p:cNvPr name="Freeform 28" id="2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E4F3ED"/>
            </a:solidFill>
            <a:ln w="16192" cap="sq">
              <a:solidFill>
                <a:srgbClr val="DCE3E6"/>
              </a:solidFill>
              <a:prstDash val="solid"/>
              <a:miter/>
            </a:ln>
          </p:spPr>
        </p:sp>
      </p:grpSp>
      <p:grpSp>
        <p:nvGrpSpPr>
          <p:cNvPr name="Group 29" id="29"/>
          <p:cNvGrpSpPr/>
          <p:nvPr/>
        </p:nvGrpSpPr>
        <p:grpSpPr>
          <a:xfrm rot="0">
            <a:off x="1115187" y="4022979"/>
            <a:ext cx="567690" cy="567690"/>
            <a:chOff x="0" y="0"/>
            <a:chExt cx="756920" cy="756920"/>
          </a:xfrm>
        </p:grpSpPr>
        <p:sp>
          <p:nvSpPr>
            <p:cNvPr name="Freeform 30" id="3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425AEF"/>
            </a:solidFill>
          </p:spPr>
        </p:sp>
      </p:grpSp>
      <p:grpSp>
        <p:nvGrpSpPr>
          <p:cNvPr name="Group 31" id="31"/>
          <p:cNvGrpSpPr/>
          <p:nvPr/>
        </p:nvGrpSpPr>
        <p:grpSpPr>
          <a:xfrm rot="0">
            <a:off x="1124712" y="4059936"/>
            <a:ext cx="548640" cy="411480"/>
            <a:chOff x="0" y="0"/>
            <a:chExt cx="731520" cy="548640"/>
          </a:xfrm>
        </p:grpSpPr>
        <p:sp>
          <p:nvSpPr>
            <p:cNvPr name="Freeform 32" id="3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33" id="3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3</a:t>
              </a:r>
            </a:p>
          </p:txBody>
        </p:sp>
      </p:grpSp>
      <p:grpSp>
        <p:nvGrpSpPr>
          <p:cNvPr name="Group 34" id="34"/>
          <p:cNvGrpSpPr/>
          <p:nvPr/>
        </p:nvGrpSpPr>
        <p:grpSpPr>
          <a:xfrm rot="0">
            <a:off x="1906524" y="4053078"/>
            <a:ext cx="6775704" cy="521208"/>
            <a:chOff x="0" y="0"/>
            <a:chExt cx="9034272" cy="694944"/>
          </a:xfrm>
        </p:grpSpPr>
        <p:sp>
          <p:nvSpPr>
            <p:cNvPr name="Freeform 35" id="3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36" id="3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Research adds policy, clauses and tariff benchmark</a:t>
              </a:r>
            </a:p>
          </p:txBody>
        </p:sp>
      </p:grpSp>
      <p:grpSp>
        <p:nvGrpSpPr>
          <p:cNvPr name="Group 37" id="37"/>
          <p:cNvGrpSpPr/>
          <p:nvPr/>
        </p:nvGrpSpPr>
        <p:grpSpPr>
          <a:xfrm rot="0">
            <a:off x="1006888" y="4737068"/>
            <a:ext cx="8012620" cy="784288"/>
            <a:chOff x="0" y="0"/>
            <a:chExt cx="10683494" cy="1045718"/>
          </a:xfrm>
        </p:grpSpPr>
        <p:sp>
          <p:nvSpPr>
            <p:cNvPr name="Freeform 38" id="3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FFFFFF"/>
            </a:solidFill>
            <a:ln w="16192" cap="sq">
              <a:solidFill>
                <a:srgbClr val="DCE3E6"/>
              </a:solidFill>
              <a:prstDash val="solid"/>
              <a:miter/>
            </a:ln>
          </p:spPr>
        </p:sp>
      </p:grpSp>
      <p:grpSp>
        <p:nvGrpSpPr>
          <p:cNvPr name="Group 39" id="39"/>
          <p:cNvGrpSpPr/>
          <p:nvPr/>
        </p:nvGrpSpPr>
        <p:grpSpPr>
          <a:xfrm rot="0">
            <a:off x="1115187" y="4941951"/>
            <a:ext cx="567690" cy="567690"/>
            <a:chOff x="0" y="0"/>
            <a:chExt cx="756920" cy="756920"/>
          </a:xfrm>
        </p:grpSpPr>
        <p:sp>
          <p:nvSpPr>
            <p:cNvPr name="Freeform 40" id="4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425AEF"/>
            </a:solidFill>
          </p:spPr>
        </p:sp>
      </p:grpSp>
      <p:grpSp>
        <p:nvGrpSpPr>
          <p:cNvPr name="Group 41" id="41"/>
          <p:cNvGrpSpPr/>
          <p:nvPr/>
        </p:nvGrpSpPr>
        <p:grpSpPr>
          <a:xfrm rot="0">
            <a:off x="1124712" y="4978908"/>
            <a:ext cx="548640" cy="411480"/>
            <a:chOff x="0" y="0"/>
            <a:chExt cx="731520" cy="548640"/>
          </a:xfrm>
        </p:grpSpPr>
        <p:sp>
          <p:nvSpPr>
            <p:cNvPr name="Freeform 42" id="4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43" id="4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4</a:t>
              </a:r>
            </a:p>
          </p:txBody>
        </p:sp>
      </p:grpSp>
      <p:grpSp>
        <p:nvGrpSpPr>
          <p:cNvPr name="Group 44" id="44"/>
          <p:cNvGrpSpPr/>
          <p:nvPr/>
        </p:nvGrpSpPr>
        <p:grpSpPr>
          <a:xfrm rot="0">
            <a:off x="1906524" y="4972050"/>
            <a:ext cx="6775704" cy="521208"/>
            <a:chOff x="0" y="0"/>
            <a:chExt cx="9034272" cy="694944"/>
          </a:xfrm>
        </p:grpSpPr>
        <p:sp>
          <p:nvSpPr>
            <p:cNvPr name="Freeform 45" id="4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46" id="4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Executor runs eligibility checks</a:t>
              </a:r>
            </a:p>
          </p:txBody>
        </p:sp>
      </p:grpSp>
      <p:grpSp>
        <p:nvGrpSpPr>
          <p:cNvPr name="Group 47" id="47"/>
          <p:cNvGrpSpPr/>
          <p:nvPr/>
        </p:nvGrpSpPr>
        <p:grpSpPr>
          <a:xfrm rot="0">
            <a:off x="1006888" y="5752624"/>
            <a:ext cx="8012620" cy="784288"/>
            <a:chOff x="0" y="0"/>
            <a:chExt cx="10683494" cy="1045718"/>
          </a:xfrm>
        </p:grpSpPr>
        <p:sp>
          <p:nvSpPr>
            <p:cNvPr name="Freeform 48" id="4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E9F3EC"/>
            </a:solidFill>
            <a:ln w="16192" cap="sq">
              <a:solidFill>
                <a:srgbClr val="DCE3E6"/>
              </a:solidFill>
              <a:prstDash val="solid"/>
              <a:miter/>
            </a:ln>
          </p:spPr>
        </p:sp>
      </p:grpSp>
      <p:grpSp>
        <p:nvGrpSpPr>
          <p:cNvPr name="Group 49" id="49"/>
          <p:cNvGrpSpPr/>
          <p:nvPr/>
        </p:nvGrpSpPr>
        <p:grpSpPr>
          <a:xfrm rot="0">
            <a:off x="1115187" y="5860923"/>
            <a:ext cx="567690" cy="567690"/>
            <a:chOff x="0" y="0"/>
            <a:chExt cx="756920" cy="756920"/>
          </a:xfrm>
        </p:grpSpPr>
        <p:sp>
          <p:nvSpPr>
            <p:cNvPr name="Freeform 50" id="5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008E86"/>
            </a:solidFill>
          </p:spPr>
        </p:sp>
      </p:grpSp>
      <p:grpSp>
        <p:nvGrpSpPr>
          <p:cNvPr name="Group 51" id="51"/>
          <p:cNvGrpSpPr/>
          <p:nvPr/>
        </p:nvGrpSpPr>
        <p:grpSpPr>
          <a:xfrm rot="0">
            <a:off x="1124712" y="5897880"/>
            <a:ext cx="548640" cy="411480"/>
            <a:chOff x="0" y="0"/>
            <a:chExt cx="731520" cy="548640"/>
          </a:xfrm>
        </p:grpSpPr>
        <p:sp>
          <p:nvSpPr>
            <p:cNvPr name="Freeform 52" id="5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53" id="5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5</a:t>
              </a:r>
            </a:p>
          </p:txBody>
        </p:sp>
      </p:grpSp>
      <p:grpSp>
        <p:nvGrpSpPr>
          <p:cNvPr name="Group 54" id="54"/>
          <p:cNvGrpSpPr/>
          <p:nvPr/>
        </p:nvGrpSpPr>
        <p:grpSpPr>
          <a:xfrm rot="0">
            <a:off x="1906524" y="5891022"/>
            <a:ext cx="6775704" cy="521208"/>
            <a:chOff x="0" y="0"/>
            <a:chExt cx="9034272" cy="694944"/>
          </a:xfrm>
        </p:grpSpPr>
        <p:sp>
          <p:nvSpPr>
            <p:cNvPr name="Freeform 55" id="5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56" id="5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Executor calculates the payable amount</a:t>
              </a:r>
            </a:p>
          </p:txBody>
        </p:sp>
      </p:grpSp>
      <p:grpSp>
        <p:nvGrpSpPr>
          <p:cNvPr name="Group 57" id="57"/>
          <p:cNvGrpSpPr/>
          <p:nvPr/>
        </p:nvGrpSpPr>
        <p:grpSpPr>
          <a:xfrm rot="0">
            <a:off x="1006888" y="6671596"/>
            <a:ext cx="8012620" cy="784288"/>
            <a:chOff x="0" y="0"/>
            <a:chExt cx="10683494" cy="1045718"/>
          </a:xfrm>
        </p:grpSpPr>
        <p:sp>
          <p:nvSpPr>
            <p:cNvPr name="Freeform 58" id="5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FFFFFF"/>
            </a:solidFill>
            <a:ln w="16192" cap="sq">
              <a:solidFill>
                <a:srgbClr val="DCE3E6"/>
              </a:solidFill>
              <a:prstDash val="solid"/>
              <a:miter/>
            </a:ln>
          </p:spPr>
        </p:sp>
      </p:grpSp>
      <p:grpSp>
        <p:nvGrpSpPr>
          <p:cNvPr name="Group 59" id="59"/>
          <p:cNvGrpSpPr/>
          <p:nvPr/>
        </p:nvGrpSpPr>
        <p:grpSpPr>
          <a:xfrm rot="0">
            <a:off x="1115187" y="6779895"/>
            <a:ext cx="567690" cy="567690"/>
            <a:chOff x="0" y="0"/>
            <a:chExt cx="756920" cy="756920"/>
          </a:xfrm>
        </p:grpSpPr>
        <p:sp>
          <p:nvSpPr>
            <p:cNvPr name="Freeform 60" id="6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008E86"/>
            </a:solidFill>
          </p:spPr>
        </p:sp>
      </p:grpSp>
      <p:grpSp>
        <p:nvGrpSpPr>
          <p:cNvPr name="Group 61" id="61"/>
          <p:cNvGrpSpPr/>
          <p:nvPr/>
        </p:nvGrpSpPr>
        <p:grpSpPr>
          <a:xfrm rot="0">
            <a:off x="1124712" y="6816852"/>
            <a:ext cx="548640" cy="411480"/>
            <a:chOff x="0" y="0"/>
            <a:chExt cx="731520" cy="548640"/>
          </a:xfrm>
        </p:grpSpPr>
        <p:sp>
          <p:nvSpPr>
            <p:cNvPr name="Freeform 62" id="6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63" id="6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6</a:t>
              </a:r>
            </a:p>
          </p:txBody>
        </p:sp>
      </p:grpSp>
      <p:grpSp>
        <p:nvGrpSpPr>
          <p:cNvPr name="Group 64" id="64"/>
          <p:cNvGrpSpPr/>
          <p:nvPr/>
        </p:nvGrpSpPr>
        <p:grpSpPr>
          <a:xfrm rot="0">
            <a:off x="1906524" y="6809994"/>
            <a:ext cx="6775704" cy="521208"/>
            <a:chOff x="0" y="0"/>
            <a:chExt cx="9034272" cy="694944"/>
          </a:xfrm>
        </p:grpSpPr>
        <p:sp>
          <p:nvSpPr>
            <p:cNvPr name="Freeform 65" id="6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66" id="66"/>
            <p:cNvSpPr txBox="true"/>
            <p:nvPr/>
          </p:nvSpPr>
          <p:spPr>
            <a:xfrm>
              <a:off x="0" y="0"/>
              <a:ext cx="9034272" cy="694944"/>
            </a:xfrm>
            <a:prstGeom prst="rect">
              <a:avLst/>
            </a:prstGeom>
          </p:spPr>
          <p:txBody>
            <a:bodyPr anchor="ctr" rtlCol="false" tIns="0" lIns="0" bIns="0" rIns="0"/>
            <a:lstStyle/>
            <a:p>
              <a:pPr algn="l">
                <a:lnSpc>
                  <a:spcPts val="2394"/>
                </a:lnSpc>
              </a:pPr>
              <a:r>
                <a:rPr lang="en-US" sz="1995" b="true">
                  <a:solidFill>
                    <a:srgbClr val="101E2B"/>
                  </a:solidFill>
                  <a:latin typeface="Inter Bold"/>
                  <a:ea typeface="Inter Bold"/>
                  <a:cs typeface="Inter Bold"/>
                  <a:sym typeface="Inter Bold"/>
                </a:rPr>
                <a:t>Critic validates — may loop back to step 5</a:t>
              </a:r>
            </a:p>
          </p:txBody>
        </p:sp>
      </p:grpSp>
      <p:grpSp>
        <p:nvGrpSpPr>
          <p:cNvPr name="Group 67" id="67"/>
          <p:cNvGrpSpPr/>
          <p:nvPr/>
        </p:nvGrpSpPr>
        <p:grpSpPr>
          <a:xfrm rot="0">
            <a:off x="1006888" y="7590568"/>
            <a:ext cx="8012620" cy="784288"/>
            <a:chOff x="0" y="0"/>
            <a:chExt cx="10683494" cy="1045718"/>
          </a:xfrm>
        </p:grpSpPr>
        <p:sp>
          <p:nvSpPr>
            <p:cNvPr name="Freeform 68" id="68"/>
            <p:cNvSpPr/>
            <p:nvPr/>
          </p:nvSpPr>
          <p:spPr>
            <a:xfrm flipH="false" flipV="false" rot="0">
              <a:off x="0" y="0"/>
              <a:ext cx="10683494" cy="1045718"/>
            </a:xfrm>
            <a:custGeom>
              <a:avLst/>
              <a:gdLst/>
              <a:ahLst/>
              <a:cxnLst/>
              <a:rect r="r" b="b" t="t" l="l"/>
              <a:pathLst>
                <a:path h="1045718" w="10683494">
                  <a:moveTo>
                    <a:pt x="0" y="149352"/>
                  </a:moveTo>
                  <a:cubicBezTo>
                    <a:pt x="0" y="66929"/>
                    <a:pt x="66929" y="0"/>
                    <a:pt x="149352" y="0"/>
                  </a:cubicBezTo>
                  <a:lnTo>
                    <a:pt x="10534142" y="0"/>
                  </a:lnTo>
                  <a:cubicBezTo>
                    <a:pt x="10616692" y="0"/>
                    <a:pt x="10683494" y="66929"/>
                    <a:pt x="10683494" y="149352"/>
                  </a:cubicBezTo>
                  <a:lnTo>
                    <a:pt x="10683494" y="896366"/>
                  </a:lnTo>
                  <a:cubicBezTo>
                    <a:pt x="10683494" y="978916"/>
                    <a:pt x="10616565" y="1045718"/>
                    <a:pt x="10534142" y="1045718"/>
                  </a:cubicBezTo>
                  <a:lnTo>
                    <a:pt x="149352" y="1045718"/>
                  </a:lnTo>
                  <a:cubicBezTo>
                    <a:pt x="66929" y="1045718"/>
                    <a:pt x="0" y="978789"/>
                    <a:pt x="0" y="896366"/>
                  </a:cubicBezTo>
                  <a:close/>
                </a:path>
              </a:pathLst>
            </a:custGeom>
            <a:solidFill>
              <a:srgbClr val="E9F3EC"/>
            </a:solidFill>
            <a:ln w="16192" cap="sq">
              <a:solidFill>
                <a:srgbClr val="DCE3E6"/>
              </a:solidFill>
              <a:prstDash val="solid"/>
              <a:miter/>
            </a:ln>
          </p:spPr>
        </p:sp>
      </p:grpSp>
      <p:grpSp>
        <p:nvGrpSpPr>
          <p:cNvPr name="Group 69" id="69"/>
          <p:cNvGrpSpPr/>
          <p:nvPr/>
        </p:nvGrpSpPr>
        <p:grpSpPr>
          <a:xfrm rot="0">
            <a:off x="1115187" y="7698867"/>
            <a:ext cx="567690" cy="567690"/>
            <a:chOff x="0" y="0"/>
            <a:chExt cx="756920" cy="756920"/>
          </a:xfrm>
        </p:grpSpPr>
        <p:sp>
          <p:nvSpPr>
            <p:cNvPr name="Freeform 70" id="70"/>
            <p:cNvSpPr/>
            <p:nvPr/>
          </p:nvSpPr>
          <p:spPr>
            <a:xfrm flipH="false" flipV="false" rot="0">
              <a:off x="0" y="0"/>
              <a:ext cx="756920" cy="756920"/>
            </a:xfrm>
            <a:custGeom>
              <a:avLst/>
              <a:gdLst/>
              <a:ahLst/>
              <a:cxnLst/>
              <a:rect r="r" b="b" t="t" l="l"/>
              <a:pathLst>
                <a:path h="756920" w="756920">
                  <a:moveTo>
                    <a:pt x="0" y="378460"/>
                  </a:moveTo>
                  <a:cubicBezTo>
                    <a:pt x="0" y="169418"/>
                    <a:pt x="169418" y="0"/>
                    <a:pt x="378460" y="0"/>
                  </a:cubicBezTo>
                  <a:cubicBezTo>
                    <a:pt x="587502" y="0"/>
                    <a:pt x="756920" y="169418"/>
                    <a:pt x="756920" y="378460"/>
                  </a:cubicBezTo>
                  <a:cubicBezTo>
                    <a:pt x="756920" y="587502"/>
                    <a:pt x="587502" y="756920"/>
                    <a:pt x="378460" y="756920"/>
                  </a:cubicBezTo>
                  <a:cubicBezTo>
                    <a:pt x="169418" y="756920"/>
                    <a:pt x="0" y="587502"/>
                    <a:pt x="0" y="378460"/>
                  </a:cubicBezTo>
                  <a:close/>
                </a:path>
              </a:pathLst>
            </a:custGeom>
            <a:solidFill>
              <a:srgbClr val="008E86"/>
            </a:solidFill>
          </p:spPr>
        </p:sp>
      </p:grpSp>
      <p:grpSp>
        <p:nvGrpSpPr>
          <p:cNvPr name="Group 71" id="71"/>
          <p:cNvGrpSpPr/>
          <p:nvPr/>
        </p:nvGrpSpPr>
        <p:grpSpPr>
          <a:xfrm rot="0">
            <a:off x="1124712" y="7735824"/>
            <a:ext cx="548640" cy="411480"/>
            <a:chOff x="0" y="0"/>
            <a:chExt cx="731520" cy="548640"/>
          </a:xfrm>
        </p:grpSpPr>
        <p:sp>
          <p:nvSpPr>
            <p:cNvPr name="Freeform 72" id="72"/>
            <p:cNvSpPr/>
            <p:nvPr/>
          </p:nvSpPr>
          <p:spPr>
            <a:xfrm flipH="false" flipV="false" rot="0">
              <a:off x="0" y="0"/>
              <a:ext cx="731520" cy="548640"/>
            </a:xfrm>
            <a:custGeom>
              <a:avLst/>
              <a:gdLst/>
              <a:ahLst/>
              <a:cxnLst/>
              <a:rect r="r" b="b" t="t" l="l"/>
              <a:pathLst>
                <a:path h="548640" w="731520">
                  <a:moveTo>
                    <a:pt x="0" y="0"/>
                  </a:moveTo>
                  <a:lnTo>
                    <a:pt x="731520" y="0"/>
                  </a:lnTo>
                  <a:lnTo>
                    <a:pt x="731520" y="548640"/>
                  </a:lnTo>
                  <a:lnTo>
                    <a:pt x="0" y="548640"/>
                  </a:lnTo>
                  <a:close/>
                </a:path>
              </a:pathLst>
            </a:custGeom>
            <a:blipFill>
              <a:blip r:embed="rId3">
                <a:alphaModFix amt="0"/>
              </a:blip>
              <a:stretch>
                <a:fillRect l="-46227" t="0" r="-46227" b="0"/>
              </a:stretch>
            </a:blipFill>
          </p:spPr>
        </p:sp>
        <p:sp>
          <p:nvSpPr>
            <p:cNvPr name="TextBox 73" id="73"/>
            <p:cNvSpPr txBox="true"/>
            <p:nvPr/>
          </p:nvSpPr>
          <p:spPr>
            <a:xfrm>
              <a:off x="0" y="0"/>
              <a:ext cx="731520" cy="548640"/>
            </a:xfrm>
            <a:prstGeom prst="rect">
              <a:avLst/>
            </a:prstGeom>
          </p:spPr>
          <p:txBody>
            <a:bodyPr anchor="ctr" rtlCol="false" tIns="0" lIns="0" bIns="0" rIns="0"/>
            <a:lstStyle/>
            <a:p>
              <a:pPr algn="ctr">
                <a:lnSpc>
                  <a:spcPts val="2160"/>
                </a:lnSpc>
              </a:pPr>
              <a:r>
                <a:rPr lang="en-US" sz="1800" b="true">
                  <a:solidFill>
                    <a:srgbClr val="FFFFFF"/>
                  </a:solidFill>
                  <a:latin typeface="Inter Bold"/>
                  <a:ea typeface="Inter Bold"/>
                  <a:cs typeface="Inter Bold"/>
                  <a:sym typeface="Inter Bold"/>
                </a:rPr>
                <a:t>7</a:t>
              </a:r>
            </a:p>
          </p:txBody>
        </p:sp>
      </p:grpSp>
      <p:grpSp>
        <p:nvGrpSpPr>
          <p:cNvPr name="Group 74" id="74"/>
          <p:cNvGrpSpPr/>
          <p:nvPr/>
        </p:nvGrpSpPr>
        <p:grpSpPr>
          <a:xfrm rot="0">
            <a:off x="1906524" y="7728966"/>
            <a:ext cx="6775704" cy="521208"/>
            <a:chOff x="0" y="0"/>
            <a:chExt cx="9034272" cy="694944"/>
          </a:xfrm>
        </p:grpSpPr>
        <p:sp>
          <p:nvSpPr>
            <p:cNvPr name="Freeform 75" id="75"/>
            <p:cNvSpPr/>
            <p:nvPr/>
          </p:nvSpPr>
          <p:spPr>
            <a:xfrm flipH="false" flipV="false" rot="0">
              <a:off x="0" y="0"/>
              <a:ext cx="9034272" cy="694944"/>
            </a:xfrm>
            <a:custGeom>
              <a:avLst/>
              <a:gdLst/>
              <a:ahLst/>
              <a:cxnLst/>
              <a:rect r="r" b="b" t="t" l="l"/>
              <a:pathLst>
                <a:path h="694944" w="9034272">
                  <a:moveTo>
                    <a:pt x="0" y="0"/>
                  </a:moveTo>
                  <a:lnTo>
                    <a:pt x="9034272" y="0"/>
                  </a:lnTo>
                  <a:lnTo>
                    <a:pt x="9034272" y="694944"/>
                  </a:lnTo>
                  <a:lnTo>
                    <a:pt x="0" y="694944"/>
                  </a:lnTo>
                  <a:close/>
                </a:path>
              </a:pathLst>
            </a:custGeom>
            <a:blipFill>
              <a:blip r:embed="rId3">
                <a:alphaModFix amt="0"/>
              </a:blip>
              <a:stretch>
                <a:fillRect l="0" t="-203305" r="0" b="-203305"/>
              </a:stretch>
            </a:blipFill>
          </p:spPr>
        </p:sp>
        <p:sp>
          <p:nvSpPr>
            <p:cNvPr name="TextBox 76" id="76"/>
            <p:cNvSpPr txBox="true"/>
            <p:nvPr/>
          </p:nvSpPr>
          <p:spPr>
            <a:xfrm>
              <a:off x="0" y="0"/>
              <a:ext cx="9034272" cy="694944"/>
            </a:xfrm>
            <a:prstGeom prst="rect">
              <a:avLst/>
            </a:prstGeom>
          </p:spPr>
          <p:txBody>
            <a:bodyPr anchor="ctr" rtlCol="false" tIns="0" lIns="0" bIns="0" rIns="0"/>
            <a:lstStyle/>
            <a:p>
              <a:pPr algn="l">
                <a:lnSpc>
                  <a:spcPts val="2394"/>
                </a:lnSpc>
              </a:pPr>
              <a:r>
                <a:rPr lang="en-US" sz="1995">
                  <a:solidFill>
                    <a:srgbClr val="101E2B"/>
                  </a:solidFill>
                  <a:latin typeface="Inter"/>
                  <a:ea typeface="Inter"/>
                  <a:cs typeface="Inter"/>
                  <a:sym typeface="Inter"/>
                </a:rPr>
                <a:t>Decision agent decides and drafts the letter</a:t>
              </a:r>
            </a:p>
          </p:txBody>
        </p:sp>
      </p:grpSp>
      <p:grpSp>
        <p:nvGrpSpPr>
          <p:cNvPr name="Group 77" id="77"/>
          <p:cNvGrpSpPr/>
          <p:nvPr/>
        </p:nvGrpSpPr>
        <p:grpSpPr>
          <a:xfrm rot="0">
            <a:off x="9414796" y="2076736"/>
            <a:ext cx="7875460" cy="2142172"/>
            <a:chOff x="0" y="0"/>
            <a:chExt cx="10500614" cy="2856230"/>
          </a:xfrm>
        </p:grpSpPr>
        <p:sp>
          <p:nvSpPr>
            <p:cNvPr name="Freeform 78" id="78"/>
            <p:cNvSpPr/>
            <p:nvPr/>
          </p:nvSpPr>
          <p:spPr>
            <a:xfrm flipH="false" flipV="false" rot="0">
              <a:off x="0" y="0"/>
              <a:ext cx="10500614" cy="2856230"/>
            </a:xfrm>
            <a:custGeom>
              <a:avLst/>
              <a:gdLst/>
              <a:ahLst/>
              <a:cxnLst/>
              <a:rect r="r" b="b" t="t" l="l"/>
              <a:pathLst>
                <a:path h="2856230" w="10500614">
                  <a:moveTo>
                    <a:pt x="0" y="184277"/>
                  </a:moveTo>
                  <a:cubicBezTo>
                    <a:pt x="0" y="82550"/>
                    <a:pt x="82550" y="0"/>
                    <a:pt x="184277" y="0"/>
                  </a:cubicBezTo>
                  <a:lnTo>
                    <a:pt x="10316337" y="0"/>
                  </a:lnTo>
                  <a:cubicBezTo>
                    <a:pt x="10418064" y="0"/>
                    <a:pt x="10500614" y="82550"/>
                    <a:pt x="10500614" y="184277"/>
                  </a:cubicBezTo>
                  <a:lnTo>
                    <a:pt x="10500614" y="2671953"/>
                  </a:lnTo>
                  <a:cubicBezTo>
                    <a:pt x="10500614" y="2773680"/>
                    <a:pt x="10418064" y="2856230"/>
                    <a:pt x="10316337" y="2856230"/>
                  </a:cubicBezTo>
                  <a:lnTo>
                    <a:pt x="184277" y="2856230"/>
                  </a:lnTo>
                  <a:cubicBezTo>
                    <a:pt x="82550" y="2856230"/>
                    <a:pt x="0" y="2773680"/>
                    <a:pt x="0" y="2671953"/>
                  </a:cubicBezTo>
                  <a:close/>
                </a:path>
              </a:pathLst>
            </a:custGeom>
            <a:solidFill>
              <a:srgbClr val="FFFFFF"/>
            </a:solidFill>
            <a:ln w="16192" cap="sq">
              <a:solidFill>
                <a:srgbClr val="DCE3E6"/>
              </a:solidFill>
              <a:prstDash val="solid"/>
              <a:miter/>
            </a:ln>
          </p:spPr>
        </p:sp>
      </p:grpSp>
      <p:grpSp>
        <p:nvGrpSpPr>
          <p:cNvPr name="Group 79" id="79"/>
          <p:cNvGrpSpPr/>
          <p:nvPr/>
        </p:nvGrpSpPr>
        <p:grpSpPr>
          <a:xfrm rot="0">
            <a:off x="9413367" y="2075307"/>
            <a:ext cx="115062" cy="2145030"/>
            <a:chOff x="0" y="0"/>
            <a:chExt cx="153416" cy="2860040"/>
          </a:xfrm>
        </p:grpSpPr>
        <p:sp>
          <p:nvSpPr>
            <p:cNvPr name="Freeform 80" id="80"/>
            <p:cNvSpPr/>
            <p:nvPr/>
          </p:nvSpPr>
          <p:spPr>
            <a:xfrm flipH="false" flipV="false" rot="0">
              <a:off x="0" y="0"/>
              <a:ext cx="153416" cy="2860040"/>
            </a:xfrm>
            <a:custGeom>
              <a:avLst/>
              <a:gdLst/>
              <a:ahLst/>
              <a:cxnLst/>
              <a:rect r="r" b="b" t="t" l="l"/>
              <a:pathLst>
                <a:path h="2860040" w="153416">
                  <a:moveTo>
                    <a:pt x="0" y="0"/>
                  </a:moveTo>
                  <a:lnTo>
                    <a:pt x="153416" y="0"/>
                  </a:lnTo>
                  <a:lnTo>
                    <a:pt x="153416" y="2860040"/>
                  </a:lnTo>
                  <a:lnTo>
                    <a:pt x="0" y="2860040"/>
                  </a:lnTo>
                  <a:close/>
                </a:path>
              </a:pathLst>
            </a:custGeom>
            <a:solidFill>
              <a:srgbClr val="425AEF"/>
            </a:solidFill>
          </p:spPr>
        </p:sp>
      </p:grpSp>
      <p:grpSp>
        <p:nvGrpSpPr>
          <p:cNvPr name="Group 81" id="81"/>
          <p:cNvGrpSpPr/>
          <p:nvPr/>
        </p:nvGrpSpPr>
        <p:grpSpPr>
          <a:xfrm rot="0">
            <a:off x="9820656" y="2249424"/>
            <a:ext cx="7008876" cy="480060"/>
            <a:chOff x="0" y="0"/>
            <a:chExt cx="9345168" cy="640080"/>
          </a:xfrm>
        </p:grpSpPr>
        <p:sp>
          <p:nvSpPr>
            <p:cNvPr name="Freeform 82" id="82"/>
            <p:cNvSpPr/>
            <p:nvPr/>
          </p:nvSpPr>
          <p:spPr>
            <a:xfrm flipH="false" flipV="false" rot="0">
              <a:off x="0" y="0"/>
              <a:ext cx="9345168" cy="640080"/>
            </a:xfrm>
            <a:custGeom>
              <a:avLst/>
              <a:gdLst/>
              <a:ahLst/>
              <a:cxnLst/>
              <a:rect r="r" b="b" t="t" l="l"/>
              <a:pathLst>
                <a:path h="640080" w="9345168">
                  <a:moveTo>
                    <a:pt x="0" y="0"/>
                  </a:moveTo>
                  <a:lnTo>
                    <a:pt x="9345168" y="0"/>
                  </a:lnTo>
                  <a:lnTo>
                    <a:pt x="9345168" y="640080"/>
                  </a:lnTo>
                  <a:lnTo>
                    <a:pt x="0" y="640080"/>
                  </a:lnTo>
                  <a:close/>
                </a:path>
              </a:pathLst>
            </a:custGeom>
            <a:blipFill>
              <a:blip r:embed="rId3">
                <a:alphaModFix amt="0"/>
              </a:blip>
              <a:stretch>
                <a:fillRect l="0" t="-234481" r="0" b="-234481"/>
              </a:stretch>
            </a:blipFill>
          </p:spPr>
        </p:sp>
        <p:sp>
          <p:nvSpPr>
            <p:cNvPr name="TextBox 83" id="83"/>
            <p:cNvSpPr txBox="true"/>
            <p:nvPr/>
          </p:nvSpPr>
          <p:spPr>
            <a:xfrm>
              <a:off x="0" y="0"/>
              <a:ext cx="9345168" cy="640080"/>
            </a:xfrm>
            <a:prstGeom prst="rect">
              <a:avLst/>
            </a:prstGeom>
          </p:spPr>
          <p:txBody>
            <a:bodyPr anchor="ctr" rtlCol="false" tIns="0" lIns="0" bIns="0" rIns="0"/>
            <a:lstStyle/>
            <a:p>
              <a:pPr algn="l">
                <a:lnSpc>
                  <a:spcPts val="3005"/>
                </a:lnSpc>
              </a:pPr>
              <a:r>
                <a:rPr lang="en-US" sz="2504" b="true">
                  <a:solidFill>
                    <a:srgbClr val="425AEF"/>
                  </a:solidFill>
                  <a:latin typeface="Inter Bold"/>
                  <a:ea typeface="Inter Bold"/>
                  <a:cs typeface="Inter Bold"/>
                  <a:sym typeface="Inter Bold"/>
                </a:rPr>
                <a:t>◆ 1  Eligible?</a:t>
              </a:r>
            </a:p>
          </p:txBody>
        </p:sp>
      </p:grpSp>
      <p:sp>
        <p:nvSpPr>
          <p:cNvPr name="TextBox 84" id="84"/>
          <p:cNvSpPr txBox="true"/>
          <p:nvPr/>
        </p:nvSpPr>
        <p:spPr>
          <a:xfrm rot="0">
            <a:off x="9820656" y="2811780"/>
            <a:ext cx="6967728" cy="781812"/>
          </a:xfrm>
          <a:prstGeom prst="rect">
            <a:avLst/>
          </a:prstGeom>
        </p:spPr>
        <p:txBody>
          <a:bodyPr anchor="t" rtlCol="false" tIns="0" lIns="0" bIns="0" rIns="0">
            <a:spAutoFit/>
          </a:bodyPr>
          <a:lstStyle/>
          <a:p>
            <a:pPr algn="l">
              <a:lnSpc>
                <a:spcPts val="2142"/>
              </a:lnSpc>
            </a:pPr>
            <a:r>
              <a:rPr lang="en-US" sz="1785">
                <a:solidFill>
                  <a:srgbClr val="101E2B"/>
                </a:solidFill>
                <a:latin typeface="Inter"/>
                <a:ea typeface="Inter"/>
                <a:cs typeface="Inter"/>
                <a:sym typeface="Inter"/>
              </a:rPr>
              <a:t>If any eligibility check fails, the calculation is skipped and the case goes straight to the Critic and Decision agent.</a:t>
            </a:r>
          </a:p>
        </p:txBody>
      </p:sp>
      <p:grpSp>
        <p:nvGrpSpPr>
          <p:cNvPr name="Group 85" id="85"/>
          <p:cNvGrpSpPr/>
          <p:nvPr/>
        </p:nvGrpSpPr>
        <p:grpSpPr>
          <a:xfrm rot="0">
            <a:off x="9820656" y="3730752"/>
            <a:ext cx="7022592" cy="329184"/>
            <a:chOff x="0" y="0"/>
            <a:chExt cx="9363456" cy="438912"/>
          </a:xfrm>
        </p:grpSpPr>
        <p:sp>
          <p:nvSpPr>
            <p:cNvPr name="Freeform 86" id="86"/>
            <p:cNvSpPr/>
            <p:nvPr/>
          </p:nvSpPr>
          <p:spPr>
            <a:xfrm flipH="false" flipV="false" rot="0">
              <a:off x="0" y="0"/>
              <a:ext cx="9363456" cy="438912"/>
            </a:xfrm>
            <a:custGeom>
              <a:avLst/>
              <a:gdLst/>
              <a:ahLst/>
              <a:cxnLst/>
              <a:rect r="r" b="b" t="t" l="l"/>
              <a:pathLst>
                <a:path h="438912" w="9363456">
                  <a:moveTo>
                    <a:pt x="0" y="0"/>
                  </a:moveTo>
                  <a:lnTo>
                    <a:pt x="9363456" y="0"/>
                  </a:lnTo>
                  <a:lnTo>
                    <a:pt x="9363456" y="438912"/>
                  </a:lnTo>
                  <a:lnTo>
                    <a:pt x="0" y="438912"/>
                  </a:lnTo>
                  <a:close/>
                </a:path>
              </a:pathLst>
            </a:custGeom>
            <a:blipFill>
              <a:blip r:embed="rId3">
                <a:alphaModFix amt="0"/>
              </a:blip>
              <a:stretch>
                <a:fillRect l="0" t="-365680" r="0" b="-365680"/>
              </a:stretch>
            </a:blipFill>
          </p:spPr>
        </p:sp>
        <p:sp>
          <p:nvSpPr>
            <p:cNvPr name="TextBox 87" id="87"/>
            <p:cNvSpPr txBox="true"/>
            <p:nvPr/>
          </p:nvSpPr>
          <p:spPr>
            <a:xfrm>
              <a:off x="0" y="-9525"/>
              <a:ext cx="9363456" cy="448437"/>
            </a:xfrm>
            <a:prstGeom prst="rect">
              <a:avLst/>
            </a:prstGeom>
          </p:spPr>
          <p:txBody>
            <a:bodyPr anchor="ctr" rtlCol="false" tIns="0" lIns="0" bIns="0" rIns="0"/>
            <a:lstStyle/>
            <a:p>
              <a:pPr algn="l">
                <a:lnSpc>
                  <a:spcPts val="1962"/>
                </a:lnSpc>
              </a:pPr>
              <a:r>
                <a:rPr lang="en-US" sz="1635" i="true">
                  <a:solidFill>
                    <a:srgbClr val="607184"/>
                  </a:solidFill>
                  <a:latin typeface="Inter Italics"/>
                  <a:ea typeface="Inter Italics"/>
                  <a:cs typeface="Inter Italics"/>
                  <a:sym typeface="Inter Italics"/>
                </a:rPr>
                <a:t>e.g. PA-0109: policy expired → Deny</a:t>
              </a:r>
            </a:p>
          </p:txBody>
        </p:sp>
      </p:grpSp>
      <p:grpSp>
        <p:nvGrpSpPr>
          <p:cNvPr name="Group 88" id="88"/>
          <p:cNvGrpSpPr/>
          <p:nvPr/>
        </p:nvGrpSpPr>
        <p:grpSpPr>
          <a:xfrm rot="0">
            <a:off x="9414796" y="4381024"/>
            <a:ext cx="7875460" cy="2142172"/>
            <a:chOff x="0" y="0"/>
            <a:chExt cx="10500614" cy="2856230"/>
          </a:xfrm>
        </p:grpSpPr>
        <p:sp>
          <p:nvSpPr>
            <p:cNvPr name="Freeform 89" id="89"/>
            <p:cNvSpPr/>
            <p:nvPr/>
          </p:nvSpPr>
          <p:spPr>
            <a:xfrm flipH="false" flipV="false" rot="0">
              <a:off x="0" y="0"/>
              <a:ext cx="10500614" cy="2856230"/>
            </a:xfrm>
            <a:custGeom>
              <a:avLst/>
              <a:gdLst/>
              <a:ahLst/>
              <a:cxnLst/>
              <a:rect r="r" b="b" t="t" l="l"/>
              <a:pathLst>
                <a:path h="2856230" w="10500614">
                  <a:moveTo>
                    <a:pt x="0" y="184277"/>
                  </a:moveTo>
                  <a:cubicBezTo>
                    <a:pt x="0" y="82550"/>
                    <a:pt x="82550" y="0"/>
                    <a:pt x="184277" y="0"/>
                  </a:cubicBezTo>
                  <a:lnTo>
                    <a:pt x="10316337" y="0"/>
                  </a:lnTo>
                  <a:cubicBezTo>
                    <a:pt x="10418064" y="0"/>
                    <a:pt x="10500614" y="82550"/>
                    <a:pt x="10500614" y="184277"/>
                  </a:cubicBezTo>
                  <a:lnTo>
                    <a:pt x="10500614" y="2671953"/>
                  </a:lnTo>
                  <a:cubicBezTo>
                    <a:pt x="10500614" y="2773680"/>
                    <a:pt x="10418064" y="2856230"/>
                    <a:pt x="10316337" y="2856230"/>
                  </a:cubicBezTo>
                  <a:lnTo>
                    <a:pt x="184277" y="2856230"/>
                  </a:lnTo>
                  <a:cubicBezTo>
                    <a:pt x="82550" y="2856230"/>
                    <a:pt x="0" y="2773680"/>
                    <a:pt x="0" y="2671953"/>
                  </a:cubicBezTo>
                  <a:close/>
                </a:path>
              </a:pathLst>
            </a:custGeom>
            <a:solidFill>
              <a:srgbClr val="FFFFFF"/>
            </a:solidFill>
            <a:ln w="16192" cap="sq">
              <a:solidFill>
                <a:srgbClr val="DCE3E6"/>
              </a:solidFill>
              <a:prstDash val="solid"/>
              <a:miter/>
            </a:ln>
          </p:spPr>
        </p:sp>
      </p:grpSp>
      <p:grpSp>
        <p:nvGrpSpPr>
          <p:cNvPr name="Group 90" id="90"/>
          <p:cNvGrpSpPr/>
          <p:nvPr/>
        </p:nvGrpSpPr>
        <p:grpSpPr>
          <a:xfrm rot="0">
            <a:off x="9413367" y="4379595"/>
            <a:ext cx="115062" cy="2145030"/>
            <a:chOff x="0" y="0"/>
            <a:chExt cx="153416" cy="2860040"/>
          </a:xfrm>
        </p:grpSpPr>
        <p:sp>
          <p:nvSpPr>
            <p:cNvPr name="Freeform 91" id="91"/>
            <p:cNvSpPr/>
            <p:nvPr/>
          </p:nvSpPr>
          <p:spPr>
            <a:xfrm flipH="false" flipV="false" rot="0">
              <a:off x="0" y="0"/>
              <a:ext cx="153416" cy="2860040"/>
            </a:xfrm>
            <a:custGeom>
              <a:avLst/>
              <a:gdLst/>
              <a:ahLst/>
              <a:cxnLst/>
              <a:rect r="r" b="b" t="t" l="l"/>
              <a:pathLst>
                <a:path h="2860040" w="153416">
                  <a:moveTo>
                    <a:pt x="0" y="0"/>
                  </a:moveTo>
                  <a:lnTo>
                    <a:pt x="153416" y="0"/>
                  </a:lnTo>
                  <a:lnTo>
                    <a:pt x="153416" y="2860040"/>
                  </a:lnTo>
                  <a:lnTo>
                    <a:pt x="0" y="2860040"/>
                  </a:lnTo>
                  <a:close/>
                </a:path>
              </a:pathLst>
            </a:custGeom>
            <a:solidFill>
              <a:srgbClr val="EE6A59"/>
            </a:solidFill>
          </p:spPr>
        </p:sp>
      </p:grpSp>
      <p:grpSp>
        <p:nvGrpSpPr>
          <p:cNvPr name="Group 92" id="92"/>
          <p:cNvGrpSpPr/>
          <p:nvPr/>
        </p:nvGrpSpPr>
        <p:grpSpPr>
          <a:xfrm rot="0">
            <a:off x="9820656" y="4553712"/>
            <a:ext cx="7008876" cy="480060"/>
            <a:chOff x="0" y="0"/>
            <a:chExt cx="9345168" cy="640080"/>
          </a:xfrm>
        </p:grpSpPr>
        <p:sp>
          <p:nvSpPr>
            <p:cNvPr name="Freeform 93" id="93"/>
            <p:cNvSpPr/>
            <p:nvPr/>
          </p:nvSpPr>
          <p:spPr>
            <a:xfrm flipH="false" flipV="false" rot="0">
              <a:off x="0" y="0"/>
              <a:ext cx="9345168" cy="640080"/>
            </a:xfrm>
            <a:custGeom>
              <a:avLst/>
              <a:gdLst/>
              <a:ahLst/>
              <a:cxnLst/>
              <a:rect r="r" b="b" t="t" l="l"/>
              <a:pathLst>
                <a:path h="640080" w="9345168">
                  <a:moveTo>
                    <a:pt x="0" y="0"/>
                  </a:moveTo>
                  <a:lnTo>
                    <a:pt x="9345168" y="0"/>
                  </a:lnTo>
                  <a:lnTo>
                    <a:pt x="9345168" y="640080"/>
                  </a:lnTo>
                  <a:lnTo>
                    <a:pt x="0" y="640080"/>
                  </a:lnTo>
                  <a:close/>
                </a:path>
              </a:pathLst>
            </a:custGeom>
            <a:blipFill>
              <a:blip r:embed="rId3">
                <a:alphaModFix amt="0"/>
              </a:blip>
              <a:stretch>
                <a:fillRect l="0" t="-234481" r="0" b="-234481"/>
              </a:stretch>
            </a:blipFill>
          </p:spPr>
        </p:sp>
        <p:sp>
          <p:nvSpPr>
            <p:cNvPr name="TextBox 94" id="94"/>
            <p:cNvSpPr txBox="true"/>
            <p:nvPr/>
          </p:nvSpPr>
          <p:spPr>
            <a:xfrm>
              <a:off x="0" y="0"/>
              <a:ext cx="9345168" cy="640080"/>
            </a:xfrm>
            <a:prstGeom prst="rect">
              <a:avLst/>
            </a:prstGeom>
          </p:spPr>
          <p:txBody>
            <a:bodyPr anchor="ctr" rtlCol="false" tIns="0" lIns="0" bIns="0" rIns="0"/>
            <a:lstStyle/>
            <a:p>
              <a:pPr algn="l">
                <a:lnSpc>
                  <a:spcPts val="3005"/>
                </a:lnSpc>
              </a:pPr>
              <a:r>
                <a:rPr lang="en-US" sz="2504" b="true">
                  <a:solidFill>
                    <a:srgbClr val="BC6654"/>
                  </a:solidFill>
                  <a:latin typeface="Inter Bold"/>
                  <a:ea typeface="Inter Bold"/>
                  <a:cs typeface="Inter Bold"/>
                  <a:sym typeface="Inter Bold"/>
                </a:rPr>
                <a:t>◆ 2  Critic verdict</a:t>
              </a:r>
            </a:p>
          </p:txBody>
        </p:sp>
      </p:grpSp>
      <p:sp>
        <p:nvSpPr>
          <p:cNvPr name="TextBox 95" id="95"/>
          <p:cNvSpPr txBox="true"/>
          <p:nvPr/>
        </p:nvSpPr>
        <p:spPr>
          <a:xfrm rot="0">
            <a:off x="9820656" y="5116068"/>
            <a:ext cx="6967728" cy="781812"/>
          </a:xfrm>
          <a:prstGeom prst="rect">
            <a:avLst/>
          </a:prstGeom>
        </p:spPr>
        <p:txBody>
          <a:bodyPr anchor="t" rtlCol="false" tIns="0" lIns="0" bIns="0" rIns="0">
            <a:spAutoFit/>
          </a:bodyPr>
          <a:lstStyle/>
          <a:p>
            <a:pPr algn="l">
              <a:lnSpc>
                <a:spcPts val="2142"/>
              </a:lnSpc>
            </a:pPr>
            <a:r>
              <a:rPr lang="en-US" sz="1785">
                <a:solidFill>
                  <a:srgbClr val="101E2B"/>
                </a:solidFill>
                <a:latin typeface="Inter"/>
                <a:ea typeface="Inter"/>
                <a:cs typeface="Inter"/>
                <a:sym typeface="Inter"/>
              </a:rPr>
              <a:t>PASS → decide.  REVISE → Executor recalculates with the Critic's instruction (max 2).  HOLD → query or human review.</a:t>
            </a:r>
          </a:p>
        </p:txBody>
      </p:sp>
      <p:grpSp>
        <p:nvGrpSpPr>
          <p:cNvPr name="Group 96" id="96"/>
          <p:cNvGrpSpPr/>
          <p:nvPr/>
        </p:nvGrpSpPr>
        <p:grpSpPr>
          <a:xfrm rot="0">
            <a:off x="9820656" y="6035040"/>
            <a:ext cx="7022592" cy="329184"/>
            <a:chOff x="0" y="0"/>
            <a:chExt cx="9363456" cy="438912"/>
          </a:xfrm>
        </p:grpSpPr>
        <p:sp>
          <p:nvSpPr>
            <p:cNvPr name="Freeform 97" id="97"/>
            <p:cNvSpPr/>
            <p:nvPr/>
          </p:nvSpPr>
          <p:spPr>
            <a:xfrm flipH="false" flipV="false" rot="0">
              <a:off x="0" y="0"/>
              <a:ext cx="9363456" cy="438912"/>
            </a:xfrm>
            <a:custGeom>
              <a:avLst/>
              <a:gdLst/>
              <a:ahLst/>
              <a:cxnLst/>
              <a:rect r="r" b="b" t="t" l="l"/>
              <a:pathLst>
                <a:path h="438912" w="9363456">
                  <a:moveTo>
                    <a:pt x="0" y="0"/>
                  </a:moveTo>
                  <a:lnTo>
                    <a:pt x="9363456" y="0"/>
                  </a:lnTo>
                  <a:lnTo>
                    <a:pt x="9363456" y="438912"/>
                  </a:lnTo>
                  <a:lnTo>
                    <a:pt x="0" y="438912"/>
                  </a:lnTo>
                  <a:close/>
                </a:path>
              </a:pathLst>
            </a:custGeom>
            <a:blipFill>
              <a:blip r:embed="rId3">
                <a:alphaModFix amt="0"/>
              </a:blip>
              <a:stretch>
                <a:fillRect l="0" t="-365680" r="0" b="-365680"/>
              </a:stretch>
            </a:blipFill>
          </p:spPr>
        </p:sp>
        <p:sp>
          <p:nvSpPr>
            <p:cNvPr name="TextBox 98" id="98"/>
            <p:cNvSpPr txBox="true"/>
            <p:nvPr/>
          </p:nvSpPr>
          <p:spPr>
            <a:xfrm>
              <a:off x="0" y="-9525"/>
              <a:ext cx="9363456" cy="448437"/>
            </a:xfrm>
            <a:prstGeom prst="rect">
              <a:avLst/>
            </a:prstGeom>
          </p:spPr>
          <p:txBody>
            <a:bodyPr anchor="ctr" rtlCol="false" tIns="0" lIns="0" bIns="0" rIns="0"/>
            <a:lstStyle/>
            <a:p>
              <a:pPr algn="l">
                <a:lnSpc>
                  <a:spcPts val="1962"/>
                </a:lnSpc>
              </a:pPr>
              <a:r>
                <a:rPr lang="en-US" sz="1635" i="true">
                  <a:solidFill>
                    <a:srgbClr val="607184"/>
                  </a:solidFill>
                  <a:latin typeface="Inter Italics"/>
                  <a:ea typeface="Inter Italics"/>
                  <a:cs typeface="Inter Italics"/>
                  <a:sym typeface="Inter Italics"/>
                </a:rPr>
                <a:t>e.g. PA-0108: estimate 73% above tariff → capped</a:t>
              </a:r>
            </a:p>
          </p:txBody>
        </p:sp>
      </p:grpSp>
      <p:grpSp>
        <p:nvGrpSpPr>
          <p:cNvPr name="Group 99" id="99"/>
          <p:cNvGrpSpPr/>
          <p:nvPr/>
        </p:nvGrpSpPr>
        <p:grpSpPr>
          <a:xfrm rot="0">
            <a:off x="9414796" y="6685312"/>
            <a:ext cx="7875460" cy="2142172"/>
            <a:chOff x="0" y="0"/>
            <a:chExt cx="10500614" cy="2856230"/>
          </a:xfrm>
        </p:grpSpPr>
        <p:sp>
          <p:nvSpPr>
            <p:cNvPr name="Freeform 100" id="100"/>
            <p:cNvSpPr/>
            <p:nvPr/>
          </p:nvSpPr>
          <p:spPr>
            <a:xfrm flipH="false" flipV="false" rot="0">
              <a:off x="0" y="0"/>
              <a:ext cx="10500614" cy="2856230"/>
            </a:xfrm>
            <a:custGeom>
              <a:avLst/>
              <a:gdLst/>
              <a:ahLst/>
              <a:cxnLst/>
              <a:rect r="r" b="b" t="t" l="l"/>
              <a:pathLst>
                <a:path h="2856230" w="10500614">
                  <a:moveTo>
                    <a:pt x="0" y="184277"/>
                  </a:moveTo>
                  <a:cubicBezTo>
                    <a:pt x="0" y="82550"/>
                    <a:pt x="82550" y="0"/>
                    <a:pt x="184277" y="0"/>
                  </a:cubicBezTo>
                  <a:lnTo>
                    <a:pt x="10316337" y="0"/>
                  </a:lnTo>
                  <a:cubicBezTo>
                    <a:pt x="10418064" y="0"/>
                    <a:pt x="10500614" y="82550"/>
                    <a:pt x="10500614" y="184277"/>
                  </a:cubicBezTo>
                  <a:lnTo>
                    <a:pt x="10500614" y="2671953"/>
                  </a:lnTo>
                  <a:cubicBezTo>
                    <a:pt x="10500614" y="2773680"/>
                    <a:pt x="10418064" y="2856230"/>
                    <a:pt x="10316337" y="2856230"/>
                  </a:cubicBezTo>
                  <a:lnTo>
                    <a:pt x="184277" y="2856230"/>
                  </a:lnTo>
                  <a:cubicBezTo>
                    <a:pt x="82550" y="2856230"/>
                    <a:pt x="0" y="2773680"/>
                    <a:pt x="0" y="2671953"/>
                  </a:cubicBezTo>
                  <a:close/>
                </a:path>
              </a:pathLst>
            </a:custGeom>
            <a:solidFill>
              <a:srgbClr val="FFFFFF"/>
            </a:solidFill>
            <a:ln w="16192" cap="sq">
              <a:solidFill>
                <a:srgbClr val="DCE3E6"/>
              </a:solidFill>
              <a:prstDash val="solid"/>
              <a:miter/>
            </a:ln>
          </p:spPr>
        </p:sp>
      </p:grpSp>
      <p:grpSp>
        <p:nvGrpSpPr>
          <p:cNvPr name="Group 101" id="101"/>
          <p:cNvGrpSpPr/>
          <p:nvPr/>
        </p:nvGrpSpPr>
        <p:grpSpPr>
          <a:xfrm rot="0">
            <a:off x="9413367" y="6683883"/>
            <a:ext cx="115062" cy="2145030"/>
            <a:chOff x="0" y="0"/>
            <a:chExt cx="153416" cy="2860040"/>
          </a:xfrm>
        </p:grpSpPr>
        <p:sp>
          <p:nvSpPr>
            <p:cNvPr name="Freeform 102" id="102"/>
            <p:cNvSpPr/>
            <p:nvPr/>
          </p:nvSpPr>
          <p:spPr>
            <a:xfrm flipH="false" flipV="false" rot="0">
              <a:off x="0" y="0"/>
              <a:ext cx="153416" cy="2860040"/>
            </a:xfrm>
            <a:custGeom>
              <a:avLst/>
              <a:gdLst/>
              <a:ahLst/>
              <a:cxnLst/>
              <a:rect r="r" b="b" t="t" l="l"/>
              <a:pathLst>
                <a:path h="2860040" w="153416">
                  <a:moveTo>
                    <a:pt x="0" y="0"/>
                  </a:moveTo>
                  <a:lnTo>
                    <a:pt x="153416" y="0"/>
                  </a:lnTo>
                  <a:lnTo>
                    <a:pt x="153416" y="2860040"/>
                  </a:lnTo>
                  <a:lnTo>
                    <a:pt x="0" y="2860040"/>
                  </a:lnTo>
                  <a:close/>
                </a:path>
              </a:pathLst>
            </a:custGeom>
            <a:solidFill>
              <a:srgbClr val="008E86"/>
            </a:solidFill>
          </p:spPr>
        </p:sp>
      </p:grpSp>
      <p:grpSp>
        <p:nvGrpSpPr>
          <p:cNvPr name="Group 103" id="103"/>
          <p:cNvGrpSpPr/>
          <p:nvPr/>
        </p:nvGrpSpPr>
        <p:grpSpPr>
          <a:xfrm rot="0">
            <a:off x="9820656" y="6858000"/>
            <a:ext cx="7008876" cy="480060"/>
            <a:chOff x="0" y="0"/>
            <a:chExt cx="9345168" cy="640080"/>
          </a:xfrm>
        </p:grpSpPr>
        <p:sp>
          <p:nvSpPr>
            <p:cNvPr name="Freeform 104" id="104"/>
            <p:cNvSpPr/>
            <p:nvPr/>
          </p:nvSpPr>
          <p:spPr>
            <a:xfrm flipH="false" flipV="false" rot="0">
              <a:off x="0" y="0"/>
              <a:ext cx="9345168" cy="640080"/>
            </a:xfrm>
            <a:custGeom>
              <a:avLst/>
              <a:gdLst/>
              <a:ahLst/>
              <a:cxnLst/>
              <a:rect r="r" b="b" t="t" l="l"/>
              <a:pathLst>
                <a:path h="640080" w="9345168">
                  <a:moveTo>
                    <a:pt x="0" y="0"/>
                  </a:moveTo>
                  <a:lnTo>
                    <a:pt x="9345168" y="0"/>
                  </a:lnTo>
                  <a:lnTo>
                    <a:pt x="9345168" y="640080"/>
                  </a:lnTo>
                  <a:lnTo>
                    <a:pt x="0" y="640080"/>
                  </a:lnTo>
                  <a:close/>
                </a:path>
              </a:pathLst>
            </a:custGeom>
            <a:blipFill>
              <a:blip r:embed="rId3">
                <a:alphaModFix amt="0"/>
              </a:blip>
              <a:stretch>
                <a:fillRect l="0" t="-234481" r="0" b="-234481"/>
              </a:stretch>
            </a:blipFill>
          </p:spPr>
        </p:sp>
        <p:sp>
          <p:nvSpPr>
            <p:cNvPr name="TextBox 105" id="105"/>
            <p:cNvSpPr txBox="true"/>
            <p:nvPr/>
          </p:nvSpPr>
          <p:spPr>
            <a:xfrm>
              <a:off x="0" y="0"/>
              <a:ext cx="9345168" cy="640080"/>
            </a:xfrm>
            <a:prstGeom prst="rect">
              <a:avLst/>
            </a:prstGeom>
          </p:spPr>
          <p:txBody>
            <a:bodyPr anchor="ctr" rtlCol="false" tIns="0" lIns="0" bIns="0" rIns="0"/>
            <a:lstStyle/>
            <a:p>
              <a:pPr algn="l">
                <a:lnSpc>
                  <a:spcPts val="3005"/>
                </a:lnSpc>
              </a:pPr>
              <a:r>
                <a:rPr lang="en-US" sz="2504" b="true">
                  <a:solidFill>
                    <a:srgbClr val="008E86"/>
                  </a:solidFill>
                  <a:latin typeface="Inter Bold"/>
                  <a:ea typeface="Inter Bold"/>
                  <a:cs typeface="Inter Bold"/>
                  <a:sym typeface="Inter Bold"/>
                </a:rPr>
                <a:t>◆ 3  Decision policy</a:t>
              </a:r>
            </a:p>
          </p:txBody>
        </p:sp>
      </p:grpSp>
      <p:sp>
        <p:nvSpPr>
          <p:cNvPr name="TextBox 106" id="106"/>
          <p:cNvSpPr txBox="true"/>
          <p:nvPr/>
        </p:nvSpPr>
        <p:spPr>
          <a:xfrm rot="0">
            <a:off x="9820656" y="7420356"/>
            <a:ext cx="6967728" cy="781812"/>
          </a:xfrm>
          <a:prstGeom prst="rect">
            <a:avLst/>
          </a:prstGeom>
        </p:spPr>
        <p:txBody>
          <a:bodyPr anchor="t" rtlCol="false" tIns="0" lIns="0" bIns="0" rIns="0">
            <a:spAutoFit/>
          </a:bodyPr>
          <a:lstStyle/>
          <a:p>
            <a:pPr algn="l">
              <a:lnSpc>
                <a:spcPts val="2142"/>
              </a:lnSpc>
            </a:pPr>
            <a:r>
              <a:rPr lang="en-US" sz="1785">
                <a:solidFill>
                  <a:srgbClr val="101E2B"/>
                </a:solidFill>
                <a:latin typeface="Inter"/>
                <a:ea typeface="Inter"/>
                <a:cs typeface="Inter"/>
                <a:sym typeface="Inter"/>
              </a:rPr>
              <a:t>Deny (on grounds both extractors support)  &gt;  Escalate  &gt;  Query  &gt;  Partial  &gt;  Approve. Risky cases go to a medical officer.</a:t>
            </a:r>
          </a:p>
        </p:txBody>
      </p:sp>
      <p:grpSp>
        <p:nvGrpSpPr>
          <p:cNvPr name="Group 107" id="107"/>
          <p:cNvGrpSpPr/>
          <p:nvPr/>
        </p:nvGrpSpPr>
        <p:grpSpPr>
          <a:xfrm rot="0">
            <a:off x="9820656" y="8339328"/>
            <a:ext cx="7022592" cy="329184"/>
            <a:chOff x="0" y="0"/>
            <a:chExt cx="9363456" cy="438912"/>
          </a:xfrm>
        </p:grpSpPr>
        <p:sp>
          <p:nvSpPr>
            <p:cNvPr name="Freeform 108" id="108"/>
            <p:cNvSpPr/>
            <p:nvPr/>
          </p:nvSpPr>
          <p:spPr>
            <a:xfrm flipH="false" flipV="false" rot="0">
              <a:off x="0" y="0"/>
              <a:ext cx="9363456" cy="438912"/>
            </a:xfrm>
            <a:custGeom>
              <a:avLst/>
              <a:gdLst/>
              <a:ahLst/>
              <a:cxnLst/>
              <a:rect r="r" b="b" t="t" l="l"/>
              <a:pathLst>
                <a:path h="438912" w="9363456">
                  <a:moveTo>
                    <a:pt x="0" y="0"/>
                  </a:moveTo>
                  <a:lnTo>
                    <a:pt x="9363456" y="0"/>
                  </a:lnTo>
                  <a:lnTo>
                    <a:pt x="9363456" y="438912"/>
                  </a:lnTo>
                  <a:lnTo>
                    <a:pt x="0" y="438912"/>
                  </a:lnTo>
                  <a:close/>
                </a:path>
              </a:pathLst>
            </a:custGeom>
            <a:blipFill>
              <a:blip r:embed="rId3">
                <a:alphaModFix amt="0"/>
              </a:blip>
              <a:stretch>
                <a:fillRect l="0" t="-365680" r="0" b="-365680"/>
              </a:stretch>
            </a:blipFill>
          </p:spPr>
        </p:sp>
        <p:sp>
          <p:nvSpPr>
            <p:cNvPr name="TextBox 109" id="109"/>
            <p:cNvSpPr txBox="true"/>
            <p:nvPr/>
          </p:nvSpPr>
          <p:spPr>
            <a:xfrm>
              <a:off x="0" y="-9525"/>
              <a:ext cx="9363456" cy="448437"/>
            </a:xfrm>
            <a:prstGeom prst="rect">
              <a:avLst/>
            </a:prstGeom>
          </p:spPr>
          <p:txBody>
            <a:bodyPr anchor="ctr" rtlCol="false" tIns="0" lIns="0" bIns="0" rIns="0"/>
            <a:lstStyle/>
            <a:p>
              <a:pPr algn="l">
                <a:lnSpc>
                  <a:spcPts val="1962"/>
                </a:lnSpc>
              </a:pPr>
              <a:r>
                <a:rPr lang="en-US" sz="1635" i="true">
                  <a:solidFill>
                    <a:srgbClr val="607184"/>
                  </a:solidFill>
                  <a:latin typeface="Inter Italics"/>
                  <a:ea typeface="Inter Italics"/>
                  <a:cs typeface="Inter Italics"/>
                  <a:sym typeface="Inter Italics"/>
                </a:rPr>
                <a:t>e.g. PA-0107: undisclosed hypertension → Escalate</a:t>
              </a:r>
            </a:p>
          </p:txBody>
        </p:sp>
      </p:grpSp>
      <p:grpSp>
        <p:nvGrpSpPr>
          <p:cNvPr name="Group 110" id="110"/>
          <p:cNvGrpSpPr/>
          <p:nvPr/>
        </p:nvGrpSpPr>
        <p:grpSpPr>
          <a:xfrm rot="0">
            <a:off x="1032891" y="8809863"/>
            <a:ext cx="16231362" cy="622554"/>
            <a:chOff x="0" y="0"/>
            <a:chExt cx="21641816" cy="830072"/>
          </a:xfrm>
        </p:grpSpPr>
        <p:sp>
          <p:nvSpPr>
            <p:cNvPr name="Freeform 111" id="111"/>
            <p:cNvSpPr/>
            <p:nvPr/>
          </p:nvSpPr>
          <p:spPr>
            <a:xfrm flipH="false" flipV="false" rot="0">
              <a:off x="0" y="0"/>
              <a:ext cx="21641815" cy="830072"/>
            </a:xfrm>
            <a:custGeom>
              <a:avLst/>
              <a:gdLst/>
              <a:ahLst/>
              <a:cxnLst/>
              <a:rect r="r" b="b" t="t" l="l"/>
              <a:pathLst>
                <a:path h="830072" w="21641815">
                  <a:moveTo>
                    <a:pt x="0" y="0"/>
                  </a:moveTo>
                  <a:lnTo>
                    <a:pt x="21641815" y="0"/>
                  </a:lnTo>
                  <a:lnTo>
                    <a:pt x="21641815" y="830072"/>
                  </a:lnTo>
                  <a:lnTo>
                    <a:pt x="0" y="830072"/>
                  </a:lnTo>
                  <a:close/>
                </a:path>
              </a:pathLst>
            </a:custGeom>
            <a:solidFill>
              <a:srgbClr val="0D1826"/>
            </a:solidFill>
          </p:spPr>
        </p:sp>
      </p:grpSp>
      <p:grpSp>
        <p:nvGrpSpPr>
          <p:cNvPr name="Group 112" id="112"/>
          <p:cNvGrpSpPr/>
          <p:nvPr/>
        </p:nvGrpSpPr>
        <p:grpSpPr>
          <a:xfrm rot="0">
            <a:off x="1412748" y="8901684"/>
            <a:ext cx="15567660" cy="411480"/>
            <a:chOff x="0" y="0"/>
            <a:chExt cx="20756880" cy="548640"/>
          </a:xfrm>
        </p:grpSpPr>
        <p:sp>
          <p:nvSpPr>
            <p:cNvPr name="Freeform 113" id="113"/>
            <p:cNvSpPr/>
            <p:nvPr/>
          </p:nvSpPr>
          <p:spPr>
            <a:xfrm flipH="false" flipV="false" rot="0">
              <a:off x="0" y="0"/>
              <a:ext cx="20756880" cy="548640"/>
            </a:xfrm>
            <a:custGeom>
              <a:avLst/>
              <a:gdLst/>
              <a:ahLst/>
              <a:cxnLst/>
              <a:rect r="r" b="b" t="t" l="l"/>
              <a:pathLst>
                <a:path h="548640" w="20756880">
                  <a:moveTo>
                    <a:pt x="0" y="0"/>
                  </a:moveTo>
                  <a:lnTo>
                    <a:pt x="20756880" y="0"/>
                  </a:lnTo>
                  <a:lnTo>
                    <a:pt x="20756880" y="548640"/>
                  </a:lnTo>
                  <a:lnTo>
                    <a:pt x="0" y="548640"/>
                  </a:lnTo>
                  <a:close/>
                </a:path>
              </a:pathLst>
            </a:custGeom>
            <a:blipFill>
              <a:blip r:embed="rId3">
                <a:alphaModFix amt="0"/>
              </a:blip>
              <a:stretch>
                <a:fillRect l="0" t="-687183" r="0" b="-687183"/>
              </a:stretch>
            </a:blipFill>
          </p:spPr>
        </p:sp>
        <p:sp>
          <p:nvSpPr>
            <p:cNvPr name="TextBox 114" id="114"/>
            <p:cNvSpPr txBox="true"/>
            <p:nvPr/>
          </p:nvSpPr>
          <p:spPr>
            <a:xfrm>
              <a:off x="0" y="0"/>
              <a:ext cx="20756880" cy="548640"/>
            </a:xfrm>
            <a:prstGeom prst="rect">
              <a:avLst/>
            </a:prstGeom>
          </p:spPr>
          <p:txBody>
            <a:bodyPr anchor="ctr" rtlCol="false" tIns="0" lIns="0" bIns="0" rIns="0"/>
            <a:lstStyle/>
            <a:p>
              <a:pPr algn="l">
                <a:lnSpc>
                  <a:spcPts val="2097"/>
                </a:lnSpc>
              </a:pPr>
              <a:r>
                <a:rPr lang="en-US" sz="1747">
                  <a:solidFill>
                    <a:srgbClr val="F5F8F9"/>
                  </a:solidFill>
                  <a:latin typeface="Inter"/>
                  <a:ea typeface="Inter"/>
                  <a:cs typeface="Inter"/>
                  <a:sym typeface="Inter"/>
                </a:rPr>
                <a:t>Agents never call each other directly: the orchestrator passes one shared state (blackboard) and records every step in an audit trace.</a:t>
              </a:r>
            </a:p>
          </p:txBody>
        </p:sp>
      </p:grpSp>
      <p:grpSp>
        <p:nvGrpSpPr>
          <p:cNvPr name="Group 115" id="115"/>
          <p:cNvGrpSpPr/>
          <p:nvPr/>
        </p:nvGrpSpPr>
        <p:grpSpPr>
          <a:xfrm rot="0">
            <a:off x="946404" y="9758934"/>
            <a:ext cx="9601200" cy="260604"/>
            <a:chOff x="0" y="0"/>
            <a:chExt cx="12801600" cy="347472"/>
          </a:xfrm>
        </p:grpSpPr>
        <p:sp>
          <p:nvSpPr>
            <p:cNvPr name="Freeform 116" id="116"/>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117" id="117"/>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118" id="118"/>
          <p:cNvGrpSpPr/>
          <p:nvPr/>
        </p:nvGrpSpPr>
        <p:grpSpPr>
          <a:xfrm rot="0">
            <a:off x="16733520" y="9745218"/>
            <a:ext cx="548640" cy="301752"/>
            <a:chOff x="0" y="0"/>
            <a:chExt cx="731520" cy="402336"/>
          </a:xfrm>
        </p:grpSpPr>
        <p:sp>
          <p:nvSpPr>
            <p:cNvPr name="Freeform 119" id="119"/>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120" id="120"/>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5</a:t>
              </a:r>
            </a:p>
          </p:txBody>
        </p:sp>
      </p:grpSp>
      <p:sp>
        <p:nvSpPr>
          <p:cNvPr name="Freeform 121" id="121"/>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826"/>
        </a:solidFill>
      </p:bgPr>
    </p:bg>
    <p:spTree>
      <p:nvGrpSpPr>
        <p:cNvPr id="1" name=""/>
        <p:cNvGrpSpPr/>
        <p:nvPr/>
      </p:nvGrpSpPr>
      <p:grpSpPr>
        <a:xfrm>
          <a:off x="0" y="0"/>
          <a:ext cx="0" cy="0"/>
          <a:chOff x="0" y="0"/>
          <a:chExt cx="0" cy="0"/>
        </a:xfrm>
      </p:grpSpPr>
      <p:grpSp>
        <p:nvGrpSpPr>
          <p:cNvPr name="Group 2" id="2"/>
          <p:cNvGrpSpPr/>
          <p:nvPr/>
        </p:nvGrpSpPr>
        <p:grpSpPr>
          <a:xfrm rot="0">
            <a:off x="840867" y="360807"/>
            <a:ext cx="444246" cy="94488"/>
            <a:chOff x="0" y="0"/>
            <a:chExt cx="592328" cy="125984"/>
          </a:xfrm>
        </p:grpSpPr>
        <p:sp>
          <p:nvSpPr>
            <p:cNvPr name="Freeform 3" id="3"/>
            <p:cNvSpPr/>
            <p:nvPr/>
          </p:nvSpPr>
          <p:spPr>
            <a:xfrm flipH="false" flipV="false" rot="0">
              <a:off x="0" y="0"/>
              <a:ext cx="592328" cy="125984"/>
            </a:xfrm>
            <a:custGeom>
              <a:avLst/>
              <a:gdLst/>
              <a:ahLst/>
              <a:cxnLst/>
              <a:rect r="r" b="b" t="t" l="l"/>
              <a:pathLst>
                <a:path h="125984" w="592328">
                  <a:moveTo>
                    <a:pt x="0" y="0"/>
                  </a:moveTo>
                  <a:lnTo>
                    <a:pt x="592328" y="0"/>
                  </a:lnTo>
                  <a:lnTo>
                    <a:pt x="592328" y="125984"/>
                  </a:lnTo>
                  <a:lnTo>
                    <a:pt x="0" y="125984"/>
                  </a:lnTo>
                  <a:close/>
                </a:path>
              </a:pathLst>
            </a:custGeom>
            <a:solidFill>
              <a:srgbClr val="BAF389"/>
            </a:solidFill>
          </p:spPr>
        </p:sp>
      </p:grpSp>
      <p:grpSp>
        <p:nvGrpSpPr>
          <p:cNvPr name="Group 4" id="4"/>
          <p:cNvGrpSpPr/>
          <p:nvPr/>
        </p:nvGrpSpPr>
        <p:grpSpPr>
          <a:xfrm rot="0">
            <a:off x="960120" y="699516"/>
            <a:ext cx="16322040" cy="987552"/>
            <a:chOff x="0" y="0"/>
            <a:chExt cx="21762720" cy="1316736"/>
          </a:xfrm>
        </p:grpSpPr>
        <p:sp>
          <p:nvSpPr>
            <p:cNvPr name="Freeform 5" id="5"/>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6" id="6"/>
            <p:cNvSpPr txBox="true"/>
            <p:nvPr/>
          </p:nvSpPr>
          <p:spPr>
            <a:xfrm>
              <a:off x="0" y="0"/>
              <a:ext cx="21762720" cy="1316736"/>
            </a:xfrm>
            <a:prstGeom prst="rect">
              <a:avLst/>
            </a:prstGeom>
          </p:spPr>
          <p:txBody>
            <a:bodyPr anchor="ctr" rtlCol="false" tIns="0" lIns="0" bIns="0" rIns="0"/>
            <a:lstStyle/>
            <a:p>
              <a:pPr algn="l">
                <a:lnSpc>
                  <a:spcPts val="5220"/>
                </a:lnSpc>
              </a:pPr>
              <a:r>
                <a:rPr lang="en-US" sz="4350" b="true">
                  <a:solidFill>
                    <a:srgbClr val="FFFFFF"/>
                  </a:solidFill>
                  <a:latin typeface="Inter Bold"/>
                  <a:ea typeface="Inter Bold"/>
                  <a:cs typeface="Inter Bold"/>
                  <a:sym typeface="Inter Bold"/>
                </a:rPr>
                <a:t>System architecture</a:t>
              </a:r>
            </a:p>
          </p:txBody>
        </p:sp>
      </p:grpSp>
      <p:sp>
        <p:nvSpPr>
          <p:cNvPr name="AutoShape 7" id="7"/>
          <p:cNvSpPr/>
          <p:nvPr/>
        </p:nvSpPr>
        <p:spPr>
          <a:xfrm rot="3180">
            <a:off x="925068" y="1737170"/>
            <a:ext cx="16460734" cy="0"/>
          </a:xfrm>
          <a:prstGeom prst="line">
            <a:avLst/>
          </a:prstGeom>
          <a:ln cap="rnd" w="9525">
            <a:solidFill>
              <a:srgbClr val="334658"/>
            </a:solidFill>
            <a:prstDash val="solid"/>
            <a:headEnd type="none" len="sm" w="sm"/>
            <a:tailEnd type="none" len="sm" w="sm"/>
          </a:ln>
        </p:spPr>
      </p:sp>
      <p:grpSp>
        <p:nvGrpSpPr>
          <p:cNvPr name="Group 8" id="8"/>
          <p:cNvGrpSpPr/>
          <p:nvPr/>
        </p:nvGrpSpPr>
        <p:grpSpPr>
          <a:xfrm rot="0">
            <a:off x="1061752" y="2049304"/>
            <a:ext cx="16201073" cy="7422832"/>
            <a:chOff x="0" y="0"/>
            <a:chExt cx="21601430" cy="9897110"/>
          </a:xfrm>
        </p:grpSpPr>
        <p:sp>
          <p:nvSpPr>
            <p:cNvPr name="Freeform 9" id="9"/>
            <p:cNvSpPr/>
            <p:nvPr/>
          </p:nvSpPr>
          <p:spPr>
            <a:xfrm flipH="false" flipV="false" rot="0">
              <a:off x="0" y="0"/>
              <a:ext cx="21601430" cy="9897110"/>
            </a:xfrm>
            <a:custGeom>
              <a:avLst/>
              <a:gdLst/>
              <a:ahLst/>
              <a:cxnLst/>
              <a:rect r="r" b="b" t="t" l="l"/>
              <a:pathLst>
                <a:path h="9897110" w="21601430">
                  <a:moveTo>
                    <a:pt x="0" y="146558"/>
                  </a:moveTo>
                  <a:cubicBezTo>
                    <a:pt x="0" y="65659"/>
                    <a:pt x="65659" y="0"/>
                    <a:pt x="146558" y="0"/>
                  </a:cubicBezTo>
                  <a:lnTo>
                    <a:pt x="21454872" y="0"/>
                  </a:lnTo>
                  <a:cubicBezTo>
                    <a:pt x="21535771" y="0"/>
                    <a:pt x="21601430" y="65659"/>
                    <a:pt x="21601430" y="146558"/>
                  </a:cubicBezTo>
                  <a:lnTo>
                    <a:pt x="21601430" y="9750552"/>
                  </a:lnTo>
                  <a:cubicBezTo>
                    <a:pt x="21601430" y="9831451"/>
                    <a:pt x="21535771" y="9897110"/>
                    <a:pt x="21454872" y="9897110"/>
                  </a:cubicBezTo>
                  <a:lnTo>
                    <a:pt x="146558" y="9897110"/>
                  </a:lnTo>
                  <a:cubicBezTo>
                    <a:pt x="65659" y="9897110"/>
                    <a:pt x="0" y="9831451"/>
                    <a:pt x="0" y="9750552"/>
                  </a:cubicBezTo>
                  <a:close/>
                </a:path>
              </a:pathLst>
            </a:custGeom>
            <a:solidFill>
              <a:srgbClr val="FFFFFF"/>
            </a:solidFill>
            <a:ln w="16192" cap="sq">
              <a:solidFill>
                <a:srgbClr val="45606E"/>
              </a:solidFill>
              <a:prstDash val="solid"/>
              <a:miter/>
            </a:ln>
          </p:spPr>
        </p:sp>
      </p:grpSp>
      <p:grpSp>
        <p:nvGrpSpPr>
          <p:cNvPr name="Group 10" id="10"/>
          <p:cNvGrpSpPr/>
          <p:nvPr/>
        </p:nvGrpSpPr>
        <p:grpSpPr>
          <a:xfrm rot="0">
            <a:off x="1220724" y="2208276"/>
            <a:ext cx="15869412" cy="7091172"/>
            <a:chOff x="0" y="0"/>
            <a:chExt cx="21159216" cy="9454896"/>
          </a:xfrm>
        </p:grpSpPr>
        <p:sp>
          <p:nvSpPr>
            <p:cNvPr name="Freeform 11" id="11" descr="/mnt/data/claimpilot_work/media/s06_shape2_1afa596ac8.png"/>
            <p:cNvSpPr/>
            <p:nvPr/>
          </p:nvSpPr>
          <p:spPr>
            <a:xfrm flipH="false" flipV="false" rot="0">
              <a:off x="0" y="0"/>
              <a:ext cx="21159215" cy="9454896"/>
            </a:xfrm>
            <a:custGeom>
              <a:avLst/>
              <a:gdLst/>
              <a:ahLst/>
              <a:cxnLst/>
              <a:rect r="r" b="b" t="t" l="l"/>
              <a:pathLst>
                <a:path h="9454896" w="21159215">
                  <a:moveTo>
                    <a:pt x="0" y="0"/>
                  </a:moveTo>
                  <a:lnTo>
                    <a:pt x="21159215" y="0"/>
                  </a:lnTo>
                  <a:lnTo>
                    <a:pt x="21159215" y="9454896"/>
                  </a:lnTo>
                  <a:lnTo>
                    <a:pt x="0" y="9454896"/>
                  </a:lnTo>
                  <a:lnTo>
                    <a:pt x="0" y="0"/>
                  </a:lnTo>
                  <a:close/>
                </a:path>
              </a:pathLst>
            </a:custGeom>
            <a:blipFill>
              <a:blip r:embed="rId4"/>
              <a:stretch>
                <a:fillRect l="0" t="-12300" r="0" b="-12300"/>
              </a:stretch>
            </a:blipFill>
          </p:spPr>
        </p:sp>
      </p:grpSp>
      <p:grpSp>
        <p:nvGrpSpPr>
          <p:cNvPr name="Group 12" id="12"/>
          <p:cNvGrpSpPr/>
          <p:nvPr/>
        </p:nvGrpSpPr>
        <p:grpSpPr>
          <a:xfrm rot="0">
            <a:off x="946404" y="9758934"/>
            <a:ext cx="9601200" cy="260604"/>
            <a:chOff x="0" y="0"/>
            <a:chExt cx="12801600" cy="347472"/>
          </a:xfrm>
        </p:grpSpPr>
        <p:sp>
          <p:nvSpPr>
            <p:cNvPr name="Freeform 13" id="13"/>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14" id="14"/>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AFC0CB"/>
                  </a:solidFill>
                  <a:latin typeface="Inter"/>
                  <a:ea typeface="Inter"/>
                  <a:cs typeface="Inter"/>
                  <a:sym typeface="Inter"/>
                </a:rPr>
                <a:t>ClaimPilot · CA-3 Agentic AI PoC</a:t>
              </a:r>
            </a:p>
          </p:txBody>
        </p:sp>
      </p:grpSp>
      <p:grpSp>
        <p:nvGrpSpPr>
          <p:cNvPr name="Group 15" id="15"/>
          <p:cNvGrpSpPr/>
          <p:nvPr/>
        </p:nvGrpSpPr>
        <p:grpSpPr>
          <a:xfrm rot="0">
            <a:off x="16733520" y="9745218"/>
            <a:ext cx="548640" cy="301752"/>
            <a:chOff x="0" y="0"/>
            <a:chExt cx="731520" cy="402336"/>
          </a:xfrm>
        </p:grpSpPr>
        <p:sp>
          <p:nvSpPr>
            <p:cNvPr name="Freeform 16" id="16"/>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17" id="17"/>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AFC0CB"/>
                  </a:solidFill>
                  <a:latin typeface="Inter Bold"/>
                  <a:ea typeface="Inter Bold"/>
                  <a:cs typeface="Inter Bold"/>
                  <a:sym typeface="Inter Bold"/>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840867" y="360807"/>
            <a:ext cx="444246" cy="94488"/>
            <a:chOff x="0" y="0"/>
            <a:chExt cx="592328" cy="125984"/>
          </a:xfrm>
        </p:grpSpPr>
        <p:sp>
          <p:nvSpPr>
            <p:cNvPr name="Freeform 3" id="3"/>
            <p:cNvSpPr/>
            <p:nvPr/>
          </p:nvSpPr>
          <p:spPr>
            <a:xfrm flipH="false" flipV="false" rot="0">
              <a:off x="0" y="0"/>
              <a:ext cx="592328" cy="125984"/>
            </a:xfrm>
            <a:custGeom>
              <a:avLst/>
              <a:gdLst/>
              <a:ahLst/>
              <a:cxnLst/>
              <a:rect r="r" b="b" t="t" l="l"/>
              <a:pathLst>
                <a:path h="125984" w="592328">
                  <a:moveTo>
                    <a:pt x="0" y="0"/>
                  </a:moveTo>
                  <a:lnTo>
                    <a:pt x="592328" y="0"/>
                  </a:lnTo>
                  <a:lnTo>
                    <a:pt x="592328" y="125984"/>
                  </a:lnTo>
                  <a:lnTo>
                    <a:pt x="0" y="125984"/>
                  </a:lnTo>
                  <a:close/>
                </a:path>
              </a:pathLst>
            </a:custGeom>
            <a:solidFill>
              <a:srgbClr val="425AEF"/>
            </a:solidFill>
          </p:spPr>
        </p:sp>
      </p:grpSp>
      <p:grpSp>
        <p:nvGrpSpPr>
          <p:cNvPr name="Group 4" id="4"/>
          <p:cNvGrpSpPr/>
          <p:nvPr/>
        </p:nvGrpSpPr>
        <p:grpSpPr>
          <a:xfrm rot="0">
            <a:off x="960120" y="699516"/>
            <a:ext cx="16322040" cy="987552"/>
            <a:chOff x="0" y="0"/>
            <a:chExt cx="21762720" cy="1316736"/>
          </a:xfrm>
        </p:grpSpPr>
        <p:sp>
          <p:nvSpPr>
            <p:cNvPr name="Freeform 5" id="5"/>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6" id="6"/>
            <p:cNvSpPr txBox="true"/>
            <p:nvPr/>
          </p:nvSpPr>
          <p:spPr>
            <a:xfrm>
              <a:off x="0" y="0"/>
              <a:ext cx="21762720" cy="1316736"/>
            </a:xfrm>
            <a:prstGeom prst="rect">
              <a:avLst/>
            </a:prstGeom>
          </p:spPr>
          <p:txBody>
            <a:bodyPr anchor="ctr" rtlCol="false" tIns="0" lIns="0" bIns="0" rIns="0"/>
            <a:lstStyle/>
            <a:p>
              <a:pPr algn="l">
                <a:lnSpc>
                  <a:spcPts val="5220"/>
                </a:lnSpc>
              </a:pPr>
              <a:r>
                <a:rPr lang="en-US" sz="4350" b="true">
                  <a:solidFill>
                    <a:srgbClr val="101E2B"/>
                  </a:solidFill>
                  <a:latin typeface="Inter Bold"/>
                  <a:ea typeface="Inter Bold"/>
                  <a:cs typeface="Inter Bold"/>
                  <a:sym typeface="Inter Bold"/>
                </a:rPr>
                <a:t>Working PoC: ClaimPilot dashboard</a:t>
              </a:r>
            </a:p>
          </p:txBody>
        </p:sp>
      </p:grpSp>
      <p:sp>
        <p:nvSpPr>
          <p:cNvPr name="AutoShape 7" id="7"/>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8" id="8"/>
          <p:cNvGrpSpPr/>
          <p:nvPr/>
        </p:nvGrpSpPr>
        <p:grpSpPr>
          <a:xfrm rot="0">
            <a:off x="1042416" y="2002536"/>
            <a:ext cx="8545068" cy="356616"/>
            <a:chOff x="0" y="0"/>
            <a:chExt cx="11393424" cy="475488"/>
          </a:xfrm>
        </p:grpSpPr>
        <p:sp>
          <p:nvSpPr>
            <p:cNvPr name="Freeform 9" id="9"/>
            <p:cNvSpPr/>
            <p:nvPr/>
          </p:nvSpPr>
          <p:spPr>
            <a:xfrm flipH="false" flipV="false" rot="0">
              <a:off x="0" y="0"/>
              <a:ext cx="11393424" cy="475488"/>
            </a:xfrm>
            <a:custGeom>
              <a:avLst/>
              <a:gdLst/>
              <a:ahLst/>
              <a:cxnLst/>
              <a:rect r="r" b="b" t="t" l="l"/>
              <a:pathLst>
                <a:path h="475488" w="11393424">
                  <a:moveTo>
                    <a:pt x="0" y="0"/>
                  </a:moveTo>
                  <a:lnTo>
                    <a:pt x="11393424" y="0"/>
                  </a:lnTo>
                  <a:lnTo>
                    <a:pt x="11393424" y="475488"/>
                  </a:lnTo>
                  <a:lnTo>
                    <a:pt x="0" y="475488"/>
                  </a:lnTo>
                  <a:close/>
                </a:path>
              </a:pathLst>
            </a:custGeom>
            <a:blipFill>
              <a:blip r:embed="rId3">
                <a:alphaModFix amt="0"/>
              </a:blip>
              <a:stretch>
                <a:fillRect l="0" t="-416891" r="0" b="-416891"/>
              </a:stretch>
            </a:blipFill>
          </p:spPr>
        </p:sp>
        <p:sp>
          <p:nvSpPr>
            <p:cNvPr name="TextBox 10" id="10"/>
            <p:cNvSpPr txBox="true"/>
            <p:nvPr/>
          </p:nvSpPr>
          <p:spPr>
            <a:xfrm>
              <a:off x="0" y="0"/>
              <a:ext cx="11393424" cy="475488"/>
            </a:xfrm>
            <a:prstGeom prst="rect">
              <a:avLst/>
            </a:prstGeom>
          </p:spPr>
          <p:txBody>
            <a:bodyPr anchor="ctr" rtlCol="false" tIns="0" lIns="0" bIns="0" rIns="0"/>
            <a:lstStyle/>
            <a:p>
              <a:pPr algn="l">
                <a:lnSpc>
                  <a:spcPts val="2259"/>
                </a:lnSpc>
              </a:pPr>
              <a:r>
                <a:rPr lang="en-US" sz="1882" b="true">
                  <a:solidFill>
                    <a:srgbClr val="425AEF"/>
                  </a:solidFill>
                  <a:latin typeface="Inter Bold"/>
                  <a:ea typeface="Inter Bold"/>
                  <a:cs typeface="Inter Bold"/>
                  <a:sym typeface="Inter Bold"/>
                </a:rPr>
                <a:t>Escalation to the medical officer (PA-0107)</a:t>
              </a:r>
            </a:p>
          </p:txBody>
        </p:sp>
      </p:grpSp>
      <p:grpSp>
        <p:nvGrpSpPr>
          <p:cNvPr name="Group 11" id="11"/>
          <p:cNvGrpSpPr/>
          <p:nvPr/>
        </p:nvGrpSpPr>
        <p:grpSpPr>
          <a:xfrm rot="0">
            <a:off x="9779508" y="2002536"/>
            <a:ext cx="7447788" cy="356616"/>
            <a:chOff x="0" y="0"/>
            <a:chExt cx="9930384" cy="475488"/>
          </a:xfrm>
        </p:grpSpPr>
        <p:sp>
          <p:nvSpPr>
            <p:cNvPr name="Freeform 12" id="12"/>
            <p:cNvSpPr/>
            <p:nvPr/>
          </p:nvSpPr>
          <p:spPr>
            <a:xfrm flipH="false" flipV="false" rot="0">
              <a:off x="0" y="0"/>
              <a:ext cx="9930384" cy="475488"/>
            </a:xfrm>
            <a:custGeom>
              <a:avLst/>
              <a:gdLst/>
              <a:ahLst/>
              <a:cxnLst/>
              <a:rect r="r" b="b" t="t" l="l"/>
              <a:pathLst>
                <a:path h="475488" w="9930384">
                  <a:moveTo>
                    <a:pt x="0" y="0"/>
                  </a:moveTo>
                  <a:lnTo>
                    <a:pt x="9930384" y="0"/>
                  </a:lnTo>
                  <a:lnTo>
                    <a:pt x="9930384" y="475488"/>
                  </a:lnTo>
                  <a:lnTo>
                    <a:pt x="0" y="475488"/>
                  </a:lnTo>
                  <a:close/>
                </a:path>
              </a:pathLst>
            </a:custGeom>
            <a:blipFill>
              <a:blip r:embed="rId3">
                <a:alphaModFix amt="0"/>
              </a:blip>
              <a:stretch>
                <a:fillRect l="0" t="-356937" r="0" b="-356937"/>
              </a:stretch>
            </a:blipFill>
          </p:spPr>
        </p:sp>
        <p:sp>
          <p:nvSpPr>
            <p:cNvPr name="TextBox 13" id="13"/>
            <p:cNvSpPr txBox="true"/>
            <p:nvPr/>
          </p:nvSpPr>
          <p:spPr>
            <a:xfrm>
              <a:off x="0" y="0"/>
              <a:ext cx="9930384" cy="475488"/>
            </a:xfrm>
            <a:prstGeom prst="rect">
              <a:avLst/>
            </a:prstGeom>
          </p:spPr>
          <p:txBody>
            <a:bodyPr anchor="ctr" rtlCol="false" tIns="0" lIns="0" bIns="0" rIns="0"/>
            <a:lstStyle/>
            <a:p>
              <a:pPr algn="l">
                <a:lnSpc>
                  <a:spcPts val="2259"/>
                </a:lnSpc>
              </a:pPr>
              <a:r>
                <a:rPr lang="en-US" sz="1882" b="true">
                  <a:solidFill>
                    <a:srgbClr val="425AEF"/>
                  </a:solidFill>
                  <a:latin typeface="Inter Bold"/>
                  <a:ea typeface="Inter Bold"/>
                  <a:cs typeface="Inter Bold"/>
                  <a:sym typeface="Inter Bold"/>
                </a:rPr>
                <a:t>Amount waterfall (PA-0103)</a:t>
              </a:r>
            </a:p>
          </p:txBody>
        </p:sp>
      </p:grpSp>
      <p:grpSp>
        <p:nvGrpSpPr>
          <p:cNvPr name="Group 14" id="14"/>
          <p:cNvGrpSpPr/>
          <p:nvPr/>
        </p:nvGrpSpPr>
        <p:grpSpPr>
          <a:xfrm rot="0">
            <a:off x="952024" y="2474500"/>
            <a:ext cx="8712136" cy="4172140"/>
            <a:chOff x="0" y="0"/>
            <a:chExt cx="11616182" cy="5562854"/>
          </a:xfrm>
        </p:grpSpPr>
        <p:sp>
          <p:nvSpPr>
            <p:cNvPr name="Freeform 15" id="15"/>
            <p:cNvSpPr/>
            <p:nvPr/>
          </p:nvSpPr>
          <p:spPr>
            <a:xfrm flipH="false" flipV="false" rot="0">
              <a:off x="0" y="0"/>
              <a:ext cx="11616182" cy="5562854"/>
            </a:xfrm>
            <a:custGeom>
              <a:avLst/>
              <a:gdLst/>
              <a:ahLst/>
              <a:cxnLst/>
              <a:rect r="r" b="b" t="t" l="l"/>
              <a:pathLst>
                <a:path h="5562854" w="11616182">
                  <a:moveTo>
                    <a:pt x="0" y="128524"/>
                  </a:moveTo>
                  <a:cubicBezTo>
                    <a:pt x="0" y="57531"/>
                    <a:pt x="57531" y="0"/>
                    <a:pt x="128524" y="0"/>
                  </a:cubicBezTo>
                  <a:lnTo>
                    <a:pt x="11487658" y="0"/>
                  </a:lnTo>
                  <a:cubicBezTo>
                    <a:pt x="11558651" y="0"/>
                    <a:pt x="11616182" y="57531"/>
                    <a:pt x="11616182" y="128524"/>
                  </a:cubicBezTo>
                  <a:lnTo>
                    <a:pt x="11616182" y="5434330"/>
                  </a:lnTo>
                  <a:cubicBezTo>
                    <a:pt x="11616182" y="5505323"/>
                    <a:pt x="11558651" y="5562854"/>
                    <a:pt x="11487658" y="5562854"/>
                  </a:cubicBezTo>
                  <a:lnTo>
                    <a:pt x="128524" y="5562854"/>
                  </a:lnTo>
                  <a:cubicBezTo>
                    <a:pt x="57531" y="5562854"/>
                    <a:pt x="0" y="5505323"/>
                    <a:pt x="0" y="5434330"/>
                  </a:cubicBezTo>
                  <a:close/>
                </a:path>
              </a:pathLst>
            </a:custGeom>
            <a:solidFill>
              <a:srgbClr val="FFFFFF"/>
            </a:solidFill>
            <a:ln w="16192" cap="sq">
              <a:solidFill>
                <a:srgbClr val="DCE3E6"/>
              </a:solidFill>
              <a:prstDash val="solid"/>
              <a:miter/>
            </a:ln>
          </p:spPr>
        </p:sp>
      </p:grpSp>
      <p:grpSp>
        <p:nvGrpSpPr>
          <p:cNvPr name="Group 16" id="16"/>
          <p:cNvGrpSpPr/>
          <p:nvPr/>
        </p:nvGrpSpPr>
        <p:grpSpPr>
          <a:xfrm rot="0">
            <a:off x="1028700" y="2551176"/>
            <a:ext cx="8558784" cy="4018788"/>
            <a:chOff x="0" y="0"/>
            <a:chExt cx="11411712" cy="5358384"/>
          </a:xfrm>
        </p:grpSpPr>
        <p:sp>
          <p:nvSpPr>
            <p:cNvPr name="Freeform 17" id="17" descr="/mnt/data/claimpilot_work/media/s07_shape7_f9e7317d2c.png"/>
            <p:cNvSpPr/>
            <p:nvPr/>
          </p:nvSpPr>
          <p:spPr>
            <a:xfrm flipH="false" flipV="false" rot="0">
              <a:off x="0" y="0"/>
              <a:ext cx="11411712" cy="5358384"/>
            </a:xfrm>
            <a:custGeom>
              <a:avLst/>
              <a:gdLst/>
              <a:ahLst/>
              <a:cxnLst/>
              <a:rect r="r" b="b" t="t" l="l"/>
              <a:pathLst>
                <a:path h="5358384" w="11411712">
                  <a:moveTo>
                    <a:pt x="0" y="0"/>
                  </a:moveTo>
                  <a:lnTo>
                    <a:pt x="11411712" y="0"/>
                  </a:lnTo>
                  <a:lnTo>
                    <a:pt x="11411712" y="5358384"/>
                  </a:lnTo>
                  <a:lnTo>
                    <a:pt x="0" y="5358384"/>
                  </a:lnTo>
                  <a:lnTo>
                    <a:pt x="0" y="0"/>
                  </a:lnTo>
                  <a:close/>
                </a:path>
              </a:pathLst>
            </a:custGeom>
            <a:blipFill>
              <a:blip r:embed="rId4"/>
              <a:stretch>
                <a:fillRect l="0" t="-1434" r="0" b="-1433"/>
              </a:stretch>
            </a:blipFill>
          </p:spPr>
        </p:sp>
      </p:grpSp>
      <p:grpSp>
        <p:nvGrpSpPr>
          <p:cNvPr name="Group 18" id="18"/>
          <p:cNvGrpSpPr/>
          <p:nvPr/>
        </p:nvGrpSpPr>
        <p:grpSpPr>
          <a:xfrm rot="0">
            <a:off x="9675400" y="2474500"/>
            <a:ext cx="7710868" cy="3582353"/>
            <a:chOff x="0" y="0"/>
            <a:chExt cx="10281158" cy="4776470"/>
          </a:xfrm>
        </p:grpSpPr>
        <p:sp>
          <p:nvSpPr>
            <p:cNvPr name="Freeform 19" id="19"/>
            <p:cNvSpPr/>
            <p:nvPr/>
          </p:nvSpPr>
          <p:spPr>
            <a:xfrm flipH="false" flipV="false" rot="0">
              <a:off x="0" y="0"/>
              <a:ext cx="10281158" cy="4776470"/>
            </a:xfrm>
            <a:custGeom>
              <a:avLst/>
              <a:gdLst/>
              <a:ahLst/>
              <a:cxnLst/>
              <a:rect r="r" b="b" t="t" l="l"/>
              <a:pathLst>
                <a:path h="4776470" w="10281158">
                  <a:moveTo>
                    <a:pt x="0" y="128524"/>
                  </a:moveTo>
                  <a:cubicBezTo>
                    <a:pt x="0" y="57531"/>
                    <a:pt x="57531" y="0"/>
                    <a:pt x="128524" y="0"/>
                  </a:cubicBezTo>
                  <a:lnTo>
                    <a:pt x="10152634" y="0"/>
                  </a:lnTo>
                  <a:cubicBezTo>
                    <a:pt x="10223627" y="0"/>
                    <a:pt x="10281158" y="57531"/>
                    <a:pt x="10281158" y="128524"/>
                  </a:cubicBezTo>
                  <a:lnTo>
                    <a:pt x="10281158" y="4647946"/>
                  </a:lnTo>
                  <a:cubicBezTo>
                    <a:pt x="10281158" y="4718939"/>
                    <a:pt x="10223627" y="4776470"/>
                    <a:pt x="10152634" y="4776470"/>
                  </a:cubicBezTo>
                  <a:lnTo>
                    <a:pt x="128524" y="4776470"/>
                  </a:lnTo>
                  <a:cubicBezTo>
                    <a:pt x="57531" y="4776470"/>
                    <a:pt x="0" y="4718939"/>
                    <a:pt x="0" y="4647946"/>
                  </a:cubicBezTo>
                  <a:close/>
                </a:path>
              </a:pathLst>
            </a:custGeom>
            <a:solidFill>
              <a:srgbClr val="FFFFFF"/>
            </a:solidFill>
            <a:ln w="16192" cap="sq">
              <a:solidFill>
                <a:srgbClr val="DCE3E6"/>
              </a:solidFill>
              <a:prstDash val="solid"/>
              <a:miter/>
            </a:ln>
          </p:spPr>
        </p:sp>
      </p:grpSp>
      <p:grpSp>
        <p:nvGrpSpPr>
          <p:cNvPr name="Group 20" id="20"/>
          <p:cNvGrpSpPr/>
          <p:nvPr/>
        </p:nvGrpSpPr>
        <p:grpSpPr>
          <a:xfrm rot="0">
            <a:off x="9752076" y="2551176"/>
            <a:ext cx="7557516" cy="3429000"/>
            <a:chOff x="0" y="0"/>
            <a:chExt cx="10076688" cy="4572000"/>
          </a:xfrm>
        </p:grpSpPr>
        <p:sp>
          <p:nvSpPr>
            <p:cNvPr name="Freeform 21" id="21" descr="/mnt/data/claimpilot_work/media/s07_shape8_5301d7a431.png"/>
            <p:cNvSpPr/>
            <p:nvPr/>
          </p:nvSpPr>
          <p:spPr>
            <a:xfrm flipH="false" flipV="false" rot="0">
              <a:off x="0" y="0"/>
              <a:ext cx="10076688" cy="4572000"/>
            </a:xfrm>
            <a:custGeom>
              <a:avLst/>
              <a:gdLst/>
              <a:ahLst/>
              <a:cxnLst/>
              <a:rect r="r" b="b" t="t" l="l"/>
              <a:pathLst>
                <a:path h="4572000" w="10076688">
                  <a:moveTo>
                    <a:pt x="0" y="0"/>
                  </a:moveTo>
                  <a:lnTo>
                    <a:pt x="10076688" y="0"/>
                  </a:lnTo>
                  <a:lnTo>
                    <a:pt x="10076688" y="4572000"/>
                  </a:lnTo>
                  <a:lnTo>
                    <a:pt x="0" y="4572000"/>
                  </a:lnTo>
                  <a:lnTo>
                    <a:pt x="0" y="0"/>
                  </a:lnTo>
                  <a:close/>
                </a:path>
              </a:pathLst>
            </a:custGeom>
            <a:blipFill>
              <a:blip r:embed="rId5"/>
              <a:stretch>
                <a:fillRect l="0" t="-172" r="0" b="-172"/>
              </a:stretch>
            </a:blipFill>
          </p:spPr>
        </p:sp>
      </p:grpSp>
      <p:grpSp>
        <p:nvGrpSpPr>
          <p:cNvPr name="Group 22" id="22"/>
          <p:cNvGrpSpPr/>
          <p:nvPr/>
        </p:nvGrpSpPr>
        <p:grpSpPr>
          <a:xfrm rot="0">
            <a:off x="9765792" y="6144768"/>
            <a:ext cx="7584948" cy="342900"/>
            <a:chOff x="0" y="0"/>
            <a:chExt cx="10113264" cy="457200"/>
          </a:xfrm>
        </p:grpSpPr>
        <p:sp>
          <p:nvSpPr>
            <p:cNvPr name="Freeform 23" id="23"/>
            <p:cNvSpPr/>
            <p:nvPr/>
          </p:nvSpPr>
          <p:spPr>
            <a:xfrm flipH="false" flipV="false" rot="0">
              <a:off x="0" y="0"/>
              <a:ext cx="10113264" cy="457200"/>
            </a:xfrm>
            <a:custGeom>
              <a:avLst/>
              <a:gdLst/>
              <a:ahLst/>
              <a:cxnLst/>
              <a:rect r="r" b="b" t="t" l="l"/>
              <a:pathLst>
                <a:path h="457200" w="10113264">
                  <a:moveTo>
                    <a:pt x="0" y="0"/>
                  </a:moveTo>
                  <a:lnTo>
                    <a:pt x="10113264" y="0"/>
                  </a:lnTo>
                  <a:lnTo>
                    <a:pt x="10113264" y="457200"/>
                  </a:lnTo>
                  <a:lnTo>
                    <a:pt x="0" y="457200"/>
                  </a:lnTo>
                  <a:close/>
                </a:path>
              </a:pathLst>
            </a:custGeom>
            <a:blipFill>
              <a:blip r:embed="rId3">
                <a:alphaModFix amt="0"/>
              </a:blip>
              <a:stretch>
                <a:fillRect l="0" t="-381009" r="0" b="-381009"/>
              </a:stretch>
            </a:blipFill>
          </p:spPr>
        </p:sp>
        <p:sp>
          <p:nvSpPr>
            <p:cNvPr name="TextBox 24" id="24"/>
            <p:cNvSpPr txBox="true"/>
            <p:nvPr/>
          </p:nvSpPr>
          <p:spPr>
            <a:xfrm>
              <a:off x="0" y="-9525"/>
              <a:ext cx="10113264" cy="466725"/>
            </a:xfrm>
            <a:prstGeom prst="rect">
              <a:avLst/>
            </a:prstGeom>
          </p:spPr>
          <p:txBody>
            <a:bodyPr anchor="ctr" rtlCol="false" tIns="0" lIns="0" bIns="0" rIns="0"/>
            <a:lstStyle/>
            <a:p>
              <a:pPr algn="l">
                <a:lnSpc>
                  <a:spcPts val="2214"/>
                </a:lnSpc>
              </a:pPr>
              <a:r>
                <a:rPr lang="en-US" sz="1845" b="true">
                  <a:solidFill>
                    <a:srgbClr val="425AEF"/>
                  </a:solidFill>
                  <a:latin typeface="Inter Bold"/>
                  <a:ea typeface="Inter Bold"/>
                  <a:cs typeface="Inter Bold"/>
                  <a:sym typeface="Inter Bold"/>
                </a:rPr>
                <a:t>Agent flow after a Critic revision (PA-0108)</a:t>
              </a:r>
            </a:p>
          </p:txBody>
        </p:sp>
      </p:grpSp>
      <p:grpSp>
        <p:nvGrpSpPr>
          <p:cNvPr name="Group 25" id="25"/>
          <p:cNvGrpSpPr/>
          <p:nvPr/>
        </p:nvGrpSpPr>
        <p:grpSpPr>
          <a:xfrm rot="0">
            <a:off x="9675400" y="6603016"/>
            <a:ext cx="7710868" cy="1675828"/>
            <a:chOff x="0" y="0"/>
            <a:chExt cx="10281158" cy="2234438"/>
          </a:xfrm>
        </p:grpSpPr>
        <p:sp>
          <p:nvSpPr>
            <p:cNvPr name="Freeform 26" id="26"/>
            <p:cNvSpPr/>
            <p:nvPr/>
          </p:nvSpPr>
          <p:spPr>
            <a:xfrm flipH="false" flipV="false" rot="0">
              <a:off x="0" y="0"/>
              <a:ext cx="10281158" cy="2234438"/>
            </a:xfrm>
            <a:custGeom>
              <a:avLst/>
              <a:gdLst/>
              <a:ahLst/>
              <a:cxnLst/>
              <a:rect r="r" b="b" t="t" l="l"/>
              <a:pathLst>
                <a:path h="2234438" w="10281158">
                  <a:moveTo>
                    <a:pt x="0" y="129286"/>
                  </a:moveTo>
                  <a:cubicBezTo>
                    <a:pt x="0" y="57912"/>
                    <a:pt x="57912" y="0"/>
                    <a:pt x="129286" y="0"/>
                  </a:cubicBezTo>
                  <a:lnTo>
                    <a:pt x="10151872" y="0"/>
                  </a:lnTo>
                  <a:cubicBezTo>
                    <a:pt x="10223246" y="0"/>
                    <a:pt x="10281158" y="57912"/>
                    <a:pt x="10281158" y="129286"/>
                  </a:cubicBezTo>
                  <a:lnTo>
                    <a:pt x="10281158" y="2105152"/>
                  </a:lnTo>
                  <a:cubicBezTo>
                    <a:pt x="10281158" y="2176526"/>
                    <a:pt x="10223246" y="2234438"/>
                    <a:pt x="10151872" y="2234438"/>
                  </a:cubicBezTo>
                  <a:lnTo>
                    <a:pt x="129286" y="2234438"/>
                  </a:lnTo>
                  <a:cubicBezTo>
                    <a:pt x="57912" y="2234438"/>
                    <a:pt x="0" y="2176526"/>
                    <a:pt x="0" y="2105152"/>
                  </a:cubicBezTo>
                  <a:close/>
                </a:path>
              </a:pathLst>
            </a:custGeom>
            <a:solidFill>
              <a:srgbClr val="FFFFFF"/>
            </a:solidFill>
            <a:ln w="16192" cap="sq">
              <a:solidFill>
                <a:srgbClr val="DCE3E6"/>
              </a:solidFill>
              <a:prstDash val="solid"/>
              <a:miter/>
            </a:ln>
          </p:spPr>
        </p:sp>
      </p:grpSp>
      <p:grpSp>
        <p:nvGrpSpPr>
          <p:cNvPr name="Group 27" id="27"/>
          <p:cNvGrpSpPr/>
          <p:nvPr/>
        </p:nvGrpSpPr>
        <p:grpSpPr>
          <a:xfrm rot="0">
            <a:off x="9752076" y="6679692"/>
            <a:ext cx="7557516" cy="1522476"/>
            <a:chOff x="0" y="0"/>
            <a:chExt cx="10076688" cy="2029968"/>
          </a:xfrm>
        </p:grpSpPr>
        <p:sp>
          <p:nvSpPr>
            <p:cNvPr name="Freeform 28" id="28" descr="/mnt/data/claimpilot_work/media/s07_shape9_0112eabf56.png"/>
            <p:cNvSpPr/>
            <p:nvPr/>
          </p:nvSpPr>
          <p:spPr>
            <a:xfrm flipH="false" flipV="false" rot="0">
              <a:off x="0" y="0"/>
              <a:ext cx="10076688" cy="2029968"/>
            </a:xfrm>
            <a:custGeom>
              <a:avLst/>
              <a:gdLst/>
              <a:ahLst/>
              <a:cxnLst/>
              <a:rect r="r" b="b" t="t" l="l"/>
              <a:pathLst>
                <a:path h="2029968" w="10076688">
                  <a:moveTo>
                    <a:pt x="0" y="0"/>
                  </a:moveTo>
                  <a:lnTo>
                    <a:pt x="10076688" y="0"/>
                  </a:lnTo>
                  <a:lnTo>
                    <a:pt x="10076688" y="2029968"/>
                  </a:lnTo>
                  <a:lnTo>
                    <a:pt x="0" y="2029968"/>
                  </a:lnTo>
                  <a:lnTo>
                    <a:pt x="0" y="0"/>
                  </a:lnTo>
                  <a:close/>
                </a:path>
              </a:pathLst>
            </a:custGeom>
            <a:blipFill>
              <a:blip r:embed="rId6"/>
              <a:stretch>
                <a:fillRect l="0" t="-2145" r="0" b="-2145"/>
              </a:stretch>
            </a:blipFill>
          </p:spPr>
        </p:sp>
      </p:grpSp>
      <p:grpSp>
        <p:nvGrpSpPr>
          <p:cNvPr name="Group 29" id="29"/>
          <p:cNvGrpSpPr/>
          <p:nvPr/>
        </p:nvGrpSpPr>
        <p:grpSpPr>
          <a:xfrm rot="0">
            <a:off x="978027" y="6875907"/>
            <a:ext cx="8632698" cy="2323338"/>
            <a:chOff x="0" y="0"/>
            <a:chExt cx="11510264" cy="3097784"/>
          </a:xfrm>
        </p:grpSpPr>
        <p:sp>
          <p:nvSpPr>
            <p:cNvPr name="Freeform 30" id="30"/>
            <p:cNvSpPr/>
            <p:nvPr/>
          </p:nvSpPr>
          <p:spPr>
            <a:xfrm flipH="false" flipV="false" rot="0">
              <a:off x="0" y="0"/>
              <a:ext cx="11510264" cy="3097784"/>
            </a:xfrm>
            <a:custGeom>
              <a:avLst/>
              <a:gdLst/>
              <a:ahLst/>
              <a:cxnLst/>
              <a:rect r="r" b="b" t="t" l="l"/>
              <a:pathLst>
                <a:path h="3097784" w="11510264">
                  <a:moveTo>
                    <a:pt x="0" y="0"/>
                  </a:moveTo>
                  <a:lnTo>
                    <a:pt x="11510264" y="0"/>
                  </a:lnTo>
                  <a:lnTo>
                    <a:pt x="11510264" y="3097784"/>
                  </a:lnTo>
                  <a:lnTo>
                    <a:pt x="0" y="3097784"/>
                  </a:lnTo>
                  <a:close/>
                </a:path>
              </a:pathLst>
            </a:custGeom>
            <a:solidFill>
              <a:srgbClr val="0D1826"/>
            </a:solidFill>
          </p:spPr>
        </p:sp>
      </p:grpSp>
      <p:grpSp>
        <p:nvGrpSpPr>
          <p:cNvPr name="Group 31" id="31"/>
          <p:cNvGrpSpPr/>
          <p:nvPr/>
        </p:nvGrpSpPr>
        <p:grpSpPr>
          <a:xfrm rot="0">
            <a:off x="1303020" y="7077456"/>
            <a:ext cx="7955280" cy="384048"/>
            <a:chOff x="0" y="0"/>
            <a:chExt cx="10607040" cy="512064"/>
          </a:xfrm>
        </p:grpSpPr>
        <p:sp>
          <p:nvSpPr>
            <p:cNvPr name="Freeform 32" id="32"/>
            <p:cNvSpPr/>
            <p:nvPr/>
          </p:nvSpPr>
          <p:spPr>
            <a:xfrm flipH="false" flipV="false" rot="0">
              <a:off x="0" y="0"/>
              <a:ext cx="10607040" cy="512064"/>
            </a:xfrm>
            <a:custGeom>
              <a:avLst/>
              <a:gdLst/>
              <a:ahLst/>
              <a:cxnLst/>
              <a:rect r="r" b="b" t="t" l="l"/>
              <a:pathLst>
                <a:path h="512064" w="10607040">
                  <a:moveTo>
                    <a:pt x="0" y="0"/>
                  </a:moveTo>
                  <a:lnTo>
                    <a:pt x="10607040" y="0"/>
                  </a:lnTo>
                  <a:lnTo>
                    <a:pt x="10607040" y="512064"/>
                  </a:lnTo>
                  <a:lnTo>
                    <a:pt x="0" y="512064"/>
                  </a:lnTo>
                  <a:close/>
                </a:path>
              </a:pathLst>
            </a:custGeom>
            <a:blipFill>
              <a:blip r:embed="rId3">
                <a:alphaModFix amt="0"/>
              </a:blip>
              <a:stretch>
                <a:fillRect l="0" t="-353618" r="0" b="-353618"/>
              </a:stretch>
            </a:blipFill>
          </p:spPr>
        </p:sp>
        <p:sp>
          <p:nvSpPr>
            <p:cNvPr name="TextBox 33" id="33"/>
            <p:cNvSpPr txBox="true"/>
            <p:nvPr/>
          </p:nvSpPr>
          <p:spPr>
            <a:xfrm>
              <a:off x="0" y="0"/>
              <a:ext cx="10607040" cy="512064"/>
            </a:xfrm>
            <a:prstGeom prst="rect">
              <a:avLst/>
            </a:prstGeom>
          </p:spPr>
          <p:txBody>
            <a:bodyPr anchor="ctr" rtlCol="false" tIns="0" lIns="0" bIns="0" rIns="0"/>
            <a:lstStyle/>
            <a:p>
              <a:pPr algn="l">
                <a:lnSpc>
                  <a:spcPts val="2592"/>
                </a:lnSpc>
              </a:pPr>
              <a:r>
                <a:rPr lang="en-US" sz="2160" b="true">
                  <a:solidFill>
                    <a:srgbClr val="BAF389"/>
                  </a:solidFill>
                  <a:latin typeface="Inter Bold"/>
                  <a:ea typeface="Inter Bold"/>
                  <a:cs typeface="Inter Bold"/>
                  <a:sym typeface="Inter Bold"/>
                </a:rPr>
                <a:t>Demo script</a:t>
              </a:r>
            </a:p>
          </p:txBody>
        </p:sp>
      </p:grpSp>
      <p:sp>
        <p:nvSpPr>
          <p:cNvPr name="TextBox 34" id="34"/>
          <p:cNvSpPr txBox="true"/>
          <p:nvPr/>
        </p:nvSpPr>
        <p:spPr>
          <a:xfrm rot="0">
            <a:off x="1303020" y="7639812"/>
            <a:ext cx="7955280" cy="1412748"/>
          </a:xfrm>
          <a:prstGeom prst="rect">
            <a:avLst/>
          </a:prstGeom>
        </p:spPr>
        <p:txBody>
          <a:bodyPr anchor="t" rtlCol="false" tIns="0" lIns="0" bIns="0" rIns="0">
            <a:spAutoFit/>
          </a:bodyPr>
          <a:lstStyle/>
          <a:p>
            <a:pPr algn="l">
              <a:lnSpc>
                <a:spcPts val="2088"/>
              </a:lnSpc>
            </a:pPr>
            <a:r>
              <a:rPr lang="en-US" sz="1739">
                <a:solidFill>
                  <a:srgbClr val="FFFFFF"/>
                </a:solidFill>
                <a:latin typeface="Inter"/>
                <a:ea typeface="Inter"/>
                <a:cs typeface="Inter"/>
                <a:sym typeface="Inter"/>
              </a:rPr>
              <a:t>PA-0103 knee replacement: room-rent ratio → sub-limit → 20% co-pay</a:t>
            </a:r>
          </a:p>
          <a:p>
            <a:pPr algn="l">
              <a:lnSpc>
                <a:spcPts val="2088"/>
              </a:lnSpc>
            </a:pPr>
            <a:r>
              <a:rPr lang="en-US" sz="1739">
                <a:solidFill>
                  <a:srgbClr val="FFFFFF"/>
                </a:solidFill>
                <a:latin typeface="Inter"/>
                <a:ea typeface="Inter"/>
                <a:cs typeface="Inter"/>
                <a:sym typeface="Inter"/>
              </a:rPr>
              <a:t>PA-0108 gallbladder: Critic finds 73% overbilling, sends back, amount capped</a:t>
            </a:r>
          </a:p>
          <a:p>
            <a:pPr algn="l">
              <a:lnSpc>
                <a:spcPts val="2088"/>
              </a:lnSpc>
            </a:pPr>
            <a:r>
              <a:rPr lang="en-US" sz="1739">
                <a:solidFill>
                  <a:srgbClr val="FFFFFF"/>
                </a:solidFill>
                <a:latin typeface="Inter"/>
                <a:ea typeface="Inter"/>
                <a:cs typeface="Inter"/>
                <a:sym typeface="Inter"/>
              </a:rPr>
              <a:t>PA-0107 angioplasty: undisclosed hypertension → escalated to a human</a:t>
            </a:r>
          </a:p>
          <a:p>
            <a:pPr algn="l">
              <a:lnSpc>
                <a:spcPts val="2088"/>
              </a:lnSpc>
            </a:pPr>
            <a:r>
              <a:rPr lang="en-US" sz="1739">
                <a:solidFill>
                  <a:srgbClr val="FFFFFF"/>
                </a:solidFill>
                <a:latin typeface="Inter"/>
                <a:ea typeface="Inter"/>
                <a:cs typeface="Inter"/>
                <a:sym typeface="Inter"/>
              </a:rPr>
              <a:t>Batch tab: 12/12 decisions, 0 wrong decisions sent</a:t>
            </a:r>
          </a:p>
        </p:txBody>
      </p:sp>
      <p:grpSp>
        <p:nvGrpSpPr>
          <p:cNvPr name="Group 35" id="35"/>
          <p:cNvGrpSpPr/>
          <p:nvPr/>
        </p:nvGrpSpPr>
        <p:grpSpPr>
          <a:xfrm rot="0">
            <a:off x="946404" y="9758934"/>
            <a:ext cx="9601200" cy="260604"/>
            <a:chOff x="0" y="0"/>
            <a:chExt cx="12801600" cy="347472"/>
          </a:xfrm>
        </p:grpSpPr>
        <p:sp>
          <p:nvSpPr>
            <p:cNvPr name="Freeform 36" id="36"/>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37" id="37"/>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38" id="38"/>
          <p:cNvGrpSpPr/>
          <p:nvPr/>
        </p:nvGrpSpPr>
        <p:grpSpPr>
          <a:xfrm rot="0">
            <a:off x="16733520" y="9745218"/>
            <a:ext cx="548640" cy="301752"/>
            <a:chOff x="0" y="0"/>
            <a:chExt cx="731520" cy="402336"/>
          </a:xfrm>
        </p:grpSpPr>
        <p:sp>
          <p:nvSpPr>
            <p:cNvPr name="Freeform 39" id="39"/>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40" id="40"/>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840867" y="360807"/>
            <a:ext cx="444246" cy="94488"/>
            <a:chOff x="0" y="0"/>
            <a:chExt cx="592328" cy="125984"/>
          </a:xfrm>
        </p:grpSpPr>
        <p:sp>
          <p:nvSpPr>
            <p:cNvPr name="Freeform 3" id="3"/>
            <p:cNvSpPr/>
            <p:nvPr/>
          </p:nvSpPr>
          <p:spPr>
            <a:xfrm flipH="false" flipV="false" rot="0">
              <a:off x="0" y="0"/>
              <a:ext cx="592328" cy="125984"/>
            </a:xfrm>
            <a:custGeom>
              <a:avLst/>
              <a:gdLst/>
              <a:ahLst/>
              <a:cxnLst/>
              <a:rect r="r" b="b" t="t" l="l"/>
              <a:pathLst>
                <a:path h="125984" w="592328">
                  <a:moveTo>
                    <a:pt x="0" y="0"/>
                  </a:moveTo>
                  <a:lnTo>
                    <a:pt x="592328" y="0"/>
                  </a:lnTo>
                  <a:lnTo>
                    <a:pt x="592328" y="125984"/>
                  </a:lnTo>
                  <a:lnTo>
                    <a:pt x="0" y="125984"/>
                  </a:lnTo>
                  <a:close/>
                </a:path>
              </a:pathLst>
            </a:custGeom>
            <a:solidFill>
              <a:srgbClr val="425AEF"/>
            </a:solidFill>
          </p:spPr>
        </p:sp>
      </p:grpSp>
      <p:grpSp>
        <p:nvGrpSpPr>
          <p:cNvPr name="Group 4" id="4"/>
          <p:cNvGrpSpPr/>
          <p:nvPr/>
        </p:nvGrpSpPr>
        <p:grpSpPr>
          <a:xfrm rot="0">
            <a:off x="960120" y="699516"/>
            <a:ext cx="16322040" cy="987552"/>
            <a:chOff x="0" y="0"/>
            <a:chExt cx="21762720" cy="1316736"/>
          </a:xfrm>
        </p:grpSpPr>
        <p:sp>
          <p:nvSpPr>
            <p:cNvPr name="Freeform 5" id="5"/>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6" id="6"/>
            <p:cNvSpPr txBox="true"/>
            <p:nvPr/>
          </p:nvSpPr>
          <p:spPr>
            <a:xfrm>
              <a:off x="0" y="0"/>
              <a:ext cx="21762720" cy="1316736"/>
            </a:xfrm>
            <a:prstGeom prst="rect">
              <a:avLst/>
            </a:prstGeom>
          </p:spPr>
          <p:txBody>
            <a:bodyPr anchor="ctr" rtlCol="false" tIns="0" lIns="0" bIns="0" rIns="0"/>
            <a:lstStyle/>
            <a:p>
              <a:pPr algn="l">
                <a:lnSpc>
                  <a:spcPts val="5220"/>
                </a:lnSpc>
              </a:pPr>
              <a:r>
                <a:rPr lang="en-US" sz="4350" b="true">
                  <a:solidFill>
                    <a:srgbClr val="101E2B"/>
                  </a:solidFill>
                  <a:latin typeface="Inter Bold"/>
                  <a:ea typeface="Inter Bold"/>
                  <a:cs typeface="Inter Bold"/>
                  <a:sym typeface="Inter Bold"/>
                </a:rPr>
                <a:t>Output validation: how we know it is right</a:t>
              </a:r>
            </a:p>
          </p:txBody>
        </p:sp>
      </p:grpSp>
      <p:sp>
        <p:nvSpPr>
          <p:cNvPr name="AutoShape 7" id="7"/>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8" id="8"/>
          <p:cNvGrpSpPr/>
          <p:nvPr/>
        </p:nvGrpSpPr>
        <p:grpSpPr>
          <a:xfrm rot="0">
            <a:off x="1020604" y="2117884"/>
            <a:ext cx="9576244" cy="1579817"/>
            <a:chOff x="0" y="0"/>
            <a:chExt cx="12768326" cy="2106422"/>
          </a:xfrm>
        </p:grpSpPr>
        <p:sp>
          <p:nvSpPr>
            <p:cNvPr name="Freeform 9" id="9"/>
            <p:cNvSpPr/>
            <p:nvPr/>
          </p:nvSpPr>
          <p:spPr>
            <a:xfrm flipH="false" flipV="false" rot="0">
              <a:off x="0" y="0"/>
              <a:ext cx="12768326" cy="2106422"/>
            </a:xfrm>
            <a:custGeom>
              <a:avLst/>
              <a:gdLst/>
              <a:ahLst/>
              <a:cxnLst/>
              <a:rect r="r" b="b" t="t" l="l"/>
              <a:pathLst>
                <a:path h="2106422" w="12768326">
                  <a:moveTo>
                    <a:pt x="0" y="147828"/>
                  </a:moveTo>
                  <a:cubicBezTo>
                    <a:pt x="0" y="66167"/>
                    <a:pt x="66167" y="0"/>
                    <a:pt x="147828" y="0"/>
                  </a:cubicBezTo>
                  <a:lnTo>
                    <a:pt x="12620498" y="0"/>
                  </a:lnTo>
                  <a:cubicBezTo>
                    <a:pt x="12702159" y="0"/>
                    <a:pt x="12768326" y="66167"/>
                    <a:pt x="12768326" y="147828"/>
                  </a:cubicBezTo>
                  <a:lnTo>
                    <a:pt x="12768326" y="1958594"/>
                  </a:lnTo>
                  <a:cubicBezTo>
                    <a:pt x="12768326" y="2040255"/>
                    <a:pt x="12702159" y="2106422"/>
                    <a:pt x="12620498" y="2106422"/>
                  </a:cubicBezTo>
                  <a:lnTo>
                    <a:pt x="147828" y="2106422"/>
                  </a:lnTo>
                  <a:cubicBezTo>
                    <a:pt x="66167" y="2106422"/>
                    <a:pt x="0" y="2040255"/>
                    <a:pt x="0" y="1958594"/>
                  </a:cubicBezTo>
                  <a:close/>
                </a:path>
              </a:pathLst>
            </a:custGeom>
            <a:solidFill>
              <a:srgbClr val="FFFFFF"/>
            </a:solidFill>
            <a:ln w="16192" cap="sq">
              <a:solidFill>
                <a:srgbClr val="DCE3E6"/>
              </a:solidFill>
              <a:prstDash val="solid"/>
              <a:miter/>
            </a:ln>
          </p:spPr>
        </p:sp>
      </p:grpSp>
      <p:grpSp>
        <p:nvGrpSpPr>
          <p:cNvPr name="Group 10" id="10"/>
          <p:cNvGrpSpPr/>
          <p:nvPr/>
        </p:nvGrpSpPr>
        <p:grpSpPr>
          <a:xfrm rot="0">
            <a:off x="1019175" y="2116455"/>
            <a:ext cx="121920" cy="1582674"/>
            <a:chOff x="0" y="0"/>
            <a:chExt cx="162560" cy="2110232"/>
          </a:xfrm>
        </p:grpSpPr>
        <p:sp>
          <p:nvSpPr>
            <p:cNvPr name="Freeform 11" id="11"/>
            <p:cNvSpPr/>
            <p:nvPr/>
          </p:nvSpPr>
          <p:spPr>
            <a:xfrm flipH="false" flipV="false" rot="0">
              <a:off x="0" y="0"/>
              <a:ext cx="162560" cy="2110232"/>
            </a:xfrm>
            <a:custGeom>
              <a:avLst/>
              <a:gdLst/>
              <a:ahLst/>
              <a:cxnLst/>
              <a:rect r="r" b="b" t="t" l="l"/>
              <a:pathLst>
                <a:path h="2110232" w="162560">
                  <a:moveTo>
                    <a:pt x="0" y="0"/>
                  </a:moveTo>
                  <a:lnTo>
                    <a:pt x="162560" y="0"/>
                  </a:lnTo>
                  <a:lnTo>
                    <a:pt x="162560" y="2110232"/>
                  </a:lnTo>
                  <a:lnTo>
                    <a:pt x="0" y="2110232"/>
                  </a:lnTo>
                  <a:close/>
                </a:path>
              </a:pathLst>
            </a:custGeom>
            <a:solidFill>
              <a:srgbClr val="425AEF"/>
            </a:solidFill>
          </p:spPr>
        </p:sp>
      </p:grpSp>
      <p:grpSp>
        <p:nvGrpSpPr>
          <p:cNvPr name="Group 12" id="12"/>
          <p:cNvGrpSpPr/>
          <p:nvPr/>
        </p:nvGrpSpPr>
        <p:grpSpPr>
          <a:xfrm rot="0">
            <a:off x="1403223" y="2500503"/>
            <a:ext cx="553974" cy="553974"/>
            <a:chOff x="0" y="0"/>
            <a:chExt cx="738632" cy="738632"/>
          </a:xfrm>
        </p:grpSpPr>
        <p:sp>
          <p:nvSpPr>
            <p:cNvPr name="Freeform 13" id="13"/>
            <p:cNvSpPr/>
            <p:nvPr/>
          </p:nvSpPr>
          <p:spPr>
            <a:xfrm flipH="false" flipV="false" rot="0">
              <a:off x="0" y="0"/>
              <a:ext cx="738632" cy="738632"/>
            </a:xfrm>
            <a:custGeom>
              <a:avLst/>
              <a:gdLst/>
              <a:ahLst/>
              <a:cxnLst/>
              <a:rect r="r" b="b" t="t" l="l"/>
              <a:pathLst>
                <a:path h="738632" w="738632">
                  <a:moveTo>
                    <a:pt x="0" y="369316"/>
                  </a:moveTo>
                  <a:cubicBezTo>
                    <a:pt x="0" y="165354"/>
                    <a:pt x="165354" y="0"/>
                    <a:pt x="369316" y="0"/>
                  </a:cubicBezTo>
                  <a:cubicBezTo>
                    <a:pt x="573278" y="0"/>
                    <a:pt x="738632" y="165354"/>
                    <a:pt x="738632" y="369316"/>
                  </a:cubicBezTo>
                  <a:cubicBezTo>
                    <a:pt x="738632" y="573278"/>
                    <a:pt x="573278" y="738632"/>
                    <a:pt x="369316" y="738632"/>
                  </a:cubicBezTo>
                  <a:cubicBezTo>
                    <a:pt x="165354" y="738632"/>
                    <a:pt x="0" y="573278"/>
                    <a:pt x="0" y="369316"/>
                  </a:cubicBezTo>
                  <a:close/>
                </a:path>
              </a:pathLst>
            </a:custGeom>
            <a:solidFill>
              <a:srgbClr val="E9EDFF"/>
            </a:solidFill>
          </p:spPr>
        </p:sp>
      </p:grpSp>
      <p:grpSp>
        <p:nvGrpSpPr>
          <p:cNvPr name="Group 14" id="14"/>
          <p:cNvGrpSpPr/>
          <p:nvPr/>
        </p:nvGrpSpPr>
        <p:grpSpPr>
          <a:xfrm rot="0">
            <a:off x="1602105" y="2699385"/>
            <a:ext cx="156210" cy="156210"/>
            <a:chOff x="0" y="0"/>
            <a:chExt cx="208280" cy="208280"/>
          </a:xfrm>
        </p:grpSpPr>
        <p:sp>
          <p:nvSpPr>
            <p:cNvPr name="Freeform 15" id="1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425AEF"/>
            </a:solidFill>
          </p:spPr>
        </p:sp>
      </p:grpSp>
      <p:grpSp>
        <p:nvGrpSpPr>
          <p:cNvPr name="Group 16" id="16"/>
          <p:cNvGrpSpPr/>
          <p:nvPr/>
        </p:nvGrpSpPr>
        <p:grpSpPr>
          <a:xfrm rot="0">
            <a:off x="2263140" y="2318004"/>
            <a:ext cx="7941564" cy="480060"/>
            <a:chOff x="0" y="0"/>
            <a:chExt cx="10588752" cy="640080"/>
          </a:xfrm>
        </p:grpSpPr>
        <p:sp>
          <p:nvSpPr>
            <p:cNvPr name="Freeform 17" id="17"/>
            <p:cNvSpPr/>
            <p:nvPr/>
          </p:nvSpPr>
          <p:spPr>
            <a:xfrm flipH="false" flipV="false" rot="0">
              <a:off x="0" y="0"/>
              <a:ext cx="10588752" cy="640080"/>
            </a:xfrm>
            <a:custGeom>
              <a:avLst/>
              <a:gdLst/>
              <a:ahLst/>
              <a:cxnLst/>
              <a:rect r="r" b="b" t="t" l="l"/>
              <a:pathLst>
                <a:path h="640080" w="10588752">
                  <a:moveTo>
                    <a:pt x="0" y="0"/>
                  </a:moveTo>
                  <a:lnTo>
                    <a:pt x="10588752" y="0"/>
                  </a:lnTo>
                  <a:lnTo>
                    <a:pt x="10588752" y="640080"/>
                  </a:lnTo>
                  <a:lnTo>
                    <a:pt x="0" y="640080"/>
                  </a:lnTo>
                  <a:close/>
                </a:path>
              </a:pathLst>
            </a:custGeom>
            <a:blipFill>
              <a:blip r:embed="rId3">
                <a:alphaModFix amt="0"/>
              </a:blip>
              <a:stretch>
                <a:fillRect l="0" t="-272338" r="0" b="-272338"/>
              </a:stretch>
            </a:blipFill>
          </p:spPr>
        </p:sp>
        <p:sp>
          <p:nvSpPr>
            <p:cNvPr name="TextBox 18" id="18"/>
            <p:cNvSpPr txBox="true"/>
            <p:nvPr/>
          </p:nvSpPr>
          <p:spPr>
            <a:xfrm>
              <a:off x="0" y="-9525"/>
              <a:ext cx="10588752" cy="649605"/>
            </a:xfrm>
            <a:prstGeom prst="rect">
              <a:avLst/>
            </a:prstGeom>
          </p:spPr>
          <p:txBody>
            <a:bodyPr anchor="ctr" rtlCol="false" tIns="0" lIns="0" bIns="0" rIns="0"/>
            <a:lstStyle/>
            <a:p>
              <a:pPr algn="l">
                <a:lnSpc>
                  <a:spcPts val="2700"/>
                </a:lnSpc>
              </a:pPr>
              <a:r>
                <a:rPr lang="en-US" sz="2250" b="true">
                  <a:solidFill>
                    <a:srgbClr val="101E2B"/>
                  </a:solidFill>
                  <a:latin typeface="Inter Bold"/>
                  <a:ea typeface="Inter Bold"/>
                  <a:cs typeface="Inter Bold"/>
                  <a:sym typeface="Inter Bold"/>
                </a:rPr>
                <a:t>Labelled ground truth</a:t>
              </a:r>
            </a:p>
          </p:txBody>
        </p:sp>
      </p:grpSp>
      <p:sp>
        <p:nvSpPr>
          <p:cNvPr name="TextBox 19" id="19"/>
          <p:cNvSpPr txBox="true"/>
          <p:nvPr/>
        </p:nvSpPr>
        <p:spPr>
          <a:xfrm rot="0">
            <a:off x="2263140" y="2907792"/>
            <a:ext cx="7872984" cy="672084"/>
          </a:xfrm>
          <a:prstGeom prst="rect">
            <a:avLst/>
          </a:prstGeom>
        </p:spPr>
        <p:txBody>
          <a:bodyPr anchor="t" rtlCol="false" tIns="0" lIns="0" bIns="0" rIns="0">
            <a:spAutoFit/>
          </a:bodyPr>
          <a:lstStyle/>
          <a:p>
            <a:pPr algn="l">
              <a:lnSpc>
                <a:spcPts val="2232"/>
              </a:lnSpc>
            </a:pPr>
            <a:r>
              <a:rPr lang="en-US" sz="1860">
                <a:solidFill>
                  <a:srgbClr val="607184"/>
                </a:solidFill>
                <a:latin typeface="Inter"/>
                <a:ea typeface="Inter"/>
                <a:cs typeface="Inter"/>
                <a:sym typeface="Inter"/>
              </a:rPr>
              <a:t>12 synthetic cases, each hand-labelled with the expected decision; 6 with a hand-calculated amount</a:t>
            </a:r>
          </a:p>
        </p:txBody>
      </p:sp>
      <p:grpSp>
        <p:nvGrpSpPr>
          <p:cNvPr name="Group 20" id="20"/>
          <p:cNvGrpSpPr/>
          <p:nvPr/>
        </p:nvGrpSpPr>
        <p:grpSpPr>
          <a:xfrm rot="0">
            <a:off x="1020604" y="3887248"/>
            <a:ext cx="9576244" cy="1579817"/>
            <a:chOff x="0" y="0"/>
            <a:chExt cx="12768326" cy="2106422"/>
          </a:xfrm>
        </p:grpSpPr>
        <p:sp>
          <p:nvSpPr>
            <p:cNvPr name="Freeform 21" id="21"/>
            <p:cNvSpPr/>
            <p:nvPr/>
          </p:nvSpPr>
          <p:spPr>
            <a:xfrm flipH="false" flipV="false" rot="0">
              <a:off x="0" y="0"/>
              <a:ext cx="12768326" cy="2106422"/>
            </a:xfrm>
            <a:custGeom>
              <a:avLst/>
              <a:gdLst/>
              <a:ahLst/>
              <a:cxnLst/>
              <a:rect r="r" b="b" t="t" l="l"/>
              <a:pathLst>
                <a:path h="2106422" w="12768326">
                  <a:moveTo>
                    <a:pt x="0" y="147828"/>
                  </a:moveTo>
                  <a:cubicBezTo>
                    <a:pt x="0" y="66167"/>
                    <a:pt x="66167" y="0"/>
                    <a:pt x="147828" y="0"/>
                  </a:cubicBezTo>
                  <a:lnTo>
                    <a:pt x="12620498" y="0"/>
                  </a:lnTo>
                  <a:cubicBezTo>
                    <a:pt x="12702159" y="0"/>
                    <a:pt x="12768326" y="66167"/>
                    <a:pt x="12768326" y="147828"/>
                  </a:cubicBezTo>
                  <a:lnTo>
                    <a:pt x="12768326" y="1958594"/>
                  </a:lnTo>
                  <a:cubicBezTo>
                    <a:pt x="12768326" y="2040255"/>
                    <a:pt x="12702159" y="2106422"/>
                    <a:pt x="12620498" y="2106422"/>
                  </a:cubicBezTo>
                  <a:lnTo>
                    <a:pt x="147828" y="2106422"/>
                  </a:lnTo>
                  <a:cubicBezTo>
                    <a:pt x="66167" y="2106422"/>
                    <a:pt x="0" y="2040255"/>
                    <a:pt x="0" y="1958594"/>
                  </a:cubicBezTo>
                  <a:close/>
                </a:path>
              </a:pathLst>
            </a:custGeom>
            <a:solidFill>
              <a:srgbClr val="FFFFFF"/>
            </a:solidFill>
            <a:ln w="16192" cap="sq">
              <a:solidFill>
                <a:srgbClr val="DCE3E6"/>
              </a:solidFill>
              <a:prstDash val="solid"/>
              <a:miter/>
            </a:ln>
          </p:spPr>
        </p:sp>
      </p:grpSp>
      <p:grpSp>
        <p:nvGrpSpPr>
          <p:cNvPr name="Group 22" id="22"/>
          <p:cNvGrpSpPr/>
          <p:nvPr/>
        </p:nvGrpSpPr>
        <p:grpSpPr>
          <a:xfrm rot="0">
            <a:off x="1019175" y="3885819"/>
            <a:ext cx="121920" cy="1582674"/>
            <a:chOff x="0" y="0"/>
            <a:chExt cx="162560" cy="2110232"/>
          </a:xfrm>
        </p:grpSpPr>
        <p:sp>
          <p:nvSpPr>
            <p:cNvPr name="Freeform 23" id="23"/>
            <p:cNvSpPr/>
            <p:nvPr/>
          </p:nvSpPr>
          <p:spPr>
            <a:xfrm flipH="false" flipV="false" rot="0">
              <a:off x="0" y="0"/>
              <a:ext cx="162560" cy="2110232"/>
            </a:xfrm>
            <a:custGeom>
              <a:avLst/>
              <a:gdLst/>
              <a:ahLst/>
              <a:cxnLst/>
              <a:rect r="r" b="b" t="t" l="l"/>
              <a:pathLst>
                <a:path h="2110232" w="162560">
                  <a:moveTo>
                    <a:pt x="0" y="0"/>
                  </a:moveTo>
                  <a:lnTo>
                    <a:pt x="162560" y="0"/>
                  </a:lnTo>
                  <a:lnTo>
                    <a:pt x="162560" y="2110232"/>
                  </a:lnTo>
                  <a:lnTo>
                    <a:pt x="0" y="2110232"/>
                  </a:lnTo>
                  <a:close/>
                </a:path>
              </a:pathLst>
            </a:custGeom>
            <a:solidFill>
              <a:srgbClr val="425AEF"/>
            </a:solidFill>
          </p:spPr>
        </p:sp>
      </p:grpSp>
      <p:grpSp>
        <p:nvGrpSpPr>
          <p:cNvPr name="Group 24" id="24"/>
          <p:cNvGrpSpPr/>
          <p:nvPr/>
        </p:nvGrpSpPr>
        <p:grpSpPr>
          <a:xfrm rot="0">
            <a:off x="1403223" y="4269867"/>
            <a:ext cx="553974" cy="553974"/>
            <a:chOff x="0" y="0"/>
            <a:chExt cx="738632" cy="738632"/>
          </a:xfrm>
        </p:grpSpPr>
        <p:sp>
          <p:nvSpPr>
            <p:cNvPr name="Freeform 25" id="25"/>
            <p:cNvSpPr/>
            <p:nvPr/>
          </p:nvSpPr>
          <p:spPr>
            <a:xfrm flipH="false" flipV="false" rot="0">
              <a:off x="0" y="0"/>
              <a:ext cx="738632" cy="738632"/>
            </a:xfrm>
            <a:custGeom>
              <a:avLst/>
              <a:gdLst/>
              <a:ahLst/>
              <a:cxnLst/>
              <a:rect r="r" b="b" t="t" l="l"/>
              <a:pathLst>
                <a:path h="738632" w="738632">
                  <a:moveTo>
                    <a:pt x="0" y="369316"/>
                  </a:moveTo>
                  <a:cubicBezTo>
                    <a:pt x="0" y="165354"/>
                    <a:pt x="165354" y="0"/>
                    <a:pt x="369316" y="0"/>
                  </a:cubicBezTo>
                  <a:cubicBezTo>
                    <a:pt x="573278" y="0"/>
                    <a:pt x="738632" y="165354"/>
                    <a:pt x="738632" y="369316"/>
                  </a:cubicBezTo>
                  <a:cubicBezTo>
                    <a:pt x="738632" y="573278"/>
                    <a:pt x="573278" y="738632"/>
                    <a:pt x="369316" y="738632"/>
                  </a:cubicBezTo>
                  <a:cubicBezTo>
                    <a:pt x="165354" y="738632"/>
                    <a:pt x="0" y="573278"/>
                    <a:pt x="0" y="369316"/>
                  </a:cubicBezTo>
                  <a:close/>
                </a:path>
              </a:pathLst>
            </a:custGeom>
            <a:solidFill>
              <a:srgbClr val="E9EDFF"/>
            </a:solidFill>
          </p:spPr>
        </p:sp>
      </p:grpSp>
      <p:grpSp>
        <p:nvGrpSpPr>
          <p:cNvPr name="Group 26" id="26"/>
          <p:cNvGrpSpPr/>
          <p:nvPr/>
        </p:nvGrpSpPr>
        <p:grpSpPr>
          <a:xfrm rot="0">
            <a:off x="1602105" y="4468749"/>
            <a:ext cx="156210" cy="156210"/>
            <a:chOff x="0" y="0"/>
            <a:chExt cx="208280" cy="208280"/>
          </a:xfrm>
        </p:grpSpPr>
        <p:sp>
          <p:nvSpPr>
            <p:cNvPr name="Freeform 27" id="2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425AEF"/>
            </a:solidFill>
          </p:spPr>
        </p:sp>
      </p:grpSp>
      <p:grpSp>
        <p:nvGrpSpPr>
          <p:cNvPr name="Group 28" id="28"/>
          <p:cNvGrpSpPr/>
          <p:nvPr/>
        </p:nvGrpSpPr>
        <p:grpSpPr>
          <a:xfrm rot="0">
            <a:off x="2263140" y="4087368"/>
            <a:ext cx="7941564" cy="480060"/>
            <a:chOff x="0" y="0"/>
            <a:chExt cx="10588752" cy="640080"/>
          </a:xfrm>
        </p:grpSpPr>
        <p:sp>
          <p:nvSpPr>
            <p:cNvPr name="Freeform 29" id="29"/>
            <p:cNvSpPr/>
            <p:nvPr/>
          </p:nvSpPr>
          <p:spPr>
            <a:xfrm flipH="false" flipV="false" rot="0">
              <a:off x="0" y="0"/>
              <a:ext cx="10588752" cy="640080"/>
            </a:xfrm>
            <a:custGeom>
              <a:avLst/>
              <a:gdLst/>
              <a:ahLst/>
              <a:cxnLst/>
              <a:rect r="r" b="b" t="t" l="l"/>
              <a:pathLst>
                <a:path h="640080" w="10588752">
                  <a:moveTo>
                    <a:pt x="0" y="0"/>
                  </a:moveTo>
                  <a:lnTo>
                    <a:pt x="10588752" y="0"/>
                  </a:lnTo>
                  <a:lnTo>
                    <a:pt x="10588752" y="640080"/>
                  </a:lnTo>
                  <a:lnTo>
                    <a:pt x="0" y="640080"/>
                  </a:lnTo>
                  <a:close/>
                </a:path>
              </a:pathLst>
            </a:custGeom>
            <a:blipFill>
              <a:blip r:embed="rId3">
                <a:alphaModFix amt="0"/>
              </a:blip>
              <a:stretch>
                <a:fillRect l="0" t="-272338" r="0" b="-272338"/>
              </a:stretch>
            </a:blipFill>
          </p:spPr>
        </p:sp>
        <p:sp>
          <p:nvSpPr>
            <p:cNvPr name="TextBox 30" id="30"/>
            <p:cNvSpPr txBox="true"/>
            <p:nvPr/>
          </p:nvSpPr>
          <p:spPr>
            <a:xfrm>
              <a:off x="0" y="-9525"/>
              <a:ext cx="10588752" cy="649605"/>
            </a:xfrm>
            <a:prstGeom prst="rect">
              <a:avLst/>
            </a:prstGeom>
          </p:spPr>
          <p:txBody>
            <a:bodyPr anchor="ctr" rtlCol="false" tIns="0" lIns="0" bIns="0" rIns="0"/>
            <a:lstStyle/>
            <a:p>
              <a:pPr algn="l">
                <a:lnSpc>
                  <a:spcPts val="2700"/>
                </a:lnSpc>
              </a:pPr>
              <a:r>
                <a:rPr lang="en-US" sz="2250" b="true">
                  <a:solidFill>
                    <a:srgbClr val="101E2B"/>
                  </a:solidFill>
                  <a:latin typeface="Inter Bold"/>
                  <a:ea typeface="Inter Bold"/>
                  <a:cs typeface="Inter Bold"/>
                  <a:sym typeface="Inter Bold"/>
                </a:rPr>
                <a:t>Independent re-calculation</a:t>
              </a:r>
            </a:p>
          </p:txBody>
        </p:sp>
      </p:grpSp>
      <p:sp>
        <p:nvSpPr>
          <p:cNvPr name="TextBox 31" id="31"/>
          <p:cNvSpPr txBox="true"/>
          <p:nvPr/>
        </p:nvSpPr>
        <p:spPr>
          <a:xfrm rot="0">
            <a:off x="2263140" y="4677156"/>
            <a:ext cx="7872984" cy="672084"/>
          </a:xfrm>
          <a:prstGeom prst="rect">
            <a:avLst/>
          </a:prstGeom>
        </p:spPr>
        <p:txBody>
          <a:bodyPr anchor="t" rtlCol="false" tIns="0" lIns="0" bIns="0" rIns="0">
            <a:spAutoFit/>
          </a:bodyPr>
          <a:lstStyle/>
          <a:p>
            <a:pPr algn="l">
              <a:lnSpc>
                <a:spcPts val="2232"/>
              </a:lnSpc>
            </a:pPr>
            <a:r>
              <a:rPr lang="en-US" sz="1860">
                <a:solidFill>
                  <a:srgbClr val="607184"/>
                </a:solidFill>
                <a:latin typeface="Inter"/>
                <a:ea typeface="Inter"/>
                <a:cs typeface="Inter"/>
                <a:sym typeface="Inter"/>
              </a:rPr>
              <a:t>Critic recomputes every payable amount with a separately written function</a:t>
            </a:r>
          </a:p>
        </p:txBody>
      </p:sp>
      <p:grpSp>
        <p:nvGrpSpPr>
          <p:cNvPr name="Group 32" id="32"/>
          <p:cNvGrpSpPr/>
          <p:nvPr/>
        </p:nvGrpSpPr>
        <p:grpSpPr>
          <a:xfrm rot="0">
            <a:off x="1020604" y="5656612"/>
            <a:ext cx="9576244" cy="1579817"/>
            <a:chOff x="0" y="0"/>
            <a:chExt cx="12768326" cy="2106422"/>
          </a:xfrm>
        </p:grpSpPr>
        <p:sp>
          <p:nvSpPr>
            <p:cNvPr name="Freeform 33" id="33"/>
            <p:cNvSpPr/>
            <p:nvPr/>
          </p:nvSpPr>
          <p:spPr>
            <a:xfrm flipH="false" flipV="false" rot="0">
              <a:off x="0" y="0"/>
              <a:ext cx="12768326" cy="2106422"/>
            </a:xfrm>
            <a:custGeom>
              <a:avLst/>
              <a:gdLst/>
              <a:ahLst/>
              <a:cxnLst/>
              <a:rect r="r" b="b" t="t" l="l"/>
              <a:pathLst>
                <a:path h="2106422" w="12768326">
                  <a:moveTo>
                    <a:pt x="0" y="147828"/>
                  </a:moveTo>
                  <a:cubicBezTo>
                    <a:pt x="0" y="66167"/>
                    <a:pt x="66167" y="0"/>
                    <a:pt x="147828" y="0"/>
                  </a:cubicBezTo>
                  <a:lnTo>
                    <a:pt x="12620498" y="0"/>
                  </a:lnTo>
                  <a:cubicBezTo>
                    <a:pt x="12702159" y="0"/>
                    <a:pt x="12768326" y="66167"/>
                    <a:pt x="12768326" y="147828"/>
                  </a:cubicBezTo>
                  <a:lnTo>
                    <a:pt x="12768326" y="1958594"/>
                  </a:lnTo>
                  <a:cubicBezTo>
                    <a:pt x="12768326" y="2040255"/>
                    <a:pt x="12702159" y="2106422"/>
                    <a:pt x="12620498" y="2106422"/>
                  </a:cubicBezTo>
                  <a:lnTo>
                    <a:pt x="147828" y="2106422"/>
                  </a:lnTo>
                  <a:cubicBezTo>
                    <a:pt x="66167" y="2106422"/>
                    <a:pt x="0" y="2040255"/>
                    <a:pt x="0" y="1958594"/>
                  </a:cubicBezTo>
                  <a:close/>
                </a:path>
              </a:pathLst>
            </a:custGeom>
            <a:solidFill>
              <a:srgbClr val="FFFFFF"/>
            </a:solidFill>
            <a:ln w="16192" cap="sq">
              <a:solidFill>
                <a:srgbClr val="DCE3E6"/>
              </a:solidFill>
              <a:prstDash val="solid"/>
              <a:miter/>
            </a:ln>
          </p:spPr>
        </p:sp>
      </p:grpSp>
      <p:grpSp>
        <p:nvGrpSpPr>
          <p:cNvPr name="Group 34" id="34"/>
          <p:cNvGrpSpPr/>
          <p:nvPr/>
        </p:nvGrpSpPr>
        <p:grpSpPr>
          <a:xfrm rot="0">
            <a:off x="1019175" y="5655183"/>
            <a:ext cx="121920" cy="1582674"/>
            <a:chOff x="0" y="0"/>
            <a:chExt cx="162560" cy="2110232"/>
          </a:xfrm>
        </p:grpSpPr>
        <p:sp>
          <p:nvSpPr>
            <p:cNvPr name="Freeform 35" id="35"/>
            <p:cNvSpPr/>
            <p:nvPr/>
          </p:nvSpPr>
          <p:spPr>
            <a:xfrm flipH="false" flipV="false" rot="0">
              <a:off x="0" y="0"/>
              <a:ext cx="162560" cy="2110232"/>
            </a:xfrm>
            <a:custGeom>
              <a:avLst/>
              <a:gdLst/>
              <a:ahLst/>
              <a:cxnLst/>
              <a:rect r="r" b="b" t="t" l="l"/>
              <a:pathLst>
                <a:path h="2110232" w="162560">
                  <a:moveTo>
                    <a:pt x="0" y="0"/>
                  </a:moveTo>
                  <a:lnTo>
                    <a:pt x="162560" y="0"/>
                  </a:lnTo>
                  <a:lnTo>
                    <a:pt x="162560" y="2110232"/>
                  </a:lnTo>
                  <a:lnTo>
                    <a:pt x="0" y="2110232"/>
                  </a:lnTo>
                  <a:close/>
                </a:path>
              </a:pathLst>
            </a:custGeom>
            <a:solidFill>
              <a:srgbClr val="008E86"/>
            </a:solidFill>
          </p:spPr>
        </p:sp>
      </p:grpSp>
      <p:grpSp>
        <p:nvGrpSpPr>
          <p:cNvPr name="Group 36" id="36"/>
          <p:cNvGrpSpPr/>
          <p:nvPr/>
        </p:nvGrpSpPr>
        <p:grpSpPr>
          <a:xfrm rot="0">
            <a:off x="1403223" y="6039231"/>
            <a:ext cx="553974" cy="553974"/>
            <a:chOff x="0" y="0"/>
            <a:chExt cx="738632" cy="738632"/>
          </a:xfrm>
        </p:grpSpPr>
        <p:sp>
          <p:nvSpPr>
            <p:cNvPr name="Freeform 37" id="37"/>
            <p:cNvSpPr/>
            <p:nvPr/>
          </p:nvSpPr>
          <p:spPr>
            <a:xfrm flipH="false" flipV="false" rot="0">
              <a:off x="0" y="0"/>
              <a:ext cx="738632" cy="738632"/>
            </a:xfrm>
            <a:custGeom>
              <a:avLst/>
              <a:gdLst/>
              <a:ahLst/>
              <a:cxnLst/>
              <a:rect r="r" b="b" t="t" l="l"/>
              <a:pathLst>
                <a:path h="738632" w="738632">
                  <a:moveTo>
                    <a:pt x="0" y="369316"/>
                  </a:moveTo>
                  <a:cubicBezTo>
                    <a:pt x="0" y="165354"/>
                    <a:pt x="165354" y="0"/>
                    <a:pt x="369316" y="0"/>
                  </a:cubicBezTo>
                  <a:cubicBezTo>
                    <a:pt x="573278" y="0"/>
                    <a:pt x="738632" y="165354"/>
                    <a:pt x="738632" y="369316"/>
                  </a:cubicBezTo>
                  <a:cubicBezTo>
                    <a:pt x="738632" y="573278"/>
                    <a:pt x="573278" y="738632"/>
                    <a:pt x="369316" y="738632"/>
                  </a:cubicBezTo>
                  <a:cubicBezTo>
                    <a:pt x="165354" y="738632"/>
                    <a:pt x="0" y="573278"/>
                    <a:pt x="0" y="369316"/>
                  </a:cubicBezTo>
                  <a:close/>
                </a:path>
              </a:pathLst>
            </a:custGeom>
            <a:solidFill>
              <a:srgbClr val="EAF7F1"/>
            </a:solidFill>
          </p:spPr>
        </p:sp>
      </p:grpSp>
      <p:grpSp>
        <p:nvGrpSpPr>
          <p:cNvPr name="Group 38" id="38"/>
          <p:cNvGrpSpPr/>
          <p:nvPr/>
        </p:nvGrpSpPr>
        <p:grpSpPr>
          <a:xfrm rot="0">
            <a:off x="1602105" y="6238113"/>
            <a:ext cx="156210" cy="156210"/>
            <a:chOff x="0" y="0"/>
            <a:chExt cx="208280" cy="208280"/>
          </a:xfrm>
        </p:grpSpPr>
        <p:sp>
          <p:nvSpPr>
            <p:cNvPr name="Freeform 39" id="3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008E86"/>
            </a:solidFill>
          </p:spPr>
        </p:sp>
      </p:grpSp>
      <p:grpSp>
        <p:nvGrpSpPr>
          <p:cNvPr name="Group 40" id="40"/>
          <p:cNvGrpSpPr/>
          <p:nvPr/>
        </p:nvGrpSpPr>
        <p:grpSpPr>
          <a:xfrm rot="0">
            <a:off x="2263140" y="5856732"/>
            <a:ext cx="7941564" cy="480060"/>
            <a:chOff x="0" y="0"/>
            <a:chExt cx="10588752" cy="640080"/>
          </a:xfrm>
        </p:grpSpPr>
        <p:sp>
          <p:nvSpPr>
            <p:cNvPr name="Freeform 41" id="41"/>
            <p:cNvSpPr/>
            <p:nvPr/>
          </p:nvSpPr>
          <p:spPr>
            <a:xfrm flipH="false" flipV="false" rot="0">
              <a:off x="0" y="0"/>
              <a:ext cx="10588752" cy="640080"/>
            </a:xfrm>
            <a:custGeom>
              <a:avLst/>
              <a:gdLst/>
              <a:ahLst/>
              <a:cxnLst/>
              <a:rect r="r" b="b" t="t" l="l"/>
              <a:pathLst>
                <a:path h="640080" w="10588752">
                  <a:moveTo>
                    <a:pt x="0" y="0"/>
                  </a:moveTo>
                  <a:lnTo>
                    <a:pt x="10588752" y="0"/>
                  </a:lnTo>
                  <a:lnTo>
                    <a:pt x="10588752" y="640080"/>
                  </a:lnTo>
                  <a:lnTo>
                    <a:pt x="0" y="640080"/>
                  </a:lnTo>
                  <a:close/>
                </a:path>
              </a:pathLst>
            </a:custGeom>
            <a:blipFill>
              <a:blip r:embed="rId3">
                <a:alphaModFix amt="0"/>
              </a:blip>
              <a:stretch>
                <a:fillRect l="0" t="-272338" r="0" b="-272338"/>
              </a:stretch>
            </a:blipFill>
          </p:spPr>
        </p:sp>
        <p:sp>
          <p:nvSpPr>
            <p:cNvPr name="TextBox 42" id="42"/>
            <p:cNvSpPr txBox="true"/>
            <p:nvPr/>
          </p:nvSpPr>
          <p:spPr>
            <a:xfrm>
              <a:off x="0" y="-9525"/>
              <a:ext cx="10588752" cy="649605"/>
            </a:xfrm>
            <a:prstGeom prst="rect">
              <a:avLst/>
            </a:prstGeom>
          </p:spPr>
          <p:txBody>
            <a:bodyPr anchor="ctr" rtlCol="false" tIns="0" lIns="0" bIns="0" rIns="0"/>
            <a:lstStyle/>
            <a:p>
              <a:pPr algn="l">
                <a:lnSpc>
                  <a:spcPts val="2700"/>
                </a:lnSpc>
              </a:pPr>
              <a:r>
                <a:rPr lang="en-US" sz="2250" b="true">
                  <a:solidFill>
                    <a:srgbClr val="101E2B"/>
                  </a:solidFill>
                  <a:latin typeface="Inter Bold"/>
                  <a:ea typeface="Inter Bold"/>
                  <a:cs typeface="Inter Bold"/>
                  <a:sym typeface="Inter Bold"/>
                </a:rPr>
                <a:t>Automated tests</a:t>
              </a:r>
            </a:p>
          </p:txBody>
        </p:sp>
      </p:grpSp>
      <p:sp>
        <p:nvSpPr>
          <p:cNvPr name="TextBox 43" id="43"/>
          <p:cNvSpPr txBox="true"/>
          <p:nvPr/>
        </p:nvSpPr>
        <p:spPr>
          <a:xfrm rot="0">
            <a:off x="2263140" y="6446520"/>
            <a:ext cx="7872984" cy="672084"/>
          </a:xfrm>
          <a:prstGeom prst="rect">
            <a:avLst/>
          </a:prstGeom>
        </p:spPr>
        <p:txBody>
          <a:bodyPr anchor="t" rtlCol="false" tIns="0" lIns="0" bIns="0" rIns="0">
            <a:spAutoFit/>
          </a:bodyPr>
          <a:lstStyle/>
          <a:p>
            <a:pPr algn="l">
              <a:lnSpc>
                <a:spcPts val="2232"/>
              </a:lnSpc>
            </a:pPr>
            <a:r>
              <a:rPr lang="en-US" sz="1860">
                <a:solidFill>
                  <a:srgbClr val="607184"/>
                </a:solidFill>
                <a:latin typeface="Inter"/>
                <a:ea typeface="Inter"/>
                <a:cs typeface="Inter"/>
                <a:sym typeface="Inter"/>
              </a:rPr>
              <a:t>87 pytest checks: decisions, amounts, loops, PII masking, guardrails and every injected fault</a:t>
            </a:r>
          </a:p>
        </p:txBody>
      </p:sp>
      <p:grpSp>
        <p:nvGrpSpPr>
          <p:cNvPr name="Group 44" id="44"/>
          <p:cNvGrpSpPr/>
          <p:nvPr/>
        </p:nvGrpSpPr>
        <p:grpSpPr>
          <a:xfrm rot="0">
            <a:off x="1020604" y="7425976"/>
            <a:ext cx="9576244" cy="1579817"/>
            <a:chOff x="0" y="0"/>
            <a:chExt cx="12768326" cy="2106422"/>
          </a:xfrm>
        </p:grpSpPr>
        <p:sp>
          <p:nvSpPr>
            <p:cNvPr name="Freeform 45" id="45"/>
            <p:cNvSpPr/>
            <p:nvPr/>
          </p:nvSpPr>
          <p:spPr>
            <a:xfrm flipH="false" flipV="false" rot="0">
              <a:off x="0" y="0"/>
              <a:ext cx="12768326" cy="2106422"/>
            </a:xfrm>
            <a:custGeom>
              <a:avLst/>
              <a:gdLst/>
              <a:ahLst/>
              <a:cxnLst/>
              <a:rect r="r" b="b" t="t" l="l"/>
              <a:pathLst>
                <a:path h="2106422" w="12768326">
                  <a:moveTo>
                    <a:pt x="0" y="147828"/>
                  </a:moveTo>
                  <a:cubicBezTo>
                    <a:pt x="0" y="66167"/>
                    <a:pt x="66167" y="0"/>
                    <a:pt x="147828" y="0"/>
                  </a:cubicBezTo>
                  <a:lnTo>
                    <a:pt x="12620498" y="0"/>
                  </a:lnTo>
                  <a:cubicBezTo>
                    <a:pt x="12702159" y="0"/>
                    <a:pt x="12768326" y="66167"/>
                    <a:pt x="12768326" y="147828"/>
                  </a:cubicBezTo>
                  <a:lnTo>
                    <a:pt x="12768326" y="1958594"/>
                  </a:lnTo>
                  <a:cubicBezTo>
                    <a:pt x="12768326" y="2040255"/>
                    <a:pt x="12702159" y="2106422"/>
                    <a:pt x="12620498" y="2106422"/>
                  </a:cubicBezTo>
                  <a:lnTo>
                    <a:pt x="147828" y="2106422"/>
                  </a:lnTo>
                  <a:cubicBezTo>
                    <a:pt x="66167" y="2106422"/>
                    <a:pt x="0" y="2040255"/>
                    <a:pt x="0" y="1958594"/>
                  </a:cubicBezTo>
                  <a:close/>
                </a:path>
              </a:pathLst>
            </a:custGeom>
            <a:solidFill>
              <a:srgbClr val="FFFFFF"/>
            </a:solidFill>
            <a:ln w="16192" cap="sq">
              <a:solidFill>
                <a:srgbClr val="DCE3E6"/>
              </a:solidFill>
              <a:prstDash val="solid"/>
              <a:miter/>
            </a:ln>
          </p:spPr>
        </p:sp>
      </p:grpSp>
      <p:grpSp>
        <p:nvGrpSpPr>
          <p:cNvPr name="Group 46" id="46"/>
          <p:cNvGrpSpPr/>
          <p:nvPr/>
        </p:nvGrpSpPr>
        <p:grpSpPr>
          <a:xfrm rot="0">
            <a:off x="1019175" y="7424547"/>
            <a:ext cx="121920" cy="1582674"/>
            <a:chOff x="0" y="0"/>
            <a:chExt cx="162560" cy="2110232"/>
          </a:xfrm>
        </p:grpSpPr>
        <p:sp>
          <p:nvSpPr>
            <p:cNvPr name="Freeform 47" id="47"/>
            <p:cNvSpPr/>
            <p:nvPr/>
          </p:nvSpPr>
          <p:spPr>
            <a:xfrm flipH="false" flipV="false" rot="0">
              <a:off x="0" y="0"/>
              <a:ext cx="162560" cy="2110232"/>
            </a:xfrm>
            <a:custGeom>
              <a:avLst/>
              <a:gdLst/>
              <a:ahLst/>
              <a:cxnLst/>
              <a:rect r="r" b="b" t="t" l="l"/>
              <a:pathLst>
                <a:path h="2110232" w="162560">
                  <a:moveTo>
                    <a:pt x="0" y="0"/>
                  </a:moveTo>
                  <a:lnTo>
                    <a:pt x="162560" y="0"/>
                  </a:lnTo>
                  <a:lnTo>
                    <a:pt x="162560" y="2110232"/>
                  </a:lnTo>
                  <a:lnTo>
                    <a:pt x="0" y="2110232"/>
                  </a:lnTo>
                  <a:close/>
                </a:path>
              </a:pathLst>
            </a:custGeom>
            <a:solidFill>
              <a:srgbClr val="008E86"/>
            </a:solidFill>
          </p:spPr>
        </p:sp>
      </p:grpSp>
      <p:grpSp>
        <p:nvGrpSpPr>
          <p:cNvPr name="Group 48" id="48"/>
          <p:cNvGrpSpPr/>
          <p:nvPr/>
        </p:nvGrpSpPr>
        <p:grpSpPr>
          <a:xfrm rot="0">
            <a:off x="1403223" y="7808595"/>
            <a:ext cx="553974" cy="553974"/>
            <a:chOff x="0" y="0"/>
            <a:chExt cx="738632" cy="738632"/>
          </a:xfrm>
        </p:grpSpPr>
        <p:sp>
          <p:nvSpPr>
            <p:cNvPr name="Freeform 49" id="49"/>
            <p:cNvSpPr/>
            <p:nvPr/>
          </p:nvSpPr>
          <p:spPr>
            <a:xfrm flipH="false" flipV="false" rot="0">
              <a:off x="0" y="0"/>
              <a:ext cx="738632" cy="738632"/>
            </a:xfrm>
            <a:custGeom>
              <a:avLst/>
              <a:gdLst/>
              <a:ahLst/>
              <a:cxnLst/>
              <a:rect r="r" b="b" t="t" l="l"/>
              <a:pathLst>
                <a:path h="738632" w="738632">
                  <a:moveTo>
                    <a:pt x="0" y="369316"/>
                  </a:moveTo>
                  <a:cubicBezTo>
                    <a:pt x="0" y="165354"/>
                    <a:pt x="165354" y="0"/>
                    <a:pt x="369316" y="0"/>
                  </a:cubicBezTo>
                  <a:cubicBezTo>
                    <a:pt x="573278" y="0"/>
                    <a:pt x="738632" y="165354"/>
                    <a:pt x="738632" y="369316"/>
                  </a:cubicBezTo>
                  <a:cubicBezTo>
                    <a:pt x="738632" y="573278"/>
                    <a:pt x="573278" y="738632"/>
                    <a:pt x="369316" y="738632"/>
                  </a:cubicBezTo>
                  <a:cubicBezTo>
                    <a:pt x="165354" y="738632"/>
                    <a:pt x="0" y="573278"/>
                    <a:pt x="0" y="369316"/>
                  </a:cubicBezTo>
                  <a:close/>
                </a:path>
              </a:pathLst>
            </a:custGeom>
            <a:solidFill>
              <a:srgbClr val="EAF7F1"/>
            </a:solidFill>
          </p:spPr>
        </p:sp>
      </p:grpSp>
      <p:grpSp>
        <p:nvGrpSpPr>
          <p:cNvPr name="Group 50" id="50"/>
          <p:cNvGrpSpPr/>
          <p:nvPr/>
        </p:nvGrpSpPr>
        <p:grpSpPr>
          <a:xfrm rot="0">
            <a:off x="1602105" y="8007477"/>
            <a:ext cx="156210" cy="156210"/>
            <a:chOff x="0" y="0"/>
            <a:chExt cx="208280" cy="208280"/>
          </a:xfrm>
        </p:grpSpPr>
        <p:sp>
          <p:nvSpPr>
            <p:cNvPr name="Freeform 51" id="5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008E86"/>
            </a:solidFill>
          </p:spPr>
        </p:sp>
      </p:grpSp>
      <p:grpSp>
        <p:nvGrpSpPr>
          <p:cNvPr name="Group 52" id="52"/>
          <p:cNvGrpSpPr/>
          <p:nvPr/>
        </p:nvGrpSpPr>
        <p:grpSpPr>
          <a:xfrm rot="0">
            <a:off x="2263140" y="7626096"/>
            <a:ext cx="7941564" cy="480060"/>
            <a:chOff x="0" y="0"/>
            <a:chExt cx="10588752" cy="640080"/>
          </a:xfrm>
        </p:grpSpPr>
        <p:sp>
          <p:nvSpPr>
            <p:cNvPr name="Freeform 53" id="53"/>
            <p:cNvSpPr/>
            <p:nvPr/>
          </p:nvSpPr>
          <p:spPr>
            <a:xfrm flipH="false" flipV="false" rot="0">
              <a:off x="0" y="0"/>
              <a:ext cx="10588752" cy="640080"/>
            </a:xfrm>
            <a:custGeom>
              <a:avLst/>
              <a:gdLst/>
              <a:ahLst/>
              <a:cxnLst/>
              <a:rect r="r" b="b" t="t" l="l"/>
              <a:pathLst>
                <a:path h="640080" w="10588752">
                  <a:moveTo>
                    <a:pt x="0" y="0"/>
                  </a:moveTo>
                  <a:lnTo>
                    <a:pt x="10588752" y="0"/>
                  </a:lnTo>
                  <a:lnTo>
                    <a:pt x="10588752" y="640080"/>
                  </a:lnTo>
                  <a:lnTo>
                    <a:pt x="0" y="640080"/>
                  </a:lnTo>
                  <a:close/>
                </a:path>
              </a:pathLst>
            </a:custGeom>
            <a:blipFill>
              <a:blip r:embed="rId3">
                <a:alphaModFix amt="0"/>
              </a:blip>
              <a:stretch>
                <a:fillRect l="0" t="-272338" r="0" b="-272338"/>
              </a:stretch>
            </a:blipFill>
          </p:spPr>
        </p:sp>
        <p:sp>
          <p:nvSpPr>
            <p:cNvPr name="TextBox 54" id="54"/>
            <p:cNvSpPr txBox="true"/>
            <p:nvPr/>
          </p:nvSpPr>
          <p:spPr>
            <a:xfrm>
              <a:off x="0" y="-9525"/>
              <a:ext cx="10588752" cy="649605"/>
            </a:xfrm>
            <a:prstGeom prst="rect">
              <a:avLst/>
            </a:prstGeom>
          </p:spPr>
          <p:txBody>
            <a:bodyPr anchor="ctr" rtlCol="false" tIns="0" lIns="0" bIns="0" rIns="0"/>
            <a:lstStyle/>
            <a:p>
              <a:pPr algn="l">
                <a:lnSpc>
                  <a:spcPts val="2700"/>
                </a:lnSpc>
              </a:pPr>
              <a:r>
                <a:rPr lang="en-US" sz="2250" b="true">
                  <a:solidFill>
                    <a:srgbClr val="101E2B"/>
                  </a:solidFill>
                  <a:latin typeface="Inter Bold"/>
                  <a:ea typeface="Inter Bold"/>
                  <a:cs typeface="Inter Bold"/>
                  <a:sym typeface="Inter Bold"/>
                </a:rPr>
                <a:t>Human in the loop</a:t>
              </a:r>
            </a:p>
          </p:txBody>
        </p:sp>
      </p:grpSp>
      <p:sp>
        <p:nvSpPr>
          <p:cNvPr name="TextBox 55" id="55"/>
          <p:cNvSpPr txBox="true"/>
          <p:nvPr/>
        </p:nvSpPr>
        <p:spPr>
          <a:xfrm rot="0">
            <a:off x="2263140" y="8215884"/>
            <a:ext cx="7872984" cy="672084"/>
          </a:xfrm>
          <a:prstGeom prst="rect">
            <a:avLst/>
          </a:prstGeom>
        </p:spPr>
        <p:txBody>
          <a:bodyPr anchor="t" rtlCol="false" tIns="0" lIns="0" bIns="0" rIns="0">
            <a:spAutoFit/>
          </a:bodyPr>
          <a:lstStyle/>
          <a:p>
            <a:pPr algn="l">
              <a:lnSpc>
                <a:spcPts val="2232"/>
              </a:lnSpc>
            </a:pPr>
            <a:r>
              <a:rPr lang="en-US" sz="1860">
                <a:solidFill>
                  <a:srgbClr val="607184"/>
                </a:solidFill>
                <a:latin typeface="Inter"/>
                <a:ea typeface="Inter"/>
                <a:cs typeface="Inter"/>
                <a:sym typeface="Inter"/>
              </a:rPr>
              <a:t>Undisclosed PED, mismatched extraction or amounts above the authority limit go to a medical officer</a:t>
            </a:r>
          </a:p>
        </p:txBody>
      </p:sp>
      <p:grpSp>
        <p:nvGrpSpPr>
          <p:cNvPr name="Group 56" id="56"/>
          <p:cNvGrpSpPr/>
          <p:nvPr/>
        </p:nvGrpSpPr>
        <p:grpSpPr>
          <a:xfrm rot="0">
            <a:off x="11074432" y="2145316"/>
            <a:ext cx="6215825" cy="2005012"/>
            <a:chOff x="0" y="0"/>
            <a:chExt cx="8287766" cy="2673350"/>
          </a:xfrm>
        </p:grpSpPr>
        <p:sp>
          <p:nvSpPr>
            <p:cNvPr name="Freeform 57" id="57"/>
            <p:cNvSpPr/>
            <p:nvPr/>
          </p:nvSpPr>
          <p:spPr>
            <a:xfrm flipH="false" flipV="false" rot="0">
              <a:off x="0" y="0"/>
              <a:ext cx="8287766" cy="2673350"/>
            </a:xfrm>
            <a:custGeom>
              <a:avLst/>
              <a:gdLst/>
              <a:ahLst/>
              <a:cxnLst/>
              <a:rect r="r" b="b" t="t" l="l"/>
              <a:pathLst>
                <a:path h="2673350" w="8287766">
                  <a:moveTo>
                    <a:pt x="0" y="165989"/>
                  </a:moveTo>
                  <a:cubicBezTo>
                    <a:pt x="0" y="74295"/>
                    <a:pt x="74295" y="0"/>
                    <a:pt x="165989" y="0"/>
                  </a:cubicBezTo>
                  <a:lnTo>
                    <a:pt x="8121777" y="0"/>
                  </a:lnTo>
                  <a:cubicBezTo>
                    <a:pt x="8213471" y="0"/>
                    <a:pt x="8287766" y="74295"/>
                    <a:pt x="8287766" y="165989"/>
                  </a:cubicBezTo>
                  <a:lnTo>
                    <a:pt x="8287766" y="2507361"/>
                  </a:lnTo>
                  <a:cubicBezTo>
                    <a:pt x="8287766" y="2599055"/>
                    <a:pt x="8213471" y="2673350"/>
                    <a:pt x="8121777" y="2673350"/>
                  </a:cubicBezTo>
                  <a:lnTo>
                    <a:pt x="165989" y="2673350"/>
                  </a:lnTo>
                  <a:cubicBezTo>
                    <a:pt x="74295" y="2673350"/>
                    <a:pt x="0" y="2599055"/>
                    <a:pt x="0" y="2507361"/>
                  </a:cubicBezTo>
                  <a:close/>
                </a:path>
              </a:pathLst>
            </a:custGeom>
            <a:solidFill>
              <a:srgbClr val="0D1826"/>
            </a:solidFill>
            <a:ln w="16192" cap="sq">
              <a:solidFill>
                <a:srgbClr val="0D1826"/>
              </a:solidFill>
              <a:prstDash val="solid"/>
              <a:miter/>
            </a:ln>
          </p:spPr>
        </p:sp>
      </p:grpSp>
      <p:grpSp>
        <p:nvGrpSpPr>
          <p:cNvPr name="Group 58" id="58"/>
          <p:cNvGrpSpPr/>
          <p:nvPr/>
        </p:nvGrpSpPr>
        <p:grpSpPr>
          <a:xfrm rot="0">
            <a:off x="11521440" y="2427732"/>
            <a:ext cx="2674620" cy="1028700"/>
            <a:chOff x="0" y="0"/>
            <a:chExt cx="3566160" cy="1371600"/>
          </a:xfrm>
        </p:grpSpPr>
        <p:sp>
          <p:nvSpPr>
            <p:cNvPr name="Freeform 59" id="59"/>
            <p:cNvSpPr/>
            <p:nvPr/>
          </p:nvSpPr>
          <p:spPr>
            <a:xfrm flipH="false" flipV="false" rot="0">
              <a:off x="0" y="0"/>
              <a:ext cx="3566160" cy="1371600"/>
            </a:xfrm>
            <a:custGeom>
              <a:avLst/>
              <a:gdLst/>
              <a:ahLst/>
              <a:cxnLst/>
              <a:rect r="r" b="b" t="t" l="l"/>
              <a:pathLst>
                <a:path h="1371600" w="3566160">
                  <a:moveTo>
                    <a:pt x="0" y="0"/>
                  </a:moveTo>
                  <a:lnTo>
                    <a:pt x="3566160" y="0"/>
                  </a:lnTo>
                  <a:lnTo>
                    <a:pt x="3566160" y="1371600"/>
                  </a:lnTo>
                  <a:lnTo>
                    <a:pt x="0" y="1371600"/>
                  </a:lnTo>
                  <a:close/>
                </a:path>
              </a:pathLst>
            </a:custGeom>
            <a:blipFill>
              <a:blip r:embed="rId3">
                <a:alphaModFix amt="0"/>
              </a:blip>
              <a:stretch>
                <a:fillRect l="0" t="-661" r="0" b="-661"/>
              </a:stretch>
            </a:blipFill>
          </p:spPr>
        </p:sp>
        <p:sp>
          <p:nvSpPr>
            <p:cNvPr name="TextBox 60" id="60"/>
            <p:cNvSpPr txBox="true"/>
            <p:nvPr/>
          </p:nvSpPr>
          <p:spPr>
            <a:xfrm>
              <a:off x="0" y="0"/>
              <a:ext cx="3566160" cy="1371600"/>
            </a:xfrm>
            <a:prstGeom prst="rect">
              <a:avLst/>
            </a:prstGeom>
          </p:spPr>
          <p:txBody>
            <a:bodyPr anchor="ctr" rtlCol="false" tIns="0" lIns="0" bIns="0" rIns="0"/>
            <a:lstStyle/>
            <a:p>
              <a:pPr algn="l">
                <a:lnSpc>
                  <a:spcPts val="6066"/>
                </a:lnSpc>
              </a:pPr>
              <a:r>
                <a:rPr lang="en-US" sz="5055" b="true">
                  <a:solidFill>
                    <a:srgbClr val="BAF389"/>
                  </a:solidFill>
                  <a:latin typeface="Inter Bold"/>
                  <a:ea typeface="Inter Bold"/>
                  <a:cs typeface="Inter Bold"/>
                  <a:sym typeface="Inter Bold"/>
                </a:rPr>
                <a:t>12/12</a:t>
              </a:r>
            </a:p>
          </p:txBody>
        </p:sp>
      </p:grpSp>
      <p:grpSp>
        <p:nvGrpSpPr>
          <p:cNvPr name="Group 61" id="61"/>
          <p:cNvGrpSpPr/>
          <p:nvPr/>
        </p:nvGrpSpPr>
        <p:grpSpPr>
          <a:xfrm rot="0">
            <a:off x="14223492" y="2564892"/>
            <a:ext cx="2660904" cy="1001268"/>
            <a:chOff x="0" y="0"/>
            <a:chExt cx="3547872" cy="1335024"/>
          </a:xfrm>
        </p:grpSpPr>
        <p:sp>
          <p:nvSpPr>
            <p:cNvPr name="Freeform 62" id="62"/>
            <p:cNvSpPr/>
            <p:nvPr/>
          </p:nvSpPr>
          <p:spPr>
            <a:xfrm flipH="false" flipV="false" rot="0">
              <a:off x="0" y="0"/>
              <a:ext cx="3547872" cy="1335024"/>
            </a:xfrm>
            <a:custGeom>
              <a:avLst/>
              <a:gdLst/>
              <a:ahLst/>
              <a:cxnLst/>
              <a:rect r="r" b="b" t="t" l="l"/>
              <a:pathLst>
                <a:path h="1335024" w="3547872">
                  <a:moveTo>
                    <a:pt x="0" y="0"/>
                  </a:moveTo>
                  <a:lnTo>
                    <a:pt x="3547872" y="0"/>
                  </a:lnTo>
                  <a:lnTo>
                    <a:pt x="3547872" y="1335024"/>
                  </a:lnTo>
                  <a:lnTo>
                    <a:pt x="0" y="1335024"/>
                  </a:lnTo>
                  <a:close/>
                </a:path>
              </a:pathLst>
            </a:custGeom>
            <a:blipFill>
              <a:blip r:embed="rId3">
                <a:alphaModFix amt="0"/>
              </a:blip>
              <a:stretch>
                <a:fillRect l="0" t="-1782" r="0" b="-1782"/>
              </a:stretch>
            </a:blipFill>
          </p:spPr>
        </p:sp>
        <p:sp>
          <p:nvSpPr>
            <p:cNvPr name="TextBox 63" id="63"/>
            <p:cNvSpPr txBox="true"/>
            <p:nvPr/>
          </p:nvSpPr>
          <p:spPr>
            <a:xfrm>
              <a:off x="0" y="-9525"/>
              <a:ext cx="3547872" cy="1344549"/>
            </a:xfrm>
            <a:prstGeom prst="rect">
              <a:avLst/>
            </a:prstGeom>
          </p:spPr>
          <p:txBody>
            <a:bodyPr anchor="ctr" rtlCol="false" tIns="0" lIns="0" bIns="0" rIns="0"/>
            <a:lstStyle/>
            <a:p>
              <a:pPr algn="l">
                <a:lnSpc>
                  <a:spcPts val="2430"/>
                </a:lnSpc>
              </a:pPr>
              <a:r>
                <a:rPr lang="en-US" sz="2025" b="true">
                  <a:solidFill>
                    <a:srgbClr val="E2EFF2"/>
                  </a:solidFill>
                  <a:latin typeface="Inter Bold"/>
                  <a:ea typeface="Inter Bold"/>
                  <a:cs typeface="Inter Bold"/>
                  <a:sym typeface="Inter Bold"/>
                </a:rPr>
                <a:t>decisions match expected</a:t>
              </a:r>
            </a:p>
          </p:txBody>
        </p:sp>
      </p:grpSp>
      <p:grpSp>
        <p:nvGrpSpPr>
          <p:cNvPr name="Group 64" id="64"/>
          <p:cNvGrpSpPr/>
          <p:nvPr/>
        </p:nvGrpSpPr>
        <p:grpSpPr>
          <a:xfrm rot="0">
            <a:off x="11074432" y="4353592"/>
            <a:ext cx="6215825" cy="2005012"/>
            <a:chOff x="0" y="0"/>
            <a:chExt cx="8287766" cy="2673350"/>
          </a:xfrm>
        </p:grpSpPr>
        <p:sp>
          <p:nvSpPr>
            <p:cNvPr name="Freeform 65" id="65"/>
            <p:cNvSpPr/>
            <p:nvPr/>
          </p:nvSpPr>
          <p:spPr>
            <a:xfrm flipH="false" flipV="false" rot="0">
              <a:off x="0" y="0"/>
              <a:ext cx="8287766" cy="2673350"/>
            </a:xfrm>
            <a:custGeom>
              <a:avLst/>
              <a:gdLst/>
              <a:ahLst/>
              <a:cxnLst/>
              <a:rect r="r" b="b" t="t" l="l"/>
              <a:pathLst>
                <a:path h="2673350" w="8287766">
                  <a:moveTo>
                    <a:pt x="0" y="165989"/>
                  </a:moveTo>
                  <a:cubicBezTo>
                    <a:pt x="0" y="74295"/>
                    <a:pt x="74295" y="0"/>
                    <a:pt x="165989" y="0"/>
                  </a:cubicBezTo>
                  <a:lnTo>
                    <a:pt x="8121777" y="0"/>
                  </a:lnTo>
                  <a:cubicBezTo>
                    <a:pt x="8213471" y="0"/>
                    <a:pt x="8287766" y="74295"/>
                    <a:pt x="8287766" y="165989"/>
                  </a:cubicBezTo>
                  <a:lnTo>
                    <a:pt x="8287766" y="2507361"/>
                  </a:lnTo>
                  <a:cubicBezTo>
                    <a:pt x="8287766" y="2599055"/>
                    <a:pt x="8213471" y="2673350"/>
                    <a:pt x="8121777" y="2673350"/>
                  </a:cubicBezTo>
                  <a:lnTo>
                    <a:pt x="165989" y="2673350"/>
                  </a:lnTo>
                  <a:cubicBezTo>
                    <a:pt x="74295" y="2673350"/>
                    <a:pt x="0" y="2599055"/>
                    <a:pt x="0" y="2507361"/>
                  </a:cubicBezTo>
                  <a:close/>
                </a:path>
              </a:pathLst>
            </a:custGeom>
            <a:solidFill>
              <a:srgbClr val="FFFFFF"/>
            </a:solidFill>
            <a:ln w="16192" cap="sq">
              <a:solidFill>
                <a:srgbClr val="DCE3E6"/>
              </a:solidFill>
              <a:prstDash val="solid"/>
              <a:miter/>
            </a:ln>
          </p:spPr>
        </p:sp>
      </p:grpSp>
      <p:grpSp>
        <p:nvGrpSpPr>
          <p:cNvPr name="Group 66" id="66"/>
          <p:cNvGrpSpPr/>
          <p:nvPr/>
        </p:nvGrpSpPr>
        <p:grpSpPr>
          <a:xfrm rot="0">
            <a:off x="11521440" y="4636008"/>
            <a:ext cx="2674620" cy="1028700"/>
            <a:chOff x="0" y="0"/>
            <a:chExt cx="3566160" cy="1371600"/>
          </a:xfrm>
        </p:grpSpPr>
        <p:sp>
          <p:nvSpPr>
            <p:cNvPr name="Freeform 67" id="67"/>
            <p:cNvSpPr/>
            <p:nvPr/>
          </p:nvSpPr>
          <p:spPr>
            <a:xfrm flipH="false" flipV="false" rot="0">
              <a:off x="0" y="0"/>
              <a:ext cx="3566160" cy="1371600"/>
            </a:xfrm>
            <a:custGeom>
              <a:avLst/>
              <a:gdLst/>
              <a:ahLst/>
              <a:cxnLst/>
              <a:rect r="r" b="b" t="t" l="l"/>
              <a:pathLst>
                <a:path h="1371600" w="3566160">
                  <a:moveTo>
                    <a:pt x="0" y="0"/>
                  </a:moveTo>
                  <a:lnTo>
                    <a:pt x="3566160" y="0"/>
                  </a:lnTo>
                  <a:lnTo>
                    <a:pt x="3566160" y="1371600"/>
                  </a:lnTo>
                  <a:lnTo>
                    <a:pt x="0" y="1371600"/>
                  </a:lnTo>
                  <a:close/>
                </a:path>
              </a:pathLst>
            </a:custGeom>
            <a:blipFill>
              <a:blip r:embed="rId3">
                <a:alphaModFix amt="0"/>
              </a:blip>
              <a:stretch>
                <a:fillRect l="0" t="-661" r="0" b="-661"/>
              </a:stretch>
            </a:blipFill>
          </p:spPr>
        </p:sp>
        <p:sp>
          <p:nvSpPr>
            <p:cNvPr name="TextBox 68" id="68"/>
            <p:cNvSpPr txBox="true"/>
            <p:nvPr/>
          </p:nvSpPr>
          <p:spPr>
            <a:xfrm>
              <a:off x="0" y="0"/>
              <a:ext cx="3566160" cy="1371600"/>
            </a:xfrm>
            <a:prstGeom prst="rect">
              <a:avLst/>
            </a:prstGeom>
          </p:spPr>
          <p:txBody>
            <a:bodyPr anchor="ctr" rtlCol="false" tIns="0" lIns="0" bIns="0" rIns="0"/>
            <a:lstStyle/>
            <a:p>
              <a:pPr algn="l">
                <a:lnSpc>
                  <a:spcPts val="6066"/>
                </a:lnSpc>
              </a:pPr>
              <a:r>
                <a:rPr lang="en-US" sz="5055" b="true">
                  <a:solidFill>
                    <a:srgbClr val="101E2B"/>
                  </a:solidFill>
                  <a:latin typeface="Inter Bold"/>
                  <a:ea typeface="Inter Bold"/>
                  <a:cs typeface="Inter Bold"/>
                  <a:sym typeface="Inter Bold"/>
                </a:rPr>
                <a:t>6/6</a:t>
              </a:r>
            </a:p>
          </p:txBody>
        </p:sp>
      </p:grpSp>
      <p:grpSp>
        <p:nvGrpSpPr>
          <p:cNvPr name="Group 69" id="69"/>
          <p:cNvGrpSpPr/>
          <p:nvPr/>
        </p:nvGrpSpPr>
        <p:grpSpPr>
          <a:xfrm rot="0">
            <a:off x="14223492" y="4773168"/>
            <a:ext cx="2660904" cy="1001268"/>
            <a:chOff x="0" y="0"/>
            <a:chExt cx="3547872" cy="1335024"/>
          </a:xfrm>
        </p:grpSpPr>
        <p:sp>
          <p:nvSpPr>
            <p:cNvPr name="Freeform 70" id="70"/>
            <p:cNvSpPr/>
            <p:nvPr/>
          </p:nvSpPr>
          <p:spPr>
            <a:xfrm flipH="false" flipV="false" rot="0">
              <a:off x="0" y="0"/>
              <a:ext cx="3547872" cy="1335024"/>
            </a:xfrm>
            <a:custGeom>
              <a:avLst/>
              <a:gdLst/>
              <a:ahLst/>
              <a:cxnLst/>
              <a:rect r="r" b="b" t="t" l="l"/>
              <a:pathLst>
                <a:path h="1335024" w="3547872">
                  <a:moveTo>
                    <a:pt x="0" y="0"/>
                  </a:moveTo>
                  <a:lnTo>
                    <a:pt x="3547872" y="0"/>
                  </a:lnTo>
                  <a:lnTo>
                    <a:pt x="3547872" y="1335024"/>
                  </a:lnTo>
                  <a:lnTo>
                    <a:pt x="0" y="1335024"/>
                  </a:lnTo>
                  <a:close/>
                </a:path>
              </a:pathLst>
            </a:custGeom>
            <a:blipFill>
              <a:blip r:embed="rId3">
                <a:alphaModFix amt="0"/>
              </a:blip>
              <a:stretch>
                <a:fillRect l="0" t="-1782" r="0" b="-1782"/>
              </a:stretch>
            </a:blipFill>
          </p:spPr>
        </p:sp>
        <p:sp>
          <p:nvSpPr>
            <p:cNvPr name="TextBox 71" id="71"/>
            <p:cNvSpPr txBox="true"/>
            <p:nvPr/>
          </p:nvSpPr>
          <p:spPr>
            <a:xfrm>
              <a:off x="0" y="-9525"/>
              <a:ext cx="3547872" cy="1344549"/>
            </a:xfrm>
            <a:prstGeom prst="rect">
              <a:avLst/>
            </a:prstGeom>
          </p:spPr>
          <p:txBody>
            <a:bodyPr anchor="ctr" rtlCol="false" tIns="0" lIns="0" bIns="0" rIns="0"/>
            <a:lstStyle/>
            <a:p>
              <a:pPr algn="l">
                <a:lnSpc>
                  <a:spcPts val="2430"/>
                </a:lnSpc>
              </a:pPr>
              <a:r>
                <a:rPr lang="en-US" sz="2025" b="true">
                  <a:solidFill>
                    <a:srgbClr val="101E2B"/>
                  </a:solidFill>
                  <a:latin typeface="Inter Bold"/>
                  <a:ea typeface="Inter Bold"/>
                  <a:cs typeface="Inter Bold"/>
                  <a:sym typeface="Inter Bold"/>
                </a:rPr>
                <a:t>amounts exact to the rupee</a:t>
              </a:r>
            </a:p>
          </p:txBody>
        </p:sp>
      </p:grpSp>
      <p:grpSp>
        <p:nvGrpSpPr>
          <p:cNvPr name="Group 72" id="72"/>
          <p:cNvGrpSpPr/>
          <p:nvPr/>
        </p:nvGrpSpPr>
        <p:grpSpPr>
          <a:xfrm rot="0">
            <a:off x="11074432" y="6561868"/>
            <a:ext cx="6215825" cy="2005012"/>
            <a:chOff x="0" y="0"/>
            <a:chExt cx="8287766" cy="2673350"/>
          </a:xfrm>
        </p:grpSpPr>
        <p:sp>
          <p:nvSpPr>
            <p:cNvPr name="Freeform 73" id="73"/>
            <p:cNvSpPr/>
            <p:nvPr/>
          </p:nvSpPr>
          <p:spPr>
            <a:xfrm flipH="false" flipV="false" rot="0">
              <a:off x="0" y="0"/>
              <a:ext cx="8287766" cy="2673350"/>
            </a:xfrm>
            <a:custGeom>
              <a:avLst/>
              <a:gdLst/>
              <a:ahLst/>
              <a:cxnLst/>
              <a:rect r="r" b="b" t="t" l="l"/>
              <a:pathLst>
                <a:path h="2673350" w="8287766">
                  <a:moveTo>
                    <a:pt x="0" y="165989"/>
                  </a:moveTo>
                  <a:cubicBezTo>
                    <a:pt x="0" y="74295"/>
                    <a:pt x="74295" y="0"/>
                    <a:pt x="165989" y="0"/>
                  </a:cubicBezTo>
                  <a:lnTo>
                    <a:pt x="8121777" y="0"/>
                  </a:lnTo>
                  <a:cubicBezTo>
                    <a:pt x="8213471" y="0"/>
                    <a:pt x="8287766" y="74295"/>
                    <a:pt x="8287766" y="165989"/>
                  </a:cubicBezTo>
                  <a:lnTo>
                    <a:pt x="8287766" y="2507361"/>
                  </a:lnTo>
                  <a:cubicBezTo>
                    <a:pt x="8287766" y="2599055"/>
                    <a:pt x="8213471" y="2673350"/>
                    <a:pt x="8121777" y="2673350"/>
                  </a:cubicBezTo>
                  <a:lnTo>
                    <a:pt x="165989" y="2673350"/>
                  </a:lnTo>
                  <a:cubicBezTo>
                    <a:pt x="74295" y="2673350"/>
                    <a:pt x="0" y="2599055"/>
                    <a:pt x="0" y="2507361"/>
                  </a:cubicBezTo>
                  <a:close/>
                </a:path>
              </a:pathLst>
            </a:custGeom>
            <a:solidFill>
              <a:srgbClr val="FFFFFF"/>
            </a:solidFill>
            <a:ln w="16192" cap="sq">
              <a:solidFill>
                <a:srgbClr val="DCE3E6"/>
              </a:solidFill>
              <a:prstDash val="solid"/>
              <a:miter/>
            </a:ln>
          </p:spPr>
        </p:sp>
      </p:grpSp>
      <p:grpSp>
        <p:nvGrpSpPr>
          <p:cNvPr name="Group 74" id="74"/>
          <p:cNvGrpSpPr/>
          <p:nvPr/>
        </p:nvGrpSpPr>
        <p:grpSpPr>
          <a:xfrm rot="0">
            <a:off x="11521440" y="6844284"/>
            <a:ext cx="2674620" cy="1028700"/>
            <a:chOff x="0" y="0"/>
            <a:chExt cx="3566160" cy="1371600"/>
          </a:xfrm>
        </p:grpSpPr>
        <p:sp>
          <p:nvSpPr>
            <p:cNvPr name="Freeform 75" id="75"/>
            <p:cNvSpPr/>
            <p:nvPr/>
          </p:nvSpPr>
          <p:spPr>
            <a:xfrm flipH="false" flipV="false" rot="0">
              <a:off x="0" y="0"/>
              <a:ext cx="3566160" cy="1371600"/>
            </a:xfrm>
            <a:custGeom>
              <a:avLst/>
              <a:gdLst/>
              <a:ahLst/>
              <a:cxnLst/>
              <a:rect r="r" b="b" t="t" l="l"/>
              <a:pathLst>
                <a:path h="1371600" w="3566160">
                  <a:moveTo>
                    <a:pt x="0" y="0"/>
                  </a:moveTo>
                  <a:lnTo>
                    <a:pt x="3566160" y="0"/>
                  </a:lnTo>
                  <a:lnTo>
                    <a:pt x="3566160" y="1371600"/>
                  </a:lnTo>
                  <a:lnTo>
                    <a:pt x="0" y="1371600"/>
                  </a:lnTo>
                  <a:close/>
                </a:path>
              </a:pathLst>
            </a:custGeom>
            <a:blipFill>
              <a:blip r:embed="rId3">
                <a:alphaModFix amt="0"/>
              </a:blip>
              <a:stretch>
                <a:fillRect l="0" t="-661" r="0" b="-661"/>
              </a:stretch>
            </a:blipFill>
          </p:spPr>
        </p:sp>
        <p:sp>
          <p:nvSpPr>
            <p:cNvPr name="TextBox 76" id="76"/>
            <p:cNvSpPr txBox="true"/>
            <p:nvPr/>
          </p:nvSpPr>
          <p:spPr>
            <a:xfrm>
              <a:off x="0" y="0"/>
              <a:ext cx="3566160" cy="1371600"/>
            </a:xfrm>
            <a:prstGeom prst="rect">
              <a:avLst/>
            </a:prstGeom>
          </p:spPr>
          <p:txBody>
            <a:bodyPr anchor="ctr" rtlCol="false" tIns="0" lIns="0" bIns="0" rIns="0"/>
            <a:lstStyle/>
            <a:p>
              <a:pPr algn="l">
                <a:lnSpc>
                  <a:spcPts val="6066"/>
                </a:lnSpc>
              </a:pPr>
              <a:r>
                <a:rPr lang="en-US" sz="5055" b="true">
                  <a:solidFill>
                    <a:srgbClr val="101E2B"/>
                  </a:solidFill>
                  <a:latin typeface="Inter Bold"/>
                  <a:ea typeface="Inter Bold"/>
                  <a:cs typeface="Inter Bold"/>
                  <a:sym typeface="Inter Bold"/>
                </a:rPr>
                <a:t>87/87</a:t>
              </a:r>
            </a:p>
          </p:txBody>
        </p:sp>
      </p:grpSp>
      <p:grpSp>
        <p:nvGrpSpPr>
          <p:cNvPr name="Group 77" id="77"/>
          <p:cNvGrpSpPr/>
          <p:nvPr/>
        </p:nvGrpSpPr>
        <p:grpSpPr>
          <a:xfrm rot="0">
            <a:off x="14223492" y="6981444"/>
            <a:ext cx="2660904" cy="1001268"/>
            <a:chOff x="0" y="0"/>
            <a:chExt cx="3547872" cy="1335024"/>
          </a:xfrm>
        </p:grpSpPr>
        <p:sp>
          <p:nvSpPr>
            <p:cNvPr name="Freeform 78" id="78"/>
            <p:cNvSpPr/>
            <p:nvPr/>
          </p:nvSpPr>
          <p:spPr>
            <a:xfrm flipH="false" flipV="false" rot="0">
              <a:off x="0" y="0"/>
              <a:ext cx="3547872" cy="1335024"/>
            </a:xfrm>
            <a:custGeom>
              <a:avLst/>
              <a:gdLst/>
              <a:ahLst/>
              <a:cxnLst/>
              <a:rect r="r" b="b" t="t" l="l"/>
              <a:pathLst>
                <a:path h="1335024" w="3547872">
                  <a:moveTo>
                    <a:pt x="0" y="0"/>
                  </a:moveTo>
                  <a:lnTo>
                    <a:pt x="3547872" y="0"/>
                  </a:lnTo>
                  <a:lnTo>
                    <a:pt x="3547872" y="1335024"/>
                  </a:lnTo>
                  <a:lnTo>
                    <a:pt x="0" y="1335024"/>
                  </a:lnTo>
                  <a:close/>
                </a:path>
              </a:pathLst>
            </a:custGeom>
            <a:blipFill>
              <a:blip r:embed="rId3">
                <a:alphaModFix amt="0"/>
              </a:blip>
              <a:stretch>
                <a:fillRect l="0" t="-1782" r="0" b="-1782"/>
              </a:stretch>
            </a:blipFill>
          </p:spPr>
        </p:sp>
        <p:sp>
          <p:nvSpPr>
            <p:cNvPr name="TextBox 79" id="79"/>
            <p:cNvSpPr txBox="true"/>
            <p:nvPr/>
          </p:nvSpPr>
          <p:spPr>
            <a:xfrm>
              <a:off x="0" y="-9525"/>
              <a:ext cx="3547872" cy="1344549"/>
            </a:xfrm>
            <a:prstGeom prst="rect">
              <a:avLst/>
            </a:prstGeom>
          </p:spPr>
          <p:txBody>
            <a:bodyPr anchor="ctr" rtlCol="false" tIns="0" lIns="0" bIns="0" rIns="0"/>
            <a:lstStyle/>
            <a:p>
              <a:pPr algn="l">
                <a:lnSpc>
                  <a:spcPts val="2430"/>
                </a:lnSpc>
              </a:pPr>
              <a:r>
                <a:rPr lang="en-US" sz="2025" b="true">
                  <a:solidFill>
                    <a:srgbClr val="101E2B"/>
                  </a:solidFill>
                  <a:latin typeface="Inter Bold"/>
                  <a:ea typeface="Inter Bold"/>
                  <a:cs typeface="Inter Bold"/>
                  <a:sym typeface="Inter Bold"/>
                </a:rPr>
                <a:t>automated tests pass</a:t>
              </a:r>
            </a:p>
          </p:txBody>
        </p:sp>
      </p:grpSp>
      <p:grpSp>
        <p:nvGrpSpPr>
          <p:cNvPr name="Group 80" id="80"/>
          <p:cNvGrpSpPr/>
          <p:nvPr/>
        </p:nvGrpSpPr>
        <p:grpSpPr>
          <a:xfrm rot="0">
            <a:off x="11205972" y="8887968"/>
            <a:ext cx="5980176" cy="507492"/>
            <a:chOff x="0" y="0"/>
            <a:chExt cx="7973568" cy="676656"/>
          </a:xfrm>
        </p:grpSpPr>
        <p:sp>
          <p:nvSpPr>
            <p:cNvPr name="Freeform 81" id="81"/>
            <p:cNvSpPr/>
            <p:nvPr/>
          </p:nvSpPr>
          <p:spPr>
            <a:xfrm flipH="false" flipV="false" rot="0">
              <a:off x="0" y="0"/>
              <a:ext cx="7973568" cy="676656"/>
            </a:xfrm>
            <a:custGeom>
              <a:avLst/>
              <a:gdLst/>
              <a:ahLst/>
              <a:cxnLst/>
              <a:rect r="r" b="b" t="t" l="l"/>
              <a:pathLst>
                <a:path h="676656" w="7973568">
                  <a:moveTo>
                    <a:pt x="0" y="0"/>
                  </a:moveTo>
                  <a:lnTo>
                    <a:pt x="7973568" y="0"/>
                  </a:lnTo>
                  <a:lnTo>
                    <a:pt x="7973568" y="676656"/>
                  </a:lnTo>
                  <a:lnTo>
                    <a:pt x="0" y="676656"/>
                  </a:lnTo>
                  <a:close/>
                </a:path>
              </a:pathLst>
            </a:custGeom>
            <a:blipFill>
              <a:blip r:embed="rId3">
                <a:alphaModFix amt="0"/>
              </a:blip>
              <a:stretch>
                <a:fillRect l="0" t="-179607" r="0" b="-179607"/>
              </a:stretch>
            </a:blipFill>
          </p:spPr>
        </p:sp>
        <p:sp>
          <p:nvSpPr>
            <p:cNvPr name="TextBox 82" id="82"/>
            <p:cNvSpPr txBox="true"/>
            <p:nvPr/>
          </p:nvSpPr>
          <p:spPr>
            <a:xfrm>
              <a:off x="0" y="-9525"/>
              <a:ext cx="7973568" cy="686181"/>
            </a:xfrm>
            <a:prstGeom prst="rect">
              <a:avLst/>
            </a:prstGeom>
          </p:spPr>
          <p:txBody>
            <a:bodyPr anchor="ctr" rtlCol="false" tIns="0" lIns="0" bIns="0" rIns="0"/>
            <a:lstStyle/>
            <a:p>
              <a:pPr algn="l">
                <a:lnSpc>
                  <a:spcPts val="1962"/>
                </a:lnSpc>
              </a:pPr>
              <a:r>
                <a:rPr lang="en-US" sz="1635">
                  <a:solidFill>
                    <a:srgbClr val="607184"/>
                  </a:solidFill>
                  <a:latin typeface="Inter"/>
                  <a:ea typeface="Inter"/>
                  <a:cs typeface="Inter"/>
                  <a:sym typeface="Inter"/>
                </a:rPr>
                <a:t>Test set covers all five outcomes: 3 Approve · 3 Partial · 4 Deny · 1 Query · 1 Escalate</a:t>
              </a:r>
            </a:p>
          </p:txBody>
        </p:sp>
      </p:grpSp>
      <p:grpSp>
        <p:nvGrpSpPr>
          <p:cNvPr name="Group 83" id="83"/>
          <p:cNvGrpSpPr/>
          <p:nvPr/>
        </p:nvGrpSpPr>
        <p:grpSpPr>
          <a:xfrm rot="0">
            <a:off x="946404" y="9758934"/>
            <a:ext cx="9601200" cy="260604"/>
            <a:chOff x="0" y="0"/>
            <a:chExt cx="12801600" cy="347472"/>
          </a:xfrm>
        </p:grpSpPr>
        <p:sp>
          <p:nvSpPr>
            <p:cNvPr name="Freeform 84" id="84"/>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85" id="85"/>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86" id="86"/>
          <p:cNvGrpSpPr/>
          <p:nvPr/>
        </p:nvGrpSpPr>
        <p:grpSpPr>
          <a:xfrm rot="0">
            <a:off x="16733520" y="9745218"/>
            <a:ext cx="548640" cy="301752"/>
            <a:chOff x="0" y="0"/>
            <a:chExt cx="731520" cy="402336"/>
          </a:xfrm>
        </p:grpSpPr>
        <p:sp>
          <p:nvSpPr>
            <p:cNvPr name="Freeform 87" id="87"/>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88" id="88"/>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8</a:t>
              </a:r>
            </a:p>
          </p:txBody>
        </p:sp>
      </p:grpSp>
      <p:sp>
        <p:nvSpPr>
          <p:cNvPr name="Freeform 89" id="89"/>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826"/>
        </a:solidFill>
      </p:bgPr>
    </p:bg>
    <p:spTree>
      <p:nvGrpSpPr>
        <p:cNvPr id="1" name=""/>
        <p:cNvGrpSpPr/>
        <p:nvPr/>
      </p:nvGrpSpPr>
      <p:grpSpPr>
        <a:xfrm>
          <a:off x="0" y="0"/>
          <a:ext cx="0" cy="0"/>
          <a:chOff x="0" y="0"/>
          <a:chExt cx="0" cy="0"/>
        </a:xfrm>
      </p:grpSpPr>
      <p:grpSp>
        <p:nvGrpSpPr>
          <p:cNvPr name="Group 2" id="2"/>
          <p:cNvGrpSpPr/>
          <p:nvPr/>
        </p:nvGrpSpPr>
        <p:grpSpPr>
          <a:xfrm rot="0">
            <a:off x="840867" y="360807"/>
            <a:ext cx="444246" cy="94488"/>
            <a:chOff x="0" y="0"/>
            <a:chExt cx="592328" cy="125984"/>
          </a:xfrm>
        </p:grpSpPr>
        <p:sp>
          <p:nvSpPr>
            <p:cNvPr name="Freeform 3" id="3"/>
            <p:cNvSpPr/>
            <p:nvPr/>
          </p:nvSpPr>
          <p:spPr>
            <a:xfrm flipH="false" flipV="false" rot="0">
              <a:off x="0" y="0"/>
              <a:ext cx="592328" cy="125984"/>
            </a:xfrm>
            <a:custGeom>
              <a:avLst/>
              <a:gdLst/>
              <a:ahLst/>
              <a:cxnLst/>
              <a:rect r="r" b="b" t="t" l="l"/>
              <a:pathLst>
                <a:path h="125984" w="592328">
                  <a:moveTo>
                    <a:pt x="0" y="0"/>
                  </a:moveTo>
                  <a:lnTo>
                    <a:pt x="592328" y="0"/>
                  </a:lnTo>
                  <a:lnTo>
                    <a:pt x="592328" y="125984"/>
                  </a:lnTo>
                  <a:lnTo>
                    <a:pt x="0" y="125984"/>
                  </a:lnTo>
                  <a:close/>
                </a:path>
              </a:pathLst>
            </a:custGeom>
            <a:solidFill>
              <a:srgbClr val="BAF389"/>
            </a:solidFill>
          </p:spPr>
        </p:sp>
      </p:grpSp>
      <p:grpSp>
        <p:nvGrpSpPr>
          <p:cNvPr name="Group 4" id="4"/>
          <p:cNvGrpSpPr/>
          <p:nvPr/>
        </p:nvGrpSpPr>
        <p:grpSpPr>
          <a:xfrm rot="0">
            <a:off x="960120" y="699516"/>
            <a:ext cx="16322040" cy="987552"/>
            <a:chOff x="0" y="0"/>
            <a:chExt cx="21762720" cy="1316736"/>
          </a:xfrm>
        </p:grpSpPr>
        <p:sp>
          <p:nvSpPr>
            <p:cNvPr name="Freeform 5" id="5"/>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6" id="6"/>
            <p:cNvSpPr txBox="true"/>
            <p:nvPr/>
          </p:nvSpPr>
          <p:spPr>
            <a:xfrm>
              <a:off x="0" y="0"/>
              <a:ext cx="21762720" cy="1316736"/>
            </a:xfrm>
            <a:prstGeom prst="rect">
              <a:avLst/>
            </a:prstGeom>
          </p:spPr>
          <p:txBody>
            <a:bodyPr anchor="ctr" rtlCol="false" tIns="0" lIns="0" bIns="0" rIns="0"/>
            <a:lstStyle/>
            <a:p>
              <a:pPr algn="l">
                <a:lnSpc>
                  <a:spcPts val="4734"/>
                </a:lnSpc>
              </a:pPr>
              <a:r>
                <a:rPr lang="en-US" sz="3945" b="true">
                  <a:solidFill>
                    <a:srgbClr val="FFFFFF"/>
                  </a:solidFill>
                  <a:latin typeface="Inter Bold"/>
                  <a:ea typeface="Inter Bold"/>
                  <a:cs typeface="Inter Bold"/>
                  <a:sym typeface="Inter Bold"/>
                </a:rPr>
                <a:t>Real open-source LLM: Qwen 2.5 7B on a laptop CPU</a:t>
              </a:r>
            </a:p>
          </p:txBody>
        </p:sp>
      </p:grpSp>
      <p:sp>
        <p:nvSpPr>
          <p:cNvPr name="AutoShape 7" id="7"/>
          <p:cNvSpPr/>
          <p:nvPr/>
        </p:nvSpPr>
        <p:spPr>
          <a:xfrm rot="3180">
            <a:off x="925068" y="1737170"/>
            <a:ext cx="16460734" cy="0"/>
          </a:xfrm>
          <a:prstGeom prst="line">
            <a:avLst/>
          </a:prstGeom>
          <a:ln cap="rnd" w="9525">
            <a:solidFill>
              <a:srgbClr val="334658"/>
            </a:solidFill>
            <a:prstDash val="solid"/>
            <a:headEnd type="none" len="sm" w="sm"/>
            <a:tailEnd type="none" len="sm" w="sm"/>
          </a:ln>
        </p:spPr>
      </p:sp>
      <p:grpSp>
        <p:nvGrpSpPr>
          <p:cNvPr name="Group 8" id="8"/>
          <p:cNvGrpSpPr/>
          <p:nvPr/>
        </p:nvGrpSpPr>
        <p:grpSpPr>
          <a:xfrm rot="0">
            <a:off x="1020604" y="2076736"/>
            <a:ext cx="9644824" cy="1620964"/>
            <a:chOff x="0" y="0"/>
            <a:chExt cx="12859766" cy="2161286"/>
          </a:xfrm>
        </p:grpSpPr>
        <p:sp>
          <p:nvSpPr>
            <p:cNvPr name="Freeform 9" id="9"/>
            <p:cNvSpPr/>
            <p:nvPr/>
          </p:nvSpPr>
          <p:spPr>
            <a:xfrm flipH="false" flipV="false" rot="0">
              <a:off x="0" y="0"/>
              <a:ext cx="12859893" cy="2161286"/>
            </a:xfrm>
            <a:custGeom>
              <a:avLst/>
              <a:gdLst/>
              <a:ahLst/>
              <a:cxnLst/>
              <a:rect r="r" b="b" t="t" l="l"/>
              <a:pathLst>
                <a:path h="2161286" w="12859893">
                  <a:moveTo>
                    <a:pt x="0" y="147828"/>
                  </a:moveTo>
                  <a:cubicBezTo>
                    <a:pt x="0" y="66167"/>
                    <a:pt x="66167" y="0"/>
                    <a:pt x="147828" y="0"/>
                  </a:cubicBezTo>
                  <a:lnTo>
                    <a:pt x="12712065" y="0"/>
                  </a:lnTo>
                  <a:cubicBezTo>
                    <a:pt x="12793726" y="0"/>
                    <a:pt x="12859893" y="66167"/>
                    <a:pt x="12859893" y="147828"/>
                  </a:cubicBezTo>
                  <a:lnTo>
                    <a:pt x="12859893" y="2013458"/>
                  </a:lnTo>
                  <a:cubicBezTo>
                    <a:pt x="12859893" y="2095119"/>
                    <a:pt x="12793726" y="2161286"/>
                    <a:pt x="12712065" y="2161286"/>
                  </a:cubicBezTo>
                  <a:lnTo>
                    <a:pt x="147828" y="2161286"/>
                  </a:lnTo>
                  <a:cubicBezTo>
                    <a:pt x="66167" y="2161286"/>
                    <a:pt x="0" y="2095119"/>
                    <a:pt x="0" y="2013458"/>
                  </a:cubicBezTo>
                  <a:close/>
                </a:path>
              </a:pathLst>
            </a:custGeom>
            <a:solidFill>
              <a:srgbClr val="15283A"/>
            </a:solidFill>
            <a:ln w="16192" cap="sq">
              <a:solidFill>
                <a:srgbClr val="32495A"/>
              </a:solidFill>
              <a:prstDash val="solid"/>
              <a:miter/>
            </a:ln>
          </p:spPr>
        </p:sp>
      </p:grpSp>
      <p:grpSp>
        <p:nvGrpSpPr>
          <p:cNvPr name="Group 10" id="10"/>
          <p:cNvGrpSpPr/>
          <p:nvPr/>
        </p:nvGrpSpPr>
        <p:grpSpPr>
          <a:xfrm rot="0">
            <a:off x="1019175" y="2075307"/>
            <a:ext cx="121920" cy="1623822"/>
            <a:chOff x="0" y="0"/>
            <a:chExt cx="162560" cy="2165096"/>
          </a:xfrm>
        </p:grpSpPr>
        <p:sp>
          <p:nvSpPr>
            <p:cNvPr name="Freeform 11" id="11"/>
            <p:cNvSpPr/>
            <p:nvPr/>
          </p:nvSpPr>
          <p:spPr>
            <a:xfrm flipH="false" flipV="false" rot="0">
              <a:off x="0" y="0"/>
              <a:ext cx="162560" cy="2165096"/>
            </a:xfrm>
            <a:custGeom>
              <a:avLst/>
              <a:gdLst/>
              <a:ahLst/>
              <a:cxnLst/>
              <a:rect r="r" b="b" t="t" l="l"/>
              <a:pathLst>
                <a:path h="2165096" w="162560">
                  <a:moveTo>
                    <a:pt x="0" y="0"/>
                  </a:moveTo>
                  <a:lnTo>
                    <a:pt x="162560" y="0"/>
                  </a:lnTo>
                  <a:lnTo>
                    <a:pt x="162560" y="2165096"/>
                  </a:lnTo>
                  <a:lnTo>
                    <a:pt x="0" y="2165096"/>
                  </a:lnTo>
                  <a:close/>
                </a:path>
              </a:pathLst>
            </a:custGeom>
            <a:solidFill>
              <a:srgbClr val="BAF389"/>
            </a:solidFill>
          </p:spPr>
        </p:sp>
      </p:grpSp>
      <p:grpSp>
        <p:nvGrpSpPr>
          <p:cNvPr name="Group 12" id="12"/>
          <p:cNvGrpSpPr/>
          <p:nvPr/>
        </p:nvGrpSpPr>
        <p:grpSpPr>
          <a:xfrm rot="0">
            <a:off x="1371600" y="2249424"/>
            <a:ext cx="8874252" cy="480060"/>
            <a:chOff x="0" y="0"/>
            <a:chExt cx="11832336" cy="640080"/>
          </a:xfrm>
        </p:grpSpPr>
        <p:sp>
          <p:nvSpPr>
            <p:cNvPr name="Freeform 13" id="13"/>
            <p:cNvSpPr/>
            <p:nvPr/>
          </p:nvSpPr>
          <p:spPr>
            <a:xfrm flipH="false" flipV="false" rot="0">
              <a:off x="0" y="0"/>
              <a:ext cx="11832336" cy="640080"/>
            </a:xfrm>
            <a:custGeom>
              <a:avLst/>
              <a:gdLst/>
              <a:ahLst/>
              <a:cxnLst/>
              <a:rect r="r" b="b" t="t" l="l"/>
              <a:pathLst>
                <a:path h="640080" w="11832336">
                  <a:moveTo>
                    <a:pt x="0" y="0"/>
                  </a:moveTo>
                  <a:lnTo>
                    <a:pt x="11832336" y="0"/>
                  </a:lnTo>
                  <a:lnTo>
                    <a:pt x="11832336" y="640080"/>
                  </a:lnTo>
                  <a:lnTo>
                    <a:pt x="0" y="640080"/>
                  </a:lnTo>
                  <a:close/>
                </a:path>
              </a:pathLst>
            </a:custGeom>
            <a:blipFill>
              <a:blip r:embed="rId3">
                <a:alphaModFix amt="0"/>
              </a:blip>
              <a:stretch>
                <a:fillRect l="0" t="-310194" r="0" b="-310194"/>
              </a:stretch>
            </a:blipFill>
          </p:spPr>
        </p:sp>
        <p:sp>
          <p:nvSpPr>
            <p:cNvPr name="TextBox 14" id="14"/>
            <p:cNvSpPr txBox="true"/>
            <p:nvPr/>
          </p:nvSpPr>
          <p:spPr>
            <a:xfrm>
              <a:off x="0" y="0"/>
              <a:ext cx="11832336" cy="640080"/>
            </a:xfrm>
            <a:prstGeom prst="rect">
              <a:avLst/>
            </a:prstGeom>
          </p:spPr>
          <p:txBody>
            <a:bodyPr anchor="ctr" rtlCol="false" tIns="0" lIns="0" bIns="0" rIns="0"/>
            <a:lstStyle/>
            <a:p>
              <a:pPr algn="l">
                <a:lnSpc>
                  <a:spcPts val="2879"/>
                </a:lnSpc>
              </a:pPr>
              <a:r>
                <a:rPr lang="en-US" sz="2400" b="true">
                  <a:solidFill>
                    <a:srgbClr val="FFFFFF"/>
                  </a:solidFill>
                  <a:latin typeface="Inter Bold"/>
                  <a:ea typeface="Inter Bold"/>
                  <a:cs typeface="Inter Bold"/>
                  <a:sym typeface="Inter Bold"/>
                </a:rPr>
                <a:t>Same 12 labelled cases</a:t>
              </a:r>
            </a:p>
          </p:txBody>
        </p:sp>
      </p:grpSp>
      <p:sp>
        <p:nvSpPr>
          <p:cNvPr name="TextBox 15" id="15"/>
          <p:cNvSpPr txBox="true"/>
          <p:nvPr/>
        </p:nvSpPr>
        <p:spPr>
          <a:xfrm rot="0">
            <a:off x="1371600" y="2825496"/>
            <a:ext cx="8901684" cy="768096"/>
          </a:xfrm>
          <a:prstGeom prst="rect">
            <a:avLst/>
          </a:prstGeom>
        </p:spPr>
        <p:txBody>
          <a:bodyPr anchor="t" rtlCol="false" tIns="0" lIns="0" bIns="0" rIns="0">
            <a:spAutoFit/>
          </a:bodyPr>
          <a:lstStyle/>
          <a:p>
            <a:pPr algn="l">
              <a:lnSpc>
                <a:spcPts val="2232"/>
              </a:lnSpc>
            </a:pPr>
            <a:r>
              <a:rPr lang="en-US" sz="1860">
                <a:solidFill>
                  <a:srgbClr val="C1D2DC"/>
                </a:solidFill>
                <a:latin typeface="Inter"/>
                <a:ea typeface="Inter"/>
                <a:cs typeface="Inter"/>
                <a:sym typeface="Inter"/>
              </a:rPr>
              <a:t>Qwen 2.5 7B Instruct (open weights) via Ollama, CPU only; about 16 s per case for both LLM calls</a:t>
            </a:r>
          </a:p>
        </p:txBody>
      </p:sp>
      <p:grpSp>
        <p:nvGrpSpPr>
          <p:cNvPr name="Group 16" id="16"/>
          <p:cNvGrpSpPr/>
          <p:nvPr/>
        </p:nvGrpSpPr>
        <p:grpSpPr>
          <a:xfrm rot="0">
            <a:off x="1020604" y="3873532"/>
            <a:ext cx="9644824" cy="1620964"/>
            <a:chOff x="0" y="0"/>
            <a:chExt cx="12859766" cy="2161286"/>
          </a:xfrm>
        </p:grpSpPr>
        <p:sp>
          <p:nvSpPr>
            <p:cNvPr name="Freeform 17" id="17"/>
            <p:cNvSpPr/>
            <p:nvPr/>
          </p:nvSpPr>
          <p:spPr>
            <a:xfrm flipH="false" flipV="false" rot="0">
              <a:off x="0" y="0"/>
              <a:ext cx="12859893" cy="2161286"/>
            </a:xfrm>
            <a:custGeom>
              <a:avLst/>
              <a:gdLst/>
              <a:ahLst/>
              <a:cxnLst/>
              <a:rect r="r" b="b" t="t" l="l"/>
              <a:pathLst>
                <a:path h="2161286" w="12859893">
                  <a:moveTo>
                    <a:pt x="0" y="147828"/>
                  </a:moveTo>
                  <a:cubicBezTo>
                    <a:pt x="0" y="66167"/>
                    <a:pt x="66167" y="0"/>
                    <a:pt x="147828" y="0"/>
                  </a:cubicBezTo>
                  <a:lnTo>
                    <a:pt x="12712065" y="0"/>
                  </a:lnTo>
                  <a:cubicBezTo>
                    <a:pt x="12793726" y="0"/>
                    <a:pt x="12859893" y="66167"/>
                    <a:pt x="12859893" y="147828"/>
                  </a:cubicBezTo>
                  <a:lnTo>
                    <a:pt x="12859893" y="2013458"/>
                  </a:lnTo>
                  <a:cubicBezTo>
                    <a:pt x="12859893" y="2095119"/>
                    <a:pt x="12793726" y="2161286"/>
                    <a:pt x="12712065" y="2161286"/>
                  </a:cubicBezTo>
                  <a:lnTo>
                    <a:pt x="147828" y="2161286"/>
                  </a:lnTo>
                  <a:cubicBezTo>
                    <a:pt x="66167" y="2161286"/>
                    <a:pt x="0" y="2095119"/>
                    <a:pt x="0" y="2013458"/>
                  </a:cubicBezTo>
                  <a:close/>
                </a:path>
              </a:pathLst>
            </a:custGeom>
            <a:solidFill>
              <a:srgbClr val="15283A"/>
            </a:solidFill>
            <a:ln w="16192" cap="sq">
              <a:solidFill>
                <a:srgbClr val="32495A"/>
              </a:solidFill>
              <a:prstDash val="solid"/>
              <a:miter/>
            </a:ln>
          </p:spPr>
        </p:sp>
      </p:grpSp>
      <p:grpSp>
        <p:nvGrpSpPr>
          <p:cNvPr name="Group 18" id="18"/>
          <p:cNvGrpSpPr/>
          <p:nvPr/>
        </p:nvGrpSpPr>
        <p:grpSpPr>
          <a:xfrm rot="0">
            <a:off x="1019175" y="3872103"/>
            <a:ext cx="121920" cy="1623822"/>
            <a:chOff x="0" y="0"/>
            <a:chExt cx="162560" cy="2165096"/>
          </a:xfrm>
        </p:grpSpPr>
        <p:sp>
          <p:nvSpPr>
            <p:cNvPr name="Freeform 19" id="19"/>
            <p:cNvSpPr/>
            <p:nvPr/>
          </p:nvSpPr>
          <p:spPr>
            <a:xfrm flipH="false" flipV="false" rot="0">
              <a:off x="0" y="0"/>
              <a:ext cx="162560" cy="2165096"/>
            </a:xfrm>
            <a:custGeom>
              <a:avLst/>
              <a:gdLst/>
              <a:ahLst/>
              <a:cxnLst/>
              <a:rect r="r" b="b" t="t" l="l"/>
              <a:pathLst>
                <a:path h="2165096" w="162560">
                  <a:moveTo>
                    <a:pt x="0" y="0"/>
                  </a:moveTo>
                  <a:lnTo>
                    <a:pt x="162560" y="0"/>
                  </a:lnTo>
                  <a:lnTo>
                    <a:pt x="162560" y="2165096"/>
                  </a:lnTo>
                  <a:lnTo>
                    <a:pt x="0" y="2165096"/>
                  </a:lnTo>
                  <a:close/>
                </a:path>
              </a:pathLst>
            </a:custGeom>
            <a:solidFill>
              <a:srgbClr val="BAF389"/>
            </a:solidFill>
          </p:spPr>
        </p:sp>
      </p:grpSp>
      <p:grpSp>
        <p:nvGrpSpPr>
          <p:cNvPr name="Group 20" id="20"/>
          <p:cNvGrpSpPr/>
          <p:nvPr/>
        </p:nvGrpSpPr>
        <p:grpSpPr>
          <a:xfrm rot="0">
            <a:off x="1371600" y="4046220"/>
            <a:ext cx="8874252" cy="480060"/>
            <a:chOff x="0" y="0"/>
            <a:chExt cx="11832336" cy="640080"/>
          </a:xfrm>
        </p:grpSpPr>
        <p:sp>
          <p:nvSpPr>
            <p:cNvPr name="Freeform 21" id="21"/>
            <p:cNvSpPr/>
            <p:nvPr/>
          </p:nvSpPr>
          <p:spPr>
            <a:xfrm flipH="false" flipV="false" rot="0">
              <a:off x="0" y="0"/>
              <a:ext cx="11832336" cy="640080"/>
            </a:xfrm>
            <a:custGeom>
              <a:avLst/>
              <a:gdLst/>
              <a:ahLst/>
              <a:cxnLst/>
              <a:rect r="r" b="b" t="t" l="l"/>
              <a:pathLst>
                <a:path h="640080" w="11832336">
                  <a:moveTo>
                    <a:pt x="0" y="0"/>
                  </a:moveTo>
                  <a:lnTo>
                    <a:pt x="11832336" y="0"/>
                  </a:lnTo>
                  <a:lnTo>
                    <a:pt x="11832336" y="640080"/>
                  </a:lnTo>
                  <a:lnTo>
                    <a:pt x="0" y="640080"/>
                  </a:lnTo>
                  <a:close/>
                </a:path>
              </a:pathLst>
            </a:custGeom>
            <a:blipFill>
              <a:blip r:embed="rId3">
                <a:alphaModFix amt="0"/>
              </a:blip>
              <a:stretch>
                <a:fillRect l="0" t="-310194" r="0" b="-310194"/>
              </a:stretch>
            </a:blipFill>
          </p:spPr>
        </p:sp>
        <p:sp>
          <p:nvSpPr>
            <p:cNvPr name="TextBox 22" id="22"/>
            <p:cNvSpPr txBox="true"/>
            <p:nvPr/>
          </p:nvSpPr>
          <p:spPr>
            <a:xfrm>
              <a:off x="0" y="0"/>
              <a:ext cx="11832336" cy="640080"/>
            </a:xfrm>
            <a:prstGeom prst="rect">
              <a:avLst/>
            </a:prstGeom>
          </p:spPr>
          <p:txBody>
            <a:bodyPr anchor="ctr" rtlCol="false" tIns="0" lIns="0" bIns="0" rIns="0"/>
            <a:lstStyle/>
            <a:p>
              <a:pPr algn="l">
                <a:lnSpc>
                  <a:spcPts val="2879"/>
                </a:lnSpc>
              </a:pPr>
              <a:r>
                <a:rPr lang="en-US" sz="2400" b="true">
                  <a:solidFill>
                    <a:srgbClr val="FFFFFF"/>
                  </a:solidFill>
                  <a:latin typeface="Inter Bold"/>
                  <a:ea typeface="Inter Bold"/>
                  <a:cs typeface="Inter Bold"/>
                  <a:sym typeface="Inter Bold"/>
                </a:rPr>
                <a:t>What it got right</a:t>
              </a:r>
            </a:p>
          </p:txBody>
        </p:sp>
      </p:grpSp>
      <p:sp>
        <p:nvSpPr>
          <p:cNvPr name="TextBox 23" id="23"/>
          <p:cNvSpPr txBox="true"/>
          <p:nvPr/>
        </p:nvSpPr>
        <p:spPr>
          <a:xfrm rot="0">
            <a:off x="1371600" y="4622292"/>
            <a:ext cx="8901684" cy="768096"/>
          </a:xfrm>
          <a:prstGeom prst="rect">
            <a:avLst/>
          </a:prstGeom>
        </p:spPr>
        <p:txBody>
          <a:bodyPr anchor="t" rtlCol="false" tIns="0" lIns="0" bIns="0" rIns="0">
            <a:spAutoFit/>
          </a:bodyPr>
          <a:lstStyle/>
          <a:p>
            <a:pPr algn="l">
              <a:lnSpc>
                <a:spcPts val="2232"/>
              </a:lnSpc>
            </a:pPr>
            <a:r>
              <a:rPr lang="en-US" sz="1860">
                <a:solidFill>
                  <a:srgbClr val="C1D2DC"/>
                </a:solidFill>
                <a:latin typeface="Inter"/>
                <a:ea typeface="Inter"/>
                <a:cs typeface="Inter"/>
                <a:sym typeface="Inter"/>
              </a:rPr>
              <a:t>Procedure, conditions, cosmetic and accident flags 100% correct; schema-valid JSON on every first try</a:t>
            </a:r>
          </a:p>
        </p:txBody>
      </p:sp>
      <p:grpSp>
        <p:nvGrpSpPr>
          <p:cNvPr name="Group 24" id="24"/>
          <p:cNvGrpSpPr/>
          <p:nvPr/>
        </p:nvGrpSpPr>
        <p:grpSpPr>
          <a:xfrm rot="0">
            <a:off x="1020604" y="5670328"/>
            <a:ext cx="9644824" cy="1620964"/>
            <a:chOff x="0" y="0"/>
            <a:chExt cx="12859766" cy="2161286"/>
          </a:xfrm>
        </p:grpSpPr>
        <p:sp>
          <p:nvSpPr>
            <p:cNvPr name="Freeform 25" id="25"/>
            <p:cNvSpPr/>
            <p:nvPr/>
          </p:nvSpPr>
          <p:spPr>
            <a:xfrm flipH="false" flipV="false" rot="0">
              <a:off x="0" y="0"/>
              <a:ext cx="12859893" cy="2161286"/>
            </a:xfrm>
            <a:custGeom>
              <a:avLst/>
              <a:gdLst/>
              <a:ahLst/>
              <a:cxnLst/>
              <a:rect r="r" b="b" t="t" l="l"/>
              <a:pathLst>
                <a:path h="2161286" w="12859893">
                  <a:moveTo>
                    <a:pt x="0" y="147828"/>
                  </a:moveTo>
                  <a:cubicBezTo>
                    <a:pt x="0" y="66167"/>
                    <a:pt x="66167" y="0"/>
                    <a:pt x="147828" y="0"/>
                  </a:cubicBezTo>
                  <a:lnTo>
                    <a:pt x="12712065" y="0"/>
                  </a:lnTo>
                  <a:cubicBezTo>
                    <a:pt x="12793726" y="0"/>
                    <a:pt x="12859893" y="66167"/>
                    <a:pt x="12859893" y="147828"/>
                  </a:cubicBezTo>
                  <a:lnTo>
                    <a:pt x="12859893" y="2013458"/>
                  </a:lnTo>
                  <a:cubicBezTo>
                    <a:pt x="12859893" y="2095119"/>
                    <a:pt x="12793726" y="2161286"/>
                    <a:pt x="12712065" y="2161286"/>
                  </a:cubicBezTo>
                  <a:lnTo>
                    <a:pt x="147828" y="2161286"/>
                  </a:lnTo>
                  <a:cubicBezTo>
                    <a:pt x="66167" y="2161286"/>
                    <a:pt x="0" y="2095119"/>
                    <a:pt x="0" y="2013458"/>
                  </a:cubicBezTo>
                  <a:close/>
                </a:path>
              </a:pathLst>
            </a:custGeom>
            <a:solidFill>
              <a:srgbClr val="15283A"/>
            </a:solidFill>
            <a:ln w="16192" cap="sq">
              <a:solidFill>
                <a:srgbClr val="32495A"/>
              </a:solidFill>
              <a:prstDash val="solid"/>
              <a:miter/>
            </a:ln>
          </p:spPr>
        </p:sp>
      </p:grpSp>
      <p:grpSp>
        <p:nvGrpSpPr>
          <p:cNvPr name="Group 26" id="26"/>
          <p:cNvGrpSpPr/>
          <p:nvPr/>
        </p:nvGrpSpPr>
        <p:grpSpPr>
          <a:xfrm rot="0">
            <a:off x="1019175" y="5668899"/>
            <a:ext cx="121920" cy="1623822"/>
            <a:chOff x="0" y="0"/>
            <a:chExt cx="162560" cy="2165096"/>
          </a:xfrm>
        </p:grpSpPr>
        <p:sp>
          <p:nvSpPr>
            <p:cNvPr name="Freeform 27" id="27"/>
            <p:cNvSpPr/>
            <p:nvPr/>
          </p:nvSpPr>
          <p:spPr>
            <a:xfrm flipH="false" flipV="false" rot="0">
              <a:off x="0" y="0"/>
              <a:ext cx="162560" cy="2165096"/>
            </a:xfrm>
            <a:custGeom>
              <a:avLst/>
              <a:gdLst/>
              <a:ahLst/>
              <a:cxnLst/>
              <a:rect r="r" b="b" t="t" l="l"/>
              <a:pathLst>
                <a:path h="2165096" w="162560">
                  <a:moveTo>
                    <a:pt x="0" y="0"/>
                  </a:moveTo>
                  <a:lnTo>
                    <a:pt x="162560" y="0"/>
                  </a:lnTo>
                  <a:lnTo>
                    <a:pt x="162560" y="2165096"/>
                  </a:lnTo>
                  <a:lnTo>
                    <a:pt x="0" y="2165096"/>
                  </a:lnTo>
                  <a:close/>
                </a:path>
              </a:pathLst>
            </a:custGeom>
            <a:solidFill>
              <a:srgbClr val="EE6A59"/>
            </a:solidFill>
          </p:spPr>
        </p:sp>
      </p:grpSp>
      <p:grpSp>
        <p:nvGrpSpPr>
          <p:cNvPr name="Group 28" id="28"/>
          <p:cNvGrpSpPr/>
          <p:nvPr/>
        </p:nvGrpSpPr>
        <p:grpSpPr>
          <a:xfrm rot="0">
            <a:off x="1371600" y="5843016"/>
            <a:ext cx="8874252" cy="480060"/>
            <a:chOff x="0" y="0"/>
            <a:chExt cx="11832336" cy="640080"/>
          </a:xfrm>
        </p:grpSpPr>
        <p:sp>
          <p:nvSpPr>
            <p:cNvPr name="Freeform 29" id="29"/>
            <p:cNvSpPr/>
            <p:nvPr/>
          </p:nvSpPr>
          <p:spPr>
            <a:xfrm flipH="false" flipV="false" rot="0">
              <a:off x="0" y="0"/>
              <a:ext cx="11832336" cy="640080"/>
            </a:xfrm>
            <a:custGeom>
              <a:avLst/>
              <a:gdLst/>
              <a:ahLst/>
              <a:cxnLst/>
              <a:rect r="r" b="b" t="t" l="l"/>
              <a:pathLst>
                <a:path h="640080" w="11832336">
                  <a:moveTo>
                    <a:pt x="0" y="0"/>
                  </a:moveTo>
                  <a:lnTo>
                    <a:pt x="11832336" y="0"/>
                  </a:lnTo>
                  <a:lnTo>
                    <a:pt x="11832336" y="640080"/>
                  </a:lnTo>
                  <a:lnTo>
                    <a:pt x="0" y="640080"/>
                  </a:lnTo>
                  <a:close/>
                </a:path>
              </a:pathLst>
            </a:custGeom>
            <a:blipFill>
              <a:blip r:embed="rId3">
                <a:alphaModFix amt="0"/>
              </a:blip>
              <a:stretch>
                <a:fillRect l="0" t="-310194" r="0" b="-310194"/>
              </a:stretch>
            </a:blipFill>
          </p:spPr>
        </p:sp>
        <p:sp>
          <p:nvSpPr>
            <p:cNvPr name="TextBox 30" id="30"/>
            <p:cNvSpPr txBox="true"/>
            <p:nvPr/>
          </p:nvSpPr>
          <p:spPr>
            <a:xfrm>
              <a:off x="0" y="0"/>
              <a:ext cx="11832336" cy="640080"/>
            </a:xfrm>
            <a:prstGeom prst="rect">
              <a:avLst/>
            </a:prstGeom>
          </p:spPr>
          <p:txBody>
            <a:bodyPr anchor="ctr" rtlCol="false" tIns="0" lIns="0" bIns="0" rIns="0"/>
            <a:lstStyle/>
            <a:p>
              <a:pPr algn="l">
                <a:lnSpc>
                  <a:spcPts val="2879"/>
                </a:lnSpc>
              </a:pPr>
              <a:r>
                <a:rPr lang="en-US" sz="2400" b="true">
                  <a:solidFill>
                    <a:srgbClr val="FFFFFF"/>
                  </a:solidFill>
                  <a:latin typeface="Inter Bold"/>
                  <a:ea typeface="Inter Bold"/>
                  <a:cs typeface="Inter Bold"/>
                  <a:sym typeface="Inter Bold"/>
                </a:rPr>
                <a:t>What it got wrong</a:t>
              </a:r>
            </a:p>
          </p:txBody>
        </p:sp>
      </p:grpSp>
      <p:sp>
        <p:nvSpPr>
          <p:cNvPr name="TextBox 31" id="31"/>
          <p:cNvSpPr txBox="true"/>
          <p:nvPr/>
        </p:nvSpPr>
        <p:spPr>
          <a:xfrm rot="0">
            <a:off x="1371600" y="6419088"/>
            <a:ext cx="8901684" cy="768096"/>
          </a:xfrm>
          <a:prstGeom prst="rect">
            <a:avLst/>
          </a:prstGeom>
        </p:spPr>
        <p:txBody>
          <a:bodyPr anchor="t" rtlCol="false" tIns="0" lIns="0" bIns="0" rIns="0">
            <a:spAutoFit/>
          </a:bodyPr>
          <a:lstStyle/>
          <a:p>
            <a:pPr algn="l">
              <a:lnSpc>
                <a:spcPts val="2232"/>
              </a:lnSpc>
            </a:pPr>
            <a:r>
              <a:rPr lang="en-US" sz="1860">
                <a:solidFill>
                  <a:srgbClr val="C1D2DC"/>
                </a:solidFill>
                <a:latin typeface="Inter"/>
                <a:ea typeface="Inter"/>
                <a:cs typeface="Inter"/>
                <a:sym typeface="Inter"/>
              </a:rPr>
              <a:t>functional_need: 25% → 67% after a prompt fix. The Critic showed none of these errors changed a decision</a:t>
            </a:r>
          </a:p>
        </p:txBody>
      </p:sp>
      <p:grpSp>
        <p:nvGrpSpPr>
          <p:cNvPr name="Group 32" id="32"/>
          <p:cNvGrpSpPr/>
          <p:nvPr/>
        </p:nvGrpSpPr>
        <p:grpSpPr>
          <a:xfrm rot="0">
            <a:off x="1020604" y="7467124"/>
            <a:ext cx="9644824" cy="1620964"/>
            <a:chOff x="0" y="0"/>
            <a:chExt cx="12859766" cy="2161286"/>
          </a:xfrm>
        </p:grpSpPr>
        <p:sp>
          <p:nvSpPr>
            <p:cNvPr name="Freeform 33" id="33"/>
            <p:cNvSpPr/>
            <p:nvPr/>
          </p:nvSpPr>
          <p:spPr>
            <a:xfrm flipH="false" flipV="false" rot="0">
              <a:off x="0" y="0"/>
              <a:ext cx="12859893" cy="2161286"/>
            </a:xfrm>
            <a:custGeom>
              <a:avLst/>
              <a:gdLst/>
              <a:ahLst/>
              <a:cxnLst/>
              <a:rect r="r" b="b" t="t" l="l"/>
              <a:pathLst>
                <a:path h="2161286" w="12859893">
                  <a:moveTo>
                    <a:pt x="0" y="147828"/>
                  </a:moveTo>
                  <a:cubicBezTo>
                    <a:pt x="0" y="66167"/>
                    <a:pt x="66167" y="0"/>
                    <a:pt x="147828" y="0"/>
                  </a:cubicBezTo>
                  <a:lnTo>
                    <a:pt x="12712065" y="0"/>
                  </a:lnTo>
                  <a:cubicBezTo>
                    <a:pt x="12793726" y="0"/>
                    <a:pt x="12859893" y="66167"/>
                    <a:pt x="12859893" y="147828"/>
                  </a:cubicBezTo>
                  <a:lnTo>
                    <a:pt x="12859893" y="2013458"/>
                  </a:lnTo>
                  <a:cubicBezTo>
                    <a:pt x="12859893" y="2095119"/>
                    <a:pt x="12793726" y="2161286"/>
                    <a:pt x="12712065" y="2161286"/>
                  </a:cubicBezTo>
                  <a:lnTo>
                    <a:pt x="147828" y="2161286"/>
                  </a:lnTo>
                  <a:cubicBezTo>
                    <a:pt x="66167" y="2161286"/>
                    <a:pt x="0" y="2095119"/>
                    <a:pt x="0" y="2013458"/>
                  </a:cubicBezTo>
                  <a:close/>
                </a:path>
              </a:pathLst>
            </a:custGeom>
            <a:solidFill>
              <a:srgbClr val="15283A"/>
            </a:solidFill>
            <a:ln w="16192" cap="sq">
              <a:solidFill>
                <a:srgbClr val="32495A"/>
              </a:solidFill>
              <a:prstDash val="solid"/>
              <a:miter/>
            </a:ln>
          </p:spPr>
        </p:sp>
      </p:grpSp>
      <p:grpSp>
        <p:nvGrpSpPr>
          <p:cNvPr name="Group 34" id="34"/>
          <p:cNvGrpSpPr/>
          <p:nvPr/>
        </p:nvGrpSpPr>
        <p:grpSpPr>
          <a:xfrm rot="0">
            <a:off x="1019175" y="7465695"/>
            <a:ext cx="121920" cy="1623822"/>
            <a:chOff x="0" y="0"/>
            <a:chExt cx="162560" cy="2165096"/>
          </a:xfrm>
        </p:grpSpPr>
        <p:sp>
          <p:nvSpPr>
            <p:cNvPr name="Freeform 35" id="35"/>
            <p:cNvSpPr/>
            <p:nvPr/>
          </p:nvSpPr>
          <p:spPr>
            <a:xfrm flipH="false" flipV="false" rot="0">
              <a:off x="0" y="0"/>
              <a:ext cx="162560" cy="2165096"/>
            </a:xfrm>
            <a:custGeom>
              <a:avLst/>
              <a:gdLst/>
              <a:ahLst/>
              <a:cxnLst/>
              <a:rect r="r" b="b" t="t" l="l"/>
              <a:pathLst>
                <a:path h="2165096" w="162560">
                  <a:moveTo>
                    <a:pt x="0" y="0"/>
                  </a:moveTo>
                  <a:lnTo>
                    <a:pt x="162560" y="0"/>
                  </a:lnTo>
                  <a:lnTo>
                    <a:pt x="162560" y="2165096"/>
                  </a:lnTo>
                  <a:lnTo>
                    <a:pt x="0" y="2165096"/>
                  </a:lnTo>
                  <a:close/>
                </a:path>
              </a:pathLst>
            </a:custGeom>
            <a:solidFill>
              <a:srgbClr val="BAF389"/>
            </a:solidFill>
          </p:spPr>
        </p:sp>
      </p:grpSp>
      <p:grpSp>
        <p:nvGrpSpPr>
          <p:cNvPr name="Group 36" id="36"/>
          <p:cNvGrpSpPr/>
          <p:nvPr/>
        </p:nvGrpSpPr>
        <p:grpSpPr>
          <a:xfrm rot="0">
            <a:off x="1371600" y="7639812"/>
            <a:ext cx="8874252" cy="480060"/>
            <a:chOff x="0" y="0"/>
            <a:chExt cx="11832336" cy="640080"/>
          </a:xfrm>
        </p:grpSpPr>
        <p:sp>
          <p:nvSpPr>
            <p:cNvPr name="Freeform 37" id="37"/>
            <p:cNvSpPr/>
            <p:nvPr/>
          </p:nvSpPr>
          <p:spPr>
            <a:xfrm flipH="false" flipV="false" rot="0">
              <a:off x="0" y="0"/>
              <a:ext cx="11832336" cy="640080"/>
            </a:xfrm>
            <a:custGeom>
              <a:avLst/>
              <a:gdLst/>
              <a:ahLst/>
              <a:cxnLst/>
              <a:rect r="r" b="b" t="t" l="l"/>
              <a:pathLst>
                <a:path h="640080" w="11832336">
                  <a:moveTo>
                    <a:pt x="0" y="0"/>
                  </a:moveTo>
                  <a:lnTo>
                    <a:pt x="11832336" y="0"/>
                  </a:lnTo>
                  <a:lnTo>
                    <a:pt x="11832336" y="640080"/>
                  </a:lnTo>
                  <a:lnTo>
                    <a:pt x="0" y="640080"/>
                  </a:lnTo>
                  <a:close/>
                </a:path>
              </a:pathLst>
            </a:custGeom>
            <a:blipFill>
              <a:blip r:embed="rId3">
                <a:alphaModFix amt="0"/>
              </a:blip>
              <a:stretch>
                <a:fillRect l="0" t="-310194" r="0" b="-310194"/>
              </a:stretch>
            </a:blipFill>
          </p:spPr>
        </p:sp>
        <p:sp>
          <p:nvSpPr>
            <p:cNvPr name="TextBox 38" id="38"/>
            <p:cNvSpPr txBox="true"/>
            <p:nvPr/>
          </p:nvSpPr>
          <p:spPr>
            <a:xfrm>
              <a:off x="0" y="0"/>
              <a:ext cx="11832336" cy="640080"/>
            </a:xfrm>
            <a:prstGeom prst="rect">
              <a:avLst/>
            </a:prstGeom>
          </p:spPr>
          <p:txBody>
            <a:bodyPr anchor="ctr" rtlCol="false" tIns="0" lIns="0" bIns="0" rIns="0"/>
            <a:lstStyle/>
            <a:p>
              <a:pPr algn="l">
                <a:lnSpc>
                  <a:spcPts val="2879"/>
                </a:lnSpc>
              </a:pPr>
              <a:r>
                <a:rPr lang="en-US" sz="2400" b="true">
                  <a:solidFill>
                    <a:srgbClr val="FFFFFF"/>
                  </a:solidFill>
                  <a:latin typeface="Inter Bold"/>
                  <a:ea typeface="Inter Bold"/>
                  <a:cs typeface="Inter Bold"/>
                  <a:sym typeface="Inter Bold"/>
                </a:rPr>
                <a:t>What it taught us</a:t>
              </a:r>
            </a:p>
          </p:txBody>
        </p:sp>
      </p:grpSp>
      <p:sp>
        <p:nvSpPr>
          <p:cNvPr name="TextBox 39" id="39"/>
          <p:cNvSpPr txBox="true"/>
          <p:nvPr/>
        </p:nvSpPr>
        <p:spPr>
          <a:xfrm rot="0">
            <a:off x="1371600" y="8215884"/>
            <a:ext cx="8901684" cy="768096"/>
          </a:xfrm>
          <a:prstGeom prst="rect">
            <a:avLst/>
          </a:prstGeom>
        </p:spPr>
        <p:txBody>
          <a:bodyPr anchor="t" rtlCol="false" tIns="0" lIns="0" bIns="0" rIns="0">
            <a:spAutoFit/>
          </a:bodyPr>
          <a:lstStyle/>
          <a:p>
            <a:pPr algn="l">
              <a:lnSpc>
                <a:spcPts val="2232"/>
              </a:lnSpc>
            </a:pPr>
            <a:r>
              <a:rPr lang="en-US" sz="1860">
                <a:solidFill>
                  <a:srgbClr val="C1D2DC"/>
                </a:solidFill>
                <a:latin typeface="Inter"/>
                <a:ea typeface="Inter"/>
                <a:cs typeface="Inter"/>
                <a:sym typeface="Inter"/>
              </a:rPr>
              <a:t>It echoed prompt markers and reworded letter reasons: both now caught by the letter guardrail</a:t>
            </a:r>
          </a:p>
        </p:txBody>
      </p:sp>
      <p:grpSp>
        <p:nvGrpSpPr>
          <p:cNvPr name="Group 40" id="40"/>
          <p:cNvGrpSpPr/>
          <p:nvPr/>
        </p:nvGrpSpPr>
        <p:grpSpPr>
          <a:xfrm rot="0">
            <a:off x="11047000" y="2076736"/>
            <a:ext cx="6188392" cy="1950148"/>
            <a:chOff x="0" y="0"/>
            <a:chExt cx="8251190" cy="2600198"/>
          </a:xfrm>
        </p:grpSpPr>
        <p:sp>
          <p:nvSpPr>
            <p:cNvPr name="Freeform 41" id="41"/>
            <p:cNvSpPr/>
            <p:nvPr/>
          </p:nvSpPr>
          <p:spPr>
            <a:xfrm flipH="false" flipV="false" rot="0">
              <a:off x="0" y="0"/>
              <a:ext cx="8251190" cy="2600198"/>
            </a:xfrm>
            <a:custGeom>
              <a:avLst/>
              <a:gdLst/>
              <a:ahLst/>
              <a:cxnLst/>
              <a:rect r="r" b="b" t="t" l="l"/>
              <a:pathLst>
                <a:path h="2600198" w="8251190">
                  <a:moveTo>
                    <a:pt x="0" y="147574"/>
                  </a:moveTo>
                  <a:cubicBezTo>
                    <a:pt x="0" y="66040"/>
                    <a:pt x="66040" y="0"/>
                    <a:pt x="147574" y="0"/>
                  </a:cubicBezTo>
                  <a:lnTo>
                    <a:pt x="8103616" y="0"/>
                  </a:lnTo>
                  <a:cubicBezTo>
                    <a:pt x="8185150" y="0"/>
                    <a:pt x="8251190" y="66040"/>
                    <a:pt x="8251190" y="147574"/>
                  </a:cubicBezTo>
                  <a:lnTo>
                    <a:pt x="8251190" y="2452624"/>
                  </a:lnTo>
                  <a:cubicBezTo>
                    <a:pt x="8251190" y="2534158"/>
                    <a:pt x="8185150" y="2600198"/>
                    <a:pt x="8103616" y="2600198"/>
                  </a:cubicBezTo>
                  <a:lnTo>
                    <a:pt x="147574" y="2600198"/>
                  </a:lnTo>
                  <a:cubicBezTo>
                    <a:pt x="66040" y="2600198"/>
                    <a:pt x="0" y="2534158"/>
                    <a:pt x="0" y="2452624"/>
                  </a:cubicBezTo>
                  <a:close/>
                </a:path>
              </a:pathLst>
            </a:custGeom>
            <a:solidFill>
              <a:srgbClr val="F1F5F2"/>
            </a:solidFill>
            <a:ln w="16192" cap="sq">
              <a:solidFill>
                <a:srgbClr val="F1F5F2"/>
              </a:solidFill>
              <a:prstDash val="solid"/>
              <a:miter/>
            </a:ln>
          </p:spPr>
        </p:sp>
      </p:grpSp>
      <p:grpSp>
        <p:nvGrpSpPr>
          <p:cNvPr name="Group 42" id="42"/>
          <p:cNvGrpSpPr/>
          <p:nvPr/>
        </p:nvGrpSpPr>
        <p:grpSpPr>
          <a:xfrm rot="0">
            <a:off x="11507724" y="2331720"/>
            <a:ext cx="2523744" cy="1069848"/>
            <a:chOff x="0" y="0"/>
            <a:chExt cx="3364992" cy="1426464"/>
          </a:xfrm>
        </p:grpSpPr>
        <p:sp>
          <p:nvSpPr>
            <p:cNvPr name="Freeform 43" id="43"/>
            <p:cNvSpPr/>
            <p:nvPr/>
          </p:nvSpPr>
          <p:spPr>
            <a:xfrm flipH="false" flipV="false" rot="0">
              <a:off x="0" y="0"/>
              <a:ext cx="3364992" cy="1426464"/>
            </a:xfrm>
            <a:custGeom>
              <a:avLst/>
              <a:gdLst/>
              <a:ahLst/>
              <a:cxnLst/>
              <a:rect r="r" b="b" t="t" l="l"/>
              <a:pathLst>
                <a:path h="1426464" w="3364992">
                  <a:moveTo>
                    <a:pt x="0" y="0"/>
                  </a:moveTo>
                  <a:lnTo>
                    <a:pt x="3364992" y="0"/>
                  </a:lnTo>
                  <a:lnTo>
                    <a:pt x="3364992" y="1426464"/>
                  </a:lnTo>
                  <a:lnTo>
                    <a:pt x="0" y="1426464"/>
                  </a:lnTo>
                  <a:close/>
                </a:path>
              </a:pathLst>
            </a:custGeom>
            <a:blipFill>
              <a:blip r:embed="rId3">
                <a:alphaModFix amt="0"/>
              </a:blip>
              <a:stretch>
                <a:fillRect l="-4389" t="0" r="-4389" b="0"/>
              </a:stretch>
            </a:blipFill>
          </p:spPr>
        </p:sp>
        <p:sp>
          <p:nvSpPr>
            <p:cNvPr name="TextBox 44" id="44"/>
            <p:cNvSpPr txBox="true"/>
            <p:nvPr/>
          </p:nvSpPr>
          <p:spPr>
            <a:xfrm>
              <a:off x="0" y="-9525"/>
              <a:ext cx="3364992" cy="1435989"/>
            </a:xfrm>
            <a:prstGeom prst="rect">
              <a:avLst/>
            </a:prstGeom>
          </p:spPr>
          <p:txBody>
            <a:bodyPr anchor="ctr" rtlCol="false" tIns="0" lIns="0" bIns="0" rIns="0"/>
            <a:lstStyle/>
            <a:p>
              <a:pPr algn="l">
                <a:lnSpc>
                  <a:spcPts val="6300"/>
                </a:lnSpc>
              </a:pPr>
              <a:r>
                <a:rPr lang="en-US" sz="5250" b="true">
                  <a:solidFill>
                    <a:srgbClr val="101E2B"/>
                  </a:solidFill>
                  <a:latin typeface="Inter Bold"/>
                  <a:ea typeface="Inter Bold"/>
                  <a:cs typeface="Inter Bold"/>
                  <a:sym typeface="Inter Bold"/>
                </a:rPr>
                <a:t>12/12</a:t>
              </a:r>
            </a:p>
          </p:txBody>
        </p:sp>
      </p:grpSp>
      <p:grpSp>
        <p:nvGrpSpPr>
          <p:cNvPr name="Group 45" id="45"/>
          <p:cNvGrpSpPr/>
          <p:nvPr/>
        </p:nvGrpSpPr>
        <p:grpSpPr>
          <a:xfrm rot="0">
            <a:off x="14017752" y="2468880"/>
            <a:ext cx="2921508" cy="987552"/>
            <a:chOff x="0" y="0"/>
            <a:chExt cx="3895344" cy="1316736"/>
          </a:xfrm>
        </p:grpSpPr>
        <p:sp>
          <p:nvSpPr>
            <p:cNvPr name="Freeform 46" id="46"/>
            <p:cNvSpPr/>
            <p:nvPr/>
          </p:nvSpPr>
          <p:spPr>
            <a:xfrm flipH="false" flipV="false" rot="0">
              <a:off x="0" y="0"/>
              <a:ext cx="3895344" cy="1316736"/>
            </a:xfrm>
            <a:custGeom>
              <a:avLst/>
              <a:gdLst/>
              <a:ahLst/>
              <a:cxnLst/>
              <a:rect r="r" b="b" t="t" l="l"/>
              <a:pathLst>
                <a:path h="1316736" w="3895344">
                  <a:moveTo>
                    <a:pt x="0" y="0"/>
                  </a:moveTo>
                  <a:lnTo>
                    <a:pt x="3895344" y="0"/>
                  </a:lnTo>
                  <a:lnTo>
                    <a:pt x="3895344" y="1316736"/>
                  </a:lnTo>
                  <a:lnTo>
                    <a:pt x="0" y="1316736"/>
                  </a:lnTo>
                  <a:close/>
                </a:path>
              </a:pathLst>
            </a:custGeom>
            <a:blipFill>
              <a:blip r:embed="rId3">
                <a:alphaModFix amt="0"/>
              </a:blip>
              <a:stretch>
                <a:fillRect l="0" t="-7643" r="0" b="-7643"/>
              </a:stretch>
            </a:blipFill>
          </p:spPr>
        </p:sp>
        <p:sp>
          <p:nvSpPr>
            <p:cNvPr name="TextBox 47" id="47"/>
            <p:cNvSpPr txBox="true"/>
            <p:nvPr/>
          </p:nvSpPr>
          <p:spPr>
            <a:xfrm>
              <a:off x="0" y="0"/>
              <a:ext cx="3895344" cy="1316736"/>
            </a:xfrm>
            <a:prstGeom prst="rect">
              <a:avLst/>
            </a:prstGeom>
          </p:spPr>
          <p:txBody>
            <a:bodyPr anchor="ctr" rtlCol="false" tIns="0" lIns="0" bIns="0" rIns="0"/>
            <a:lstStyle/>
            <a:p>
              <a:pPr algn="l">
                <a:lnSpc>
                  <a:spcPts val="2195"/>
                </a:lnSpc>
              </a:pPr>
              <a:r>
                <a:rPr lang="en-US" sz="1829" b="true">
                  <a:solidFill>
                    <a:srgbClr val="101E2B"/>
                  </a:solidFill>
                  <a:latin typeface="Inter Bold"/>
                  <a:ea typeface="Inter Bold"/>
                  <a:cs typeface="Inter Bold"/>
                  <a:sym typeface="Inter Bold"/>
                </a:rPr>
                <a:t>decisions correct with the real LLM</a:t>
              </a:r>
            </a:p>
          </p:txBody>
        </p:sp>
      </p:grpSp>
      <p:grpSp>
        <p:nvGrpSpPr>
          <p:cNvPr name="Group 48" id="48"/>
          <p:cNvGrpSpPr/>
          <p:nvPr/>
        </p:nvGrpSpPr>
        <p:grpSpPr>
          <a:xfrm rot="0">
            <a:off x="11047000" y="4257580"/>
            <a:ext cx="6188392" cy="1950148"/>
            <a:chOff x="0" y="0"/>
            <a:chExt cx="8251190" cy="2600198"/>
          </a:xfrm>
        </p:grpSpPr>
        <p:sp>
          <p:nvSpPr>
            <p:cNvPr name="Freeform 49" id="49"/>
            <p:cNvSpPr/>
            <p:nvPr/>
          </p:nvSpPr>
          <p:spPr>
            <a:xfrm flipH="false" flipV="false" rot="0">
              <a:off x="0" y="0"/>
              <a:ext cx="8251190" cy="2600198"/>
            </a:xfrm>
            <a:custGeom>
              <a:avLst/>
              <a:gdLst/>
              <a:ahLst/>
              <a:cxnLst/>
              <a:rect r="r" b="b" t="t" l="l"/>
              <a:pathLst>
                <a:path h="2600198" w="8251190">
                  <a:moveTo>
                    <a:pt x="0" y="147574"/>
                  </a:moveTo>
                  <a:cubicBezTo>
                    <a:pt x="0" y="66040"/>
                    <a:pt x="66040" y="0"/>
                    <a:pt x="147574" y="0"/>
                  </a:cubicBezTo>
                  <a:lnTo>
                    <a:pt x="8103616" y="0"/>
                  </a:lnTo>
                  <a:cubicBezTo>
                    <a:pt x="8185150" y="0"/>
                    <a:pt x="8251190" y="66040"/>
                    <a:pt x="8251190" y="147574"/>
                  </a:cubicBezTo>
                  <a:lnTo>
                    <a:pt x="8251190" y="2452624"/>
                  </a:lnTo>
                  <a:cubicBezTo>
                    <a:pt x="8251190" y="2534158"/>
                    <a:pt x="8185150" y="2600198"/>
                    <a:pt x="8103616" y="2600198"/>
                  </a:cubicBezTo>
                  <a:lnTo>
                    <a:pt x="147574" y="2600198"/>
                  </a:lnTo>
                  <a:cubicBezTo>
                    <a:pt x="66040" y="2600198"/>
                    <a:pt x="0" y="2534158"/>
                    <a:pt x="0" y="2452624"/>
                  </a:cubicBezTo>
                  <a:close/>
                </a:path>
              </a:pathLst>
            </a:custGeom>
            <a:solidFill>
              <a:srgbClr val="263B4D"/>
            </a:solidFill>
            <a:ln w="16192" cap="sq">
              <a:solidFill>
                <a:srgbClr val="263B4D"/>
              </a:solidFill>
              <a:prstDash val="solid"/>
              <a:miter/>
            </a:ln>
          </p:spPr>
        </p:sp>
      </p:grpSp>
      <p:grpSp>
        <p:nvGrpSpPr>
          <p:cNvPr name="Group 50" id="50"/>
          <p:cNvGrpSpPr/>
          <p:nvPr/>
        </p:nvGrpSpPr>
        <p:grpSpPr>
          <a:xfrm rot="0">
            <a:off x="11507724" y="4512564"/>
            <a:ext cx="2523744" cy="1069848"/>
            <a:chOff x="0" y="0"/>
            <a:chExt cx="3364992" cy="1426464"/>
          </a:xfrm>
        </p:grpSpPr>
        <p:sp>
          <p:nvSpPr>
            <p:cNvPr name="Freeform 51" id="51"/>
            <p:cNvSpPr/>
            <p:nvPr/>
          </p:nvSpPr>
          <p:spPr>
            <a:xfrm flipH="false" flipV="false" rot="0">
              <a:off x="0" y="0"/>
              <a:ext cx="3364992" cy="1426464"/>
            </a:xfrm>
            <a:custGeom>
              <a:avLst/>
              <a:gdLst/>
              <a:ahLst/>
              <a:cxnLst/>
              <a:rect r="r" b="b" t="t" l="l"/>
              <a:pathLst>
                <a:path h="1426464" w="3364992">
                  <a:moveTo>
                    <a:pt x="0" y="0"/>
                  </a:moveTo>
                  <a:lnTo>
                    <a:pt x="3364992" y="0"/>
                  </a:lnTo>
                  <a:lnTo>
                    <a:pt x="3364992" y="1426464"/>
                  </a:lnTo>
                  <a:lnTo>
                    <a:pt x="0" y="1426464"/>
                  </a:lnTo>
                  <a:close/>
                </a:path>
              </a:pathLst>
            </a:custGeom>
            <a:blipFill>
              <a:blip r:embed="rId3">
                <a:alphaModFix amt="0"/>
              </a:blip>
              <a:stretch>
                <a:fillRect l="-4389" t="0" r="-4389" b="0"/>
              </a:stretch>
            </a:blipFill>
          </p:spPr>
        </p:sp>
        <p:sp>
          <p:nvSpPr>
            <p:cNvPr name="TextBox 52" id="52"/>
            <p:cNvSpPr txBox="true"/>
            <p:nvPr/>
          </p:nvSpPr>
          <p:spPr>
            <a:xfrm>
              <a:off x="0" y="-9525"/>
              <a:ext cx="3364992" cy="1435989"/>
            </a:xfrm>
            <a:prstGeom prst="rect">
              <a:avLst/>
            </a:prstGeom>
          </p:spPr>
          <p:txBody>
            <a:bodyPr anchor="ctr" rtlCol="false" tIns="0" lIns="0" bIns="0" rIns="0"/>
            <a:lstStyle/>
            <a:p>
              <a:pPr algn="l">
                <a:lnSpc>
                  <a:spcPts val="6300"/>
                </a:lnSpc>
              </a:pPr>
              <a:r>
                <a:rPr lang="en-US" sz="5250" b="true">
                  <a:solidFill>
                    <a:srgbClr val="BAF389"/>
                  </a:solidFill>
                  <a:latin typeface="Inter Bold"/>
                  <a:ea typeface="Inter Bold"/>
                  <a:cs typeface="Inter Bold"/>
                  <a:sym typeface="Inter Bold"/>
                </a:rPr>
                <a:t>0</a:t>
              </a:r>
            </a:p>
          </p:txBody>
        </p:sp>
      </p:grpSp>
      <p:grpSp>
        <p:nvGrpSpPr>
          <p:cNvPr name="Group 53" id="53"/>
          <p:cNvGrpSpPr/>
          <p:nvPr/>
        </p:nvGrpSpPr>
        <p:grpSpPr>
          <a:xfrm rot="0">
            <a:off x="14017752" y="4649724"/>
            <a:ext cx="2921508" cy="987552"/>
            <a:chOff x="0" y="0"/>
            <a:chExt cx="3895344" cy="1316736"/>
          </a:xfrm>
        </p:grpSpPr>
        <p:sp>
          <p:nvSpPr>
            <p:cNvPr name="Freeform 54" id="54"/>
            <p:cNvSpPr/>
            <p:nvPr/>
          </p:nvSpPr>
          <p:spPr>
            <a:xfrm flipH="false" flipV="false" rot="0">
              <a:off x="0" y="0"/>
              <a:ext cx="3895344" cy="1316736"/>
            </a:xfrm>
            <a:custGeom>
              <a:avLst/>
              <a:gdLst/>
              <a:ahLst/>
              <a:cxnLst/>
              <a:rect r="r" b="b" t="t" l="l"/>
              <a:pathLst>
                <a:path h="1316736" w="3895344">
                  <a:moveTo>
                    <a:pt x="0" y="0"/>
                  </a:moveTo>
                  <a:lnTo>
                    <a:pt x="3895344" y="0"/>
                  </a:lnTo>
                  <a:lnTo>
                    <a:pt x="3895344" y="1316736"/>
                  </a:lnTo>
                  <a:lnTo>
                    <a:pt x="0" y="1316736"/>
                  </a:lnTo>
                  <a:close/>
                </a:path>
              </a:pathLst>
            </a:custGeom>
            <a:blipFill>
              <a:blip r:embed="rId3">
                <a:alphaModFix amt="0"/>
              </a:blip>
              <a:stretch>
                <a:fillRect l="0" t="-7643" r="0" b="-7643"/>
              </a:stretch>
            </a:blipFill>
          </p:spPr>
        </p:sp>
        <p:sp>
          <p:nvSpPr>
            <p:cNvPr name="TextBox 55" id="55"/>
            <p:cNvSpPr txBox="true"/>
            <p:nvPr/>
          </p:nvSpPr>
          <p:spPr>
            <a:xfrm>
              <a:off x="0" y="0"/>
              <a:ext cx="3895344" cy="1316736"/>
            </a:xfrm>
            <a:prstGeom prst="rect">
              <a:avLst/>
            </a:prstGeom>
          </p:spPr>
          <p:txBody>
            <a:bodyPr anchor="ctr" rtlCol="false" tIns="0" lIns="0" bIns="0" rIns="0"/>
            <a:lstStyle/>
            <a:p>
              <a:pPr algn="l">
                <a:lnSpc>
                  <a:spcPts val="2195"/>
                </a:lnSpc>
              </a:pPr>
              <a:r>
                <a:rPr lang="en-US" sz="1829" b="true">
                  <a:solidFill>
                    <a:srgbClr val="D6E6EE"/>
                  </a:solidFill>
                  <a:latin typeface="Inter Bold"/>
                  <a:ea typeface="Inter Bold"/>
                  <a:cs typeface="Inter Bold"/>
                  <a:sym typeface="Inter Bold"/>
                </a:rPr>
                <a:t>wrong decisions sent</a:t>
              </a:r>
            </a:p>
          </p:txBody>
        </p:sp>
      </p:grpSp>
      <p:grpSp>
        <p:nvGrpSpPr>
          <p:cNvPr name="Group 56" id="56"/>
          <p:cNvGrpSpPr/>
          <p:nvPr/>
        </p:nvGrpSpPr>
        <p:grpSpPr>
          <a:xfrm rot="0">
            <a:off x="11047000" y="6438424"/>
            <a:ext cx="6188392" cy="1950148"/>
            <a:chOff x="0" y="0"/>
            <a:chExt cx="8251190" cy="2600198"/>
          </a:xfrm>
        </p:grpSpPr>
        <p:sp>
          <p:nvSpPr>
            <p:cNvPr name="Freeform 57" id="57"/>
            <p:cNvSpPr/>
            <p:nvPr/>
          </p:nvSpPr>
          <p:spPr>
            <a:xfrm flipH="false" flipV="false" rot="0">
              <a:off x="0" y="0"/>
              <a:ext cx="8251190" cy="2600198"/>
            </a:xfrm>
            <a:custGeom>
              <a:avLst/>
              <a:gdLst/>
              <a:ahLst/>
              <a:cxnLst/>
              <a:rect r="r" b="b" t="t" l="l"/>
              <a:pathLst>
                <a:path h="2600198" w="8251190">
                  <a:moveTo>
                    <a:pt x="0" y="147574"/>
                  </a:moveTo>
                  <a:cubicBezTo>
                    <a:pt x="0" y="66040"/>
                    <a:pt x="66040" y="0"/>
                    <a:pt x="147574" y="0"/>
                  </a:cubicBezTo>
                  <a:lnTo>
                    <a:pt x="8103616" y="0"/>
                  </a:lnTo>
                  <a:cubicBezTo>
                    <a:pt x="8185150" y="0"/>
                    <a:pt x="8251190" y="66040"/>
                    <a:pt x="8251190" y="147574"/>
                  </a:cubicBezTo>
                  <a:lnTo>
                    <a:pt x="8251190" y="2452624"/>
                  </a:lnTo>
                  <a:cubicBezTo>
                    <a:pt x="8251190" y="2534158"/>
                    <a:pt x="8185150" y="2600198"/>
                    <a:pt x="8103616" y="2600198"/>
                  </a:cubicBezTo>
                  <a:lnTo>
                    <a:pt x="147574" y="2600198"/>
                  </a:lnTo>
                  <a:cubicBezTo>
                    <a:pt x="66040" y="2600198"/>
                    <a:pt x="0" y="2534158"/>
                    <a:pt x="0" y="2452624"/>
                  </a:cubicBezTo>
                  <a:close/>
                </a:path>
              </a:pathLst>
            </a:custGeom>
            <a:solidFill>
              <a:srgbClr val="F1F5F2"/>
            </a:solidFill>
            <a:ln w="16192" cap="sq">
              <a:solidFill>
                <a:srgbClr val="F1F5F2"/>
              </a:solidFill>
              <a:prstDash val="solid"/>
              <a:miter/>
            </a:ln>
          </p:spPr>
        </p:sp>
      </p:grpSp>
      <p:grpSp>
        <p:nvGrpSpPr>
          <p:cNvPr name="Group 58" id="58"/>
          <p:cNvGrpSpPr/>
          <p:nvPr/>
        </p:nvGrpSpPr>
        <p:grpSpPr>
          <a:xfrm rot="0">
            <a:off x="11507724" y="6693408"/>
            <a:ext cx="2523744" cy="1069848"/>
            <a:chOff x="0" y="0"/>
            <a:chExt cx="3364992" cy="1426464"/>
          </a:xfrm>
        </p:grpSpPr>
        <p:sp>
          <p:nvSpPr>
            <p:cNvPr name="Freeform 59" id="59"/>
            <p:cNvSpPr/>
            <p:nvPr/>
          </p:nvSpPr>
          <p:spPr>
            <a:xfrm flipH="false" flipV="false" rot="0">
              <a:off x="0" y="0"/>
              <a:ext cx="3364992" cy="1426464"/>
            </a:xfrm>
            <a:custGeom>
              <a:avLst/>
              <a:gdLst/>
              <a:ahLst/>
              <a:cxnLst/>
              <a:rect r="r" b="b" t="t" l="l"/>
              <a:pathLst>
                <a:path h="1426464" w="3364992">
                  <a:moveTo>
                    <a:pt x="0" y="0"/>
                  </a:moveTo>
                  <a:lnTo>
                    <a:pt x="3364992" y="0"/>
                  </a:lnTo>
                  <a:lnTo>
                    <a:pt x="3364992" y="1426464"/>
                  </a:lnTo>
                  <a:lnTo>
                    <a:pt x="0" y="1426464"/>
                  </a:lnTo>
                  <a:close/>
                </a:path>
              </a:pathLst>
            </a:custGeom>
            <a:blipFill>
              <a:blip r:embed="rId3">
                <a:alphaModFix amt="0"/>
              </a:blip>
              <a:stretch>
                <a:fillRect l="-4389" t="0" r="-4389" b="0"/>
              </a:stretch>
            </a:blipFill>
          </p:spPr>
        </p:sp>
        <p:sp>
          <p:nvSpPr>
            <p:cNvPr name="TextBox 60" id="60"/>
            <p:cNvSpPr txBox="true"/>
            <p:nvPr/>
          </p:nvSpPr>
          <p:spPr>
            <a:xfrm>
              <a:off x="0" y="-9525"/>
              <a:ext cx="3364992" cy="1435989"/>
            </a:xfrm>
            <a:prstGeom prst="rect">
              <a:avLst/>
            </a:prstGeom>
          </p:spPr>
          <p:txBody>
            <a:bodyPr anchor="ctr" rtlCol="false" tIns="0" lIns="0" bIns="0" rIns="0"/>
            <a:lstStyle/>
            <a:p>
              <a:pPr algn="l">
                <a:lnSpc>
                  <a:spcPts val="6300"/>
                </a:lnSpc>
              </a:pPr>
              <a:r>
                <a:rPr lang="en-US" sz="5250" b="true">
                  <a:solidFill>
                    <a:srgbClr val="101E2B"/>
                  </a:solidFill>
                  <a:latin typeface="Inter Bold"/>
                  <a:ea typeface="Inter Bold"/>
                  <a:cs typeface="Inter Bold"/>
                  <a:sym typeface="Inter Bold"/>
                </a:rPr>
                <a:t>12/12</a:t>
              </a:r>
            </a:p>
          </p:txBody>
        </p:sp>
      </p:grpSp>
      <p:grpSp>
        <p:nvGrpSpPr>
          <p:cNvPr name="Group 61" id="61"/>
          <p:cNvGrpSpPr/>
          <p:nvPr/>
        </p:nvGrpSpPr>
        <p:grpSpPr>
          <a:xfrm rot="0">
            <a:off x="14017752" y="6830568"/>
            <a:ext cx="2921508" cy="987552"/>
            <a:chOff x="0" y="0"/>
            <a:chExt cx="3895344" cy="1316736"/>
          </a:xfrm>
        </p:grpSpPr>
        <p:sp>
          <p:nvSpPr>
            <p:cNvPr name="Freeform 62" id="62"/>
            <p:cNvSpPr/>
            <p:nvPr/>
          </p:nvSpPr>
          <p:spPr>
            <a:xfrm flipH="false" flipV="false" rot="0">
              <a:off x="0" y="0"/>
              <a:ext cx="3895344" cy="1316736"/>
            </a:xfrm>
            <a:custGeom>
              <a:avLst/>
              <a:gdLst/>
              <a:ahLst/>
              <a:cxnLst/>
              <a:rect r="r" b="b" t="t" l="l"/>
              <a:pathLst>
                <a:path h="1316736" w="3895344">
                  <a:moveTo>
                    <a:pt x="0" y="0"/>
                  </a:moveTo>
                  <a:lnTo>
                    <a:pt x="3895344" y="0"/>
                  </a:lnTo>
                  <a:lnTo>
                    <a:pt x="3895344" y="1316736"/>
                  </a:lnTo>
                  <a:lnTo>
                    <a:pt x="0" y="1316736"/>
                  </a:lnTo>
                  <a:close/>
                </a:path>
              </a:pathLst>
            </a:custGeom>
            <a:blipFill>
              <a:blip r:embed="rId3">
                <a:alphaModFix amt="0"/>
              </a:blip>
              <a:stretch>
                <a:fillRect l="0" t="-7643" r="0" b="-7643"/>
              </a:stretch>
            </a:blipFill>
          </p:spPr>
        </p:sp>
        <p:sp>
          <p:nvSpPr>
            <p:cNvPr name="TextBox 63" id="63"/>
            <p:cNvSpPr txBox="true"/>
            <p:nvPr/>
          </p:nvSpPr>
          <p:spPr>
            <a:xfrm>
              <a:off x="0" y="0"/>
              <a:ext cx="3895344" cy="1316736"/>
            </a:xfrm>
            <a:prstGeom prst="rect">
              <a:avLst/>
            </a:prstGeom>
          </p:spPr>
          <p:txBody>
            <a:bodyPr anchor="ctr" rtlCol="false" tIns="0" lIns="0" bIns="0" rIns="0"/>
            <a:lstStyle/>
            <a:p>
              <a:pPr algn="l">
                <a:lnSpc>
                  <a:spcPts val="2195"/>
                </a:lnSpc>
              </a:pPr>
              <a:r>
                <a:rPr lang="en-US" sz="1829" b="true">
                  <a:solidFill>
                    <a:srgbClr val="101E2B"/>
                  </a:solidFill>
                  <a:latin typeface="Inter Bold"/>
                  <a:ea typeface="Inter Bold"/>
                  <a:cs typeface="Inter Bold"/>
                  <a:sym typeface="Inter Bold"/>
                </a:rPr>
                <a:t>LLM letters passed the stricter faithfulness check</a:t>
              </a:r>
            </a:p>
          </p:txBody>
        </p:sp>
      </p:grpSp>
      <p:grpSp>
        <p:nvGrpSpPr>
          <p:cNvPr name="Group 64" id="64"/>
          <p:cNvGrpSpPr/>
          <p:nvPr/>
        </p:nvGrpSpPr>
        <p:grpSpPr>
          <a:xfrm rot="0">
            <a:off x="11219688" y="8915400"/>
            <a:ext cx="5897880" cy="562356"/>
            <a:chOff x="0" y="0"/>
            <a:chExt cx="7863840" cy="749808"/>
          </a:xfrm>
        </p:grpSpPr>
        <p:sp>
          <p:nvSpPr>
            <p:cNvPr name="Freeform 65" id="65"/>
            <p:cNvSpPr/>
            <p:nvPr/>
          </p:nvSpPr>
          <p:spPr>
            <a:xfrm flipH="false" flipV="false" rot="0">
              <a:off x="0" y="0"/>
              <a:ext cx="7863840" cy="749808"/>
            </a:xfrm>
            <a:custGeom>
              <a:avLst/>
              <a:gdLst/>
              <a:ahLst/>
              <a:cxnLst/>
              <a:rect r="r" b="b" t="t" l="l"/>
              <a:pathLst>
                <a:path h="749808" w="7863840">
                  <a:moveTo>
                    <a:pt x="0" y="0"/>
                  </a:moveTo>
                  <a:lnTo>
                    <a:pt x="7863840" y="0"/>
                  </a:lnTo>
                  <a:lnTo>
                    <a:pt x="7863840" y="749808"/>
                  </a:lnTo>
                  <a:lnTo>
                    <a:pt x="0" y="749808"/>
                  </a:lnTo>
                  <a:close/>
                </a:path>
              </a:pathLst>
            </a:custGeom>
            <a:blipFill>
              <a:blip r:embed="rId3">
                <a:alphaModFix amt="0"/>
              </a:blip>
              <a:stretch>
                <a:fillRect l="0" t="-154355" r="0" b="-154355"/>
              </a:stretch>
            </a:blipFill>
          </p:spPr>
        </p:sp>
        <p:sp>
          <p:nvSpPr>
            <p:cNvPr name="TextBox 66" id="66"/>
            <p:cNvSpPr txBox="true"/>
            <p:nvPr/>
          </p:nvSpPr>
          <p:spPr>
            <a:xfrm>
              <a:off x="0" y="-9525"/>
              <a:ext cx="7863840" cy="759333"/>
            </a:xfrm>
            <a:prstGeom prst="rect">
              <a:avLst/>
            </a:prstGeom>
          </p:spPr>
          <p:txBody>
            <a:bodyPr anchor="ctr" rtlCol="false" tIns="0" lIns="0" bIns="0" rIns="0"/>
            <a:lstStyle/>
            <a:p>
              <a:pPr algn="l">
                <a:lnSpc>
                  <a:spcPts val="1836"/>
                </a:lnSpc>
              </a:pPr>
              <a:r>
                <a:rPr lang="en-US" sz="1530">
                  <a:solidFill>
                    <a:srgbClr val="C8D4DB"/>
                  </a:solidFill>
                  <a:latin typeface="Inter"/>
                  <a:ea typeface="Inter"/>
                  <a:cs typeface="Inter"/>
                  <a:sym typeface="Inter"/>
                </a:rPr>
                <a:t>Full table: results/benchmark_qwen2.5_7b.md. The default Llama 3.2 3B is not benchmarked yet.</a:t>
              </a:r>
            </a:p>
          </p:txBody>
        </p:sp>
      </p:grpSp>
      <p:grpSp>
        <p:nvGrpSpPr>
          <p:cNvPr name="Group 67" id="67"/>
          <p:cNvGrpSpPr/>
          <p:nvPr/>
        </p:nvGrpSpPr>
        <p:grpSpPr>
          <a:xfrm rot="0">
            <a:off x="946404" y="9758934"/>
            <a:ext cx="9601200" cy="260604"/>
            <a:chOff x="0" y="0"/>
            <a:chExt cx="12801600" cy="347472"/>
          </a:xfrm>
        </p:grpSpPr>
        <p:sp>
          <p:nvSpPr>
            <p:cNvPr name="Freeform 68" id="68"/>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69" id="69"/>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AFC0CB"/>
                  </a:solidFill>
                  <a:latin typeface="Inter"/>
                  <a:ea typeface="Inter"/>
                  <a:cs typeface="Inter"/>
                  <a:sym typeface="Inter"/>
                </a:rPr>
                <a:t>ClaimPilot · CA-3 Agentic AI PoC</a:t>
              </a:r>
            </a:p>
          </p:txBody>
        </p:sp>
      </p:grpSp>
      <p:grpSp>
        <p:nvGrpSpPr>
          <p:cNvPr name="Group 70" id="70"/>
          <p:cNvGrpSpPr/>
          <p:nvPr/>
        </p:nvGrpSpPr>
        <p:grpSpPr>
          <a:xfrm rot="0">
            <a:off x="16733520" y="9745218"/>
            <a:ext cx="548640" cy="301752"/>
            <a:chOff x="0" y="0"/>
            <a:chExt cx="731520" cy="402336"/>
          </a:xfrm>
        </p:grpSpPr>
        <p:sp>
          <p:nvSpPr>
            <p:cNvPr name="Freeform 71" id="71"/>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72" id="72"/>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AFC0CB"/>
                  </a:solidFill>
                  <a:latin typeface="Inter Bold"/>
                  <a:ea typeface="Inter Bold"/>
                  <a:cs typeface="Inter Bold"/>
                  <a:sym typeface="Inter Bold"/>
                </a:rPr>
                <a:t>9</a:t>
              </a:r>
            </a:p>
          </p:txBody>
        </p:sp>
      </p:grpSp>
      <p:sp>
        <p:nvSpPr>
          <p:cNvPr name="Freeform 73" id="73"/>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4734"/>
                </a:lnSpc>
              </a:pPr>
              <a:r>
                <a:rPr lang="en-US" sz="3945" b="true">
                  <a:solidFill>
                    <a:srgbClr val="101E2B"/>
                  </a:solidFill>
                  <a:latin typeface="Inter Bold"/>
                  <a:ea typeface="Inter Bold"/>
                  <a:cs typeface="Inter Bold"/>
                  <a:sym typeface="Inter Bold"/>
                </a:rPr>
                <a:t>Fault injection: breaking the LLM on purpose</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978027" y="2047875"/>
            <a:ext cx="7631430" cy="814578"/>
            <a:chOff x="0" y="0"/>
            <a:chExt cx="10175240" cy="1086104"/>
          </a:xfrm>
        </p:grpSpPr>
        <p:sp>
          <p:nvSpPr>
            <p:cNvPr name="Freeform 7" id="7"/>
            <p:cNvSpPr/>
            <p:nvPr/>
          </p:nvSpPr>
          <p:spPr>
            <a:xfrm flipH="false" flipV="false" rot="0">
              <a:off x="0" y="0"/>
              <a:ext cx="10175240" cy="1086104"/>
            </a:xfrm>
            <a:custGeom>
              <a:avLst/>
              <a:gdLst/>
              <a:ahLst/>
              <a:cxnLst/>
              <a:rect r="r" b="b" t="t" l="l"/>
              <a:pathLst>
                <a:path h="1086104" w="10175240">
                  <a:moveTo>
                    <a:pt x="0" y="0"/>
                  </a:moveTo>
                  <a:lnTo>
                    <a:pt x="10175240" y="0"/>
                  </a:lnTo>
                  <a:lnTo>
                    <a:pt x="10175240" y="1086104"/>
                  </a:lnTo>
                  <a:lnTo>
                    <a:pt x="0" y="1086104"/>
                  </a:lnTo>
                  <a:close/>
                </a:path>
              </a:pathLst>
            </a:custGeom>
            <a:solidFill>
              <a:srgbClr val="FFE3DF"/>
            </a:solidFill>
          </p:spPr>
        </p:sp>
      </p:grpSp>
      <p:grpSp>
        <p:nvGrpSpPr>
          <p:cNvPr name="Group 8" id="8"/>
          <p:cNvGrpSpPr/>
          <p:nvPr/>
        </p:nvGrpSpPr>
        <p:grpSpPr>
          <a:xfrm rot="0">
            <a:off x="9728835" y="2047875"/>
            <a:ext cx="7590282" cy="814578"/>
            <a:chOff x="0" y="0"/>
            <a:chExt cx="10120376" cy="1086104"/>
          </a:xfrm>
        </p:grpSpPr>
        <p:sp>
          <p:nvSpPr>
            <p:cNvPr name="Freeform 9" id="9"/>
            <p:cNvSpPr/>
            <p:nvPr/>
          </p:nvSpPr>
          <p:spPr>
            <a:xfrm flipH="false" flipV="false" rot="0">
              <a:off x="0" y="0"/>
              <a:ext cx="10120376" cy="1086104"/>
            </a:xfrm>
            <a:custGeom>
              <a:avLst/>
              <a:gdLst/>
              <a:ahLst/>
              <a:cxnLst/>
              <a:rect r="r" b="b" t="t" l="l"/>
              <a:pathLst>
                <a:path h="1086104" w="10120376">
                  <a:moveTo>
                    <a:pt x="0" y="0"/>
                  </a:moveTo>
                  <a:lnTo>
                    <a:pt x="10120376" y="0"/>
                  </a:lnTo>
                  <a:lnTo>
                    <a:pt x="10120376" y="1086104"/>
                  </a:lnTo>
                  <a:lnTo>
                    <a:pt x="0" y="1086104"/>
                  </a:lnTo>
                  <a:close/>
                </a:path>
              </a:pathLst>
            </a:custGeom>
            <a:solidFill>
              <a:srgbClr val="DDF5EA"/>
            </a:solidFill>
          </p:spPr>
        </p:sp>
      </p:grpSp>
      <p:grpSp>
        <p:nvGrpSpPr>
          <p:cNvPr name="Group 10" id="10"/>
          <p:cNvGrpSpPr/>
          <p:nvPr/>
        </p:nvGrpSpPr>
        <p:grpSpPr>
          <a:xfrm rot="0">
            <a:off x="978027" y="2047875"/>
            <a:ext cx="128778" cy="814578"/>
            <a:chOff x="0" y="0"/>
            <a:chExt cx="171704" cy="1086104"/>
          </a:xfrm>
        </p:grpSpPr>
        <p:sp>
          <p:nvSpPr>
            <p:cNvPr name="Freeform 11" id="11"/>
            <p:cNvSpPr/>
            <p:nvPr/>
          </p:nvSpPr>
          <p:spPr>
            <a:xfrm flipH="false" flipV="false" rot="0">
              <a:off x="0" y="0"/>
              <a:ext cx="171704" cy="1086104"/>
            </a:xfrm>
            <a:custGeom>
              <a:avLst/>
              <a:gdLst/>
              <a:ahLst/>
              <a:cxnLst/>
              <a:rect r="r" b="b" t="t" l="l"/>
              <a:pathLst>
                <a:path h="1086104" w="171704">
                  <a:moveTo>
                    <a:pt x="0" y="0"/>
                  </a:moveTo>
                  <a:lnTo>
                    <a:pt x="171704" y="0"/>
                  </a:lnTo>
                  <a:lnTo>
                    <a:pt x="171704" y="1086104"/>
                  </a:lnTo>
                  <a:lnTo>
                    <a:pt x="0" y="1086104"/>
                  </a:lnTo>
                  <a:close/>
                </a:path>
              </a:pathLst>
            </a:custGeom>
            <a:solidFill>
              <a:srgbClr val="EE6A59"/>
            </a:solidFill>
          </p:spPr>
        </p:sp>
      </p:grpSp>
      <p:grpSp>
        <p:nvGrpSpPr>
          <p:cNvPr name="Group 12" id="12"/>
          <p:cNvGrpSpPr/>
          <p:nvPr/>
        </p:nvGrpSpPr>
        <p:grpSpPr>
          <a:xfrm rot="0">
            <a:off x="9728835" y="2047875"/>
            <a:ext cx="128778" cy="814578"/>
            <a:chOff x="0" y="0"/>
            <a:chExt cx="171704" cy="1086104"/>
          </a:xfrm>
        </p:grpSpPr>
        <p:sp>
          <p:nvSpPr>
            <p:cNvPr name="Freeform 13" id="13"/>
            <p:cNvSpPr/>
            <p:nvPr/>
          </p:nvSpPr>
          <p:spPr>
            <a:xfrm flipH="false" flipV="false" rot="0">
              <a:off x="0" y="0"/>
              <a:ext cx="171704" cy="1086104"/>
            </a:xfrm>
            <a:custGeom>
              <a:avLst/>
              <a:gdLst/>
              <a:ahLst/>
              <a:cxnLst/>
              <a:rect r="r" b="b" t="t" l="l"/>
              <a:pathLst>
                <a:path h="1086104" w="171704">
                  <a:moveTo>
                    <a:pt x="0" y="0"/>
                  </a:moveTo>
                  <a:lnTo>
                    <a:pt x="171704" y="0"/>
                  </a:lnTo>
                  <a:lnTo>
                    <a:pt x="171704" y="1086104"/>
                  </a:lnTo>
                  <a:lnTo>
                    <a:pt x="0" y="1086104"/>
                  </a:lnTo>
                  <a:close/>
                </a:path>
              </a:pathLst>
            </a:custGeom>
            <a:solidFill>
              <a:srgbClr val="008E86"/>
            </a:solidFill>
          </p:spPr>
        </p:sp>
      </p:grpSp>
      <p:grpSp>
        <p:nvGrpSpPr>
          <p:cNvPr name="Group 14" id="14"/>
          <p:cNvGrpSpPr/>
          <p:nvPr/>
        </p:nvGrpSpPr>
        <p:grpSpPr>
          <a:xfrm rot="0">
            <a:off x="1371600" y="2235708"/>
            <a:ext cx="6871716" cy="466344"/>
            <a:chOff x="0" y="0"/>
            <a:chExt cx="9162288" cy="621792"/>
          </a:xfrm>
        </p:grpSpPr>
        <p:sp>
          <p:nvSpPr>
            <p:cNvPr name="Freeform 15" id="15"/>
            <p:cNvSpPr/>
            <p:nvPr/>
          </p:nvSpPr>
          <p:spPr>
            <a:xfrm flipH="false" flipV="false" rot="0">
              <a:off x="0" y="0"/>
              <a:ext cx="9162288" cy="621792"/>
            </a:xfrm>
            <a:custGeom>
              <a:avLst/>
              <a:gdLst/>
              <a:ahLst/>
              <a:cxnLst/>
              <a:rect r="r" b="b" t="t" l="l"/>
              <a:pathLst>
                <a:path h="621792" w="9162288">
                  <a:moveTo>
                    <a:pt x="0" y="0"/>
                  </a:moveTo>
                  <a:lnTo>
                    <a:pt x="9162288" y="0"/>
                  </a:lnTo>
                  <a:lnTo>
                    <a:pt x="9162288" y="621792"/>
                  </a:lnTo>
                  <a:lnTo>
                    <a:pt x="0" y="621792"/>
                  </a:lnTo>
                  <a:close/>
                </a:path>
              </a:pathLst>
            </a:custGeom>
            <a:blipFill>
              <a:blip r:embed="rId3">
                <a:alphaModFix amt="0"/>
              </a:blip>
              <a:stretch>
                <a:fillRect l="0" t="-237117" r="0" b="-237117"/>
              </a:stretch>
            </a:blipFill>
          </p:spPr>
        </p:sp>
        <p:sp>
          <p:nvSpPr>
            <p:cNvPr name="TextBox 16" id="16"/>
            <p:cNvSpPr txBox="true"/>
            <p:nvPr/>
          </p:nvSpPr>
          <p:spPr>
            <a:xfrm>
              <a:off x="0" y="-9525"/>
              <a:ext cx="9162288" cy="631317"/>
            </a:xfrm>
            <a:prstGeom prst="rect">
              <a:avLst/>
            </a:prstGeom>
          </p:spPr>
          <p:txBody>
            <a:bodyPr anchor="ctr" rtlCol="false" tIns="0" lIns="0" bIns="0" rIns="0"/>
            <a:lstStyle/>
            <a:p>
              <a:pPr algn="l">
                <a:lnSpc>
                  <a:spcPts val="2951"/>
                </a:lnSpc>
              </a:pPr>
              <a:r>
                <a:rPr lang="en-US" sz="2460" b="true">
                  <a:solidFill>
                    <a:srgbClr val="9B3F42"/>
                  </a:solidFill>
                  <a:latin typeface="Inter Bold"/>
                  <a:ea typeface="Inter Bold"/>
                  <a:cs typeface="Inter Bold"/>
                  <a:sym typeface="Inter Bold"/>
                </a:rPr>
                <a:t>Before: 115 corrupted runs</a:t>
              </a:r>
            </a:p>
          </p:txBody>
        </p:sp>
      </p:grpSp>
      <p:grpSp>
        <p:nvGrpSpPr>
          <p:cNvPr name="Group 17" id="17"/>
          <p:cNvGrpSpPr/>
          <p:nvPr/>
        </p:nvGrpSpPr>
        <p:grpSpPr>
          <a:xfrm rot="0">
            <a:off x="10136124" y="2235708"/>
            <a:ext cx="6789420" cy="466344"/>
            <a:chOff x="0" y="0"/>
            <a:chExt cx="9052560" cy="621792"/>
          </a:xfrm>
        </p:grpSpPr>
        <p:sp>
          <p:nvSpPr>
            <p:cNvPr name="Freeform 18" id="18"/>
            <p:cNvSpPr/>
            <p:nvPr/>
          </p:nvSpPr>
          <p:spPr>
            <a:xfrm flipH="false" flipV="false" rot="0">
              <a:off x="0" y="0"/>
              <a:ext cx="9052560" cy="621792"/>
            </a:xfrm>
            <a:custGeom>
              <a:avLst/>
              <a:gdLst/>
              <a:ahLst/>
              <a:cxnLst/>
              <a:rect r="r" b="b" t="t" l="l"/>
              <a:pathLst>
                <a:path h="621792" w="9052560">
                  <a:moveTo>
                    <a:pt x="0" y="0"/>
                  </a:moveTo>
                  <a:lnTo>
                    <a:pt x="9052560" y="0"/>
                  </a:lnTo>
                  <a:lnTo>
                    <a:pt x="9052560" y="621792"/>
                  </a:lnTo>
                  <a:lnTo>
                    <a:pt x="0" y="621792"/>
                  </a:lnTo>
                  <a:close/>
                </a:path>
              </a:pathLst>
            </a:custGeom>
            <a:blipFill>
              <a:blip r:embed="rId3">
                <a:alphaModFix amt="0"/>
              </a:blip>
              <a:stretch>
                <a:fillRect l="0" t="-233679" r="0" b="-233679"/>
              </a:stretch>
            </a:blipFill>
          </p:spPr>
        </p:sp>
        <p:sp>
          <p:nvSpPr>
            <p:cNvPr name="TextBox 19" id="19"/>
            <p:cNvSpPr txBox="true"/>
            <p:nvPr/>
          </p:nvSpPr>
          <p:spPr>
            <a:xfrm>
              <a:off x="0" y="-9525"/>
              <a:ext cx="9052560" cy="631317"/>
            </a:xfrm>
            <a:prstGeom prst="rect">
              <a:avLst/>
            </a:prstGeom>
          </p:spPr>
          <p:txBody>
            <a:bodyPr anchor="ctr" rtlCol="false" tIns="0" lIns="0" bIns="0" rIns="0"/>
            <a:lstStyle/>
            <a:p>
              <a:pPr algn="l">
                <a:lnSpc>
                  <a:spcPts val="2951"/>
                </a:lnSpc>
              </a:pPr>
              <a:r>
                <a:rPr lang="en-US" sz="2460" b="true">
                  <a:solidFill>
                    <a:srgbClr val="008E86"/>
                  </a:solidFill>
                  <a:latin typeface="Inter Bold"/>
                  <a:ea typeface="Inter Bold"/>
                  <a:cs typeface="Inter Bold"/>
                  <a:sym typeface="Inter Bold"/>
                </a:rPr>
                <a:t>After hardening</a:t>
              </a:r>
            </a:p>
          </p:txBody>
        </p:sp>
      </p:grpSp>
      <p:grpSp>
        <p:nvGrpSpPr>
          <p:cNvPr name="Group 20" id="20"/>
          <p:cNvGrpSpPr/>
          <p:nvPr/>
        </p:nvGrpSpPr>
        <p:grpSpPr>
          <a:xfrm rot="0">
            <a:off x="1006888" y="3160300"/>
            <a:ext cx="7601140" cy="935165"/>
            <a:chOff x="0" y="0"/>
            <a:chExt cx="10134854" cy="1246886"/>
          </a:xfrm>
        </p:grpSpPr>
        <p:sp>
          <p:nvSpPr>
            <p:cNvPr name="Freeform 21" id="21"/>
            <p:cNvSpPr/>
            <p:nvPr/>
          </p:nvSpPr>
          <p:spPr>
            <a:xfrm flipH="false" flipV="false" rot="0">
              <a:off x="0" y="0"/>
              <a:ext cx="10134854" cy="1246886"/>
            </a:xfrm>
            <a:custGeom>
              <a:avLst/>
              <a:gdLst/>
              <a:ahLst/>
              <a:cxnLst/>
              <a:rect r="r" b="b" t="t" l="l"/>
              <a:pathLst>
                <a:path h="1246886" w="10134854">
                  <a:moveTo>
                    <a:pt x="0" y="130302"/>
                  </a:moveTo>
                  <a:cubicBezTo>
                    <a:pt x="0" y="58293"/>
                    <a:pt x="58293" y="0"/>
                    <a:pt x="130302" y="0"/>
                  </a:cubicBezTo>
                  <a:lnTo>
                    <a:pt x="10004552" y="0"/>
                  </a:lnTo>
                  <a:cubicBezTo>
                    <a:pt x="10076561" y="0"/>
                    <a:pt x="10134854" y="58293"/>
                    <a:pt x="10134854" y="130302"/>
                  </a:cubicBezTo>
                  <a:lnTo>
                    <a:pt x="10134854" y="1116584"/>
                  </a:lnTo>
                  <a:cubicBezTo>
                    <a:pt x="10134854" y="1188593"/>
                    <a:pt x="10076561" y="1246886"/>
                    <a:pt x="10004552" y="1246886"/>
                  </a:cubicBezTo>
                  <a:lnTo>
                    <a:pt x="130302" y="1246886"/>
                  </a:lnTo>
                  <a:cubicBezTo>
                    <a:pt x="58293" y="1246886"/>
                    <a:pt x="0" y="1188593"/>
                    <a:pt x="0" y="1116584"/>
                  </a:cubicBezTo>
                  <a:close/>
                </a:path>
              </a:pathLst>
            </a:custGeom>
            <a:solidFill>
              <a:srgbClr val="FFFFFF"/>
            </a:solidFill>
            <a:ln w="16192" cap="sq">
              <a:solidFill>
                <a:srgbClr val="EADBD8"/>
              </a:solidFill>
              <a:prstDash val="solid"/>
              <a:miter/>
            </a:ln>
          </p:spPr>
        </p:sp>
      </p:grpSp>
      <p:grpSp>
        <p:nvGrpSpPr>
          <p:cNvPr name="Group 22" id="22"/>
          <p:cNvGrpSpPr/>
          <p:nvPr/>
        </p:nvGrpSpPr>
        <p:grpSpPr>
          <a:xfrm rot="0">
            <a:off x="9730264" y="3160300"/>
            <a:ext cx="7587425" cy="935165"/>
            <a:chOff x="0" y="0"/>
            <a:chExt cx="10116566" cy="1246886"/>
          </a:xfrm>
        </p:grpSpPr>
        <p:sp>
          <p:nvSpPr>
            <p:cNvPr name="Freeform 23" id="23"/>
            <p:cNvSpPr/>
            <p:nvPr/>
          </p:nvSpPr>
          <p:spPr>
            <a:xfrm flipH="false" flipV="false" rot="0">
              <a:off x="0" y="0"/>
              <a:ext cx="10116566" cy="1246886"/>
            </a:xfrm>
            <a:custGeom>
              <a:avLst/>
              <a:gdLst/>
              <a:ahLst/>
              <a:cxnLst/>
              <a:rect r="r" b="b" t="t" l="l"/>
              <a:pathLst>
                <a:path h="1246886" w="10116566">
                  <a:moveTo>
                    <a:pt x="0" y="130302"/>
                  </a:moveTo>
                  <a:cubicBezTo>
                    <a:pt x="0" y="58293"/>
                    <a:pt x="58293" y="0"/>
                    <a:pt x="130302" y="0"/>
                  </a:cubicBezTo>
                  <a:lnTo>
                    <a:pt x="9986264" y="0"/>
                  </a:lnTo>
                  <a:cubicBezTo>
                    <a:pt x="10058273" y="0"/>
                    <a:pt x="10116566" y="58293"/>
                    <a:pt x="10116566" y="130302"/>
                  </a:cubicBezTo>
                  <a:lnTo>
                    <a:pt x="10116566" y="1116584"/>
                  </a:lnTo>
                  <a:cubicBezTo>
                    <a:pt x="10116566" y="1188593"/>
                    <a:pt x="10058273" y="1246886"/>
                    <a:pt x="9986264" y="1246886"/>
                  </a:cubicBezTo>
                  <a:lnTo>
                    <a:pt x="130302" y="1246886"/>
                  </a:lnTo>
                  <a:cubicBezTo>
                    <a:pt x="58293" y="1246886"/>
                    <a:pt x="0" y="1188593"/>
                    <a:pt x="0" y="1116584"/>
                  </a:cubicBezTo>
                  <a:close/>
                </a:path>
              </a:pathLst>
            </a:custGeom>
            <a:solidFill>
              <a:srgbClr val="FFFFFF"/>
            </a:solidFill>
            <a:ln w="16192" cap="sq">
              <a:solidFill>
                <a:srgbClr val="D3E8DA"/>
              </a:solidFill>
              <a:prstDash val="solid"/>
              <a:miter/>
            </a:ln>
          </p:spPr>
        </p:sp>
      </p:grpSp>
      <p:grpSp>
        <p:nvGrpSpPr>
          <p:cNvPr name="Group 24" id="24"/>
          <p:cNvGrpSpPr/>
          <p:nvPr/>
        </p:nvGrpSpPr>
        <p:grpSpPr>
          <a:xfrm rot="0">
            <a:off x="1005459" y="3158871"/>
            <a:ext cx="94488" cy="938022"/>
            <a:chOff x="0" y="0"/>
            <a:chExt cx="125984" cy="1250696"/>
          </a:xfrm>
        </p:grpSpPr>
        <p:sp>
          <p:nvSpPr>
            <p:cNvPr name="Freeform 25" id="25"/>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F0A69E"/>
            </a:solidFill>
          </p:spPr>
        </p:sp>
      </p:grpSp>
      <p:grpSp>
        <p:nvGrpSpPr>
          <p:cNvPr name="Group 26" id="26"/>
          <p:cNvGrpSpPr/>
          <p:nvPr/>
        </p:nvGrpSpPr>
        <p:grpSpPr>
          <a:xfrm rot="0">
            <a:off x="9728835" y="3158871"/>
            <a:ext cx="94488" cy="938022"/>
            <a:chOff x="0" y="0"/>
            <a:chExt cx="125984" cy="1250696"/>
          </a:xfrm>
        </p:grpSpPr>
        <p:sp>
          <p:nvSpPr>
            <p:cNvPr name="Freeform 27" id="27"/>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008E86"/>
            </a:solidFill>
          </p:spPr>
        </p:sp>
      </p:grpSp>
      <p:grpSp>
        <p:nvGrpSpPr>
          <p:cNvPr name="Group 28" id="28"/>
          <p:cNvGrpSpPr/>
          <p:nvPr/>
        </p:nvGrpSpPr>
        <p:grpSpPr>
          <a:xfrm rot="0">
            <a:off x="1385316" y="3264408"/>
            <a:ext cx="6844284" cy="713232"/>
            <a:chOff x="0" y="0"/>
            <a:chExt cx="9125712" cy="950976"/>
          </a:xfrm>
        </p:grpSpPr>
        <p:sp>
          <p:nvSpPr>
            <p:cNvPr name="Freeform 29" id="29"/>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30" id="30"/>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A wrong duration hid an undisclosed disease</a:t>
              </a:r>
            </a:p>
          </p:txBody>
        </p:sp>
      </p:grpSp>
      <p:grpSp>
        <p:nvGrpSpPr>
          <p:cNvPr name="Group 31" id="31"/>
          <p:cNvGrpSpPr/>
          <p:nvPr/>
        </p:nvGrpSpPr>
        <p:grpSpPr>
          <a:xfrm rot="0">
            <a:off x="10081260" y="3264408"/>
            <a:ext cx="6844284" cy="713232"/>
            <a:chOff x="0" y="0"/>
            <a:chExt cx="9125712" cy="950976"/>
          </a:xfrm>
        </p:grpSpPr>
        <p:sp>
          <p:nvSpPr>
            <p:cNvPr name="Freeform 32" id="32"/>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33" id="33"/>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The duration written in the notes always wins</a:t>
              </a:r>
            </a:p>
          </p:txBody>
        </p:sp>
      </p:grpSp>
      <p:sp>
        <p:nvSpPr>
          <p:cNvPr name="AutoShape 34" id="34"/>
          <p:cNvSpPr/>
          <p:nvPr/>
        </p:nvSpPr>
        <p:spPr>
          <a:xfrm rot="261420">
            <a:off x="8882901" y="3611499"/>
            <a:ext cx="476488" cy="0"/>
          </a:xfrm>
          <a:prstGeom prst="line">
            <a:avLst/>
          </a:prstGeom>
          <a:ln cap="rnd" w="19050">
            <a:solidFill>
              <a:srgbClr val="425AEF"/>
            </a:solidFill>
            <a:prstDash val="solid"/>
            <a:headEnd type="none" len="sm" w="sm"/>
            <a:tailEnd type="triangle" len="med" w="lg"/>
          </a:ln>
        </p:spPr>
      </p:sp>
      <p:grpSp>
        <p:nvGrpSpPr>
          <p:cNvPr name="Group 35" id="35"/>
          <p:cNvGrpSpPr/>
          <p:nvPr/>
        </p:nvGrpSpPr>
        <p:grpSpPr>
          <a:xfrm rot="0">
            <a:off x="1006888" y="4312444"/>
            <a:ext cx="7601140" cy="935165"/>
            <a:chOff x="0" y="0"/>
            <a:chExt cx="10134854" cy="1246886"/>
          </a:xfrm>
        </p:grpSpPr>
        <p:sp>
          <p:nvSpPr>
            <p:cNvPr name="Freeform 36" id="36"/>
            <p:cNvSpPr/>
            <p:nvPr/>
          </p:nvSpPr>
          <p:spPr>
            <a:xfrm flipH="false" flipV="false" rot="0">
              <a:off x="0" y="0"/>
              <a:ext cx="10134854" cy="1246886"/>
            </a:xfrm>
            <a:custGeom>
              <a:avLst/>
              <a:gdLst/>
              <a:ahLst/>
              <a:cxnLst/>
              <a:rect r="r" b="b" t="t" l="l"/>
              <a:pathLst>
                <a:path h="1246886" w="10134854">
                  <a:moveTo>
                    <a:pt x="0" y="130302"/>
                  </a:moveTo>
                  <a:cubicBezTo>
                    <a:pt x="0" y="58293"/>
                    <a:pt x="58293" y="0"/>
                    <a:pt x="130302" y="0"/>
                  </a:cubicBezTo>
                  <a:lnTo>
                    <a:pt x="10004552" y="0"/>
                  </a:lnTo>
                  <a:cubicBezTo>
                    <a:pt x="10076561" y="0"/>
                    <a:pt x="10134854" y="58293"/>
                    <a:pt x="10134854" y="130302"/>
                  </a:cubicBezTo>
                  <a:lnTo>
                    <a:pt x="10134854" y="1116584"/>
                  </a:lnTo>
                  <a:cubicBezTo>
                    <a:pt x="10134854" y="1188593"/>
                    <a:pt x="10076561" y="1246886"/>
                    <a:pt x="10004552" y="1246886"/>
                  </a:cubicBezTo>
                  <a:lnTo>
                    <a:pt x="130302" y="1246886"/>
                  </a:lnTo>
                  <a:cubicBezTo>
                    <a:pt x="58293" y="1246886"/>
                    <a:pt x="0" y="1188593"/>
                    <a:pt x="0" y="1116584"/>
                  </a:cubicBezTo>
                  <a:close/>
                </a:path>
              </a:pathLst>
            </a:custGeom>
            <a:solidFill>
              <a:srgbClr val="FFFFFF"/>
            </a:solidFill>
            <a:ln w="16192" cap="sq">
              <a:solidFill>
                <a:srgbClr val="EADBD8"/>
              </a:solidFill>
              <a:prstDash val="solid"/>
              <a:miter/>
            </a:ln>
          </p:spPr>
        </p:sp>
      </p:grpSp>
      <p:grpSp>
        <p:nvGrpSpPr>
          <p:cNvPr name="Group 37" id="37"/>
          <p:cNvGrpSpPr/>
          <p:nvPr/>
        </p:nvGrpSpPr>
        <p:grpSpPr>
          <a:xfrm rot="0">
            <a:off x="9730264" y="4312444"/>
            <a:ext cx="7587425" cy="935165"/>
            <a:chOff x="0" y="0"/>
            <a:chExt cx="10116566" cy="1246886"/>
          </a:xfrm>
        </p:grpSpPr>
        <p:sp>
          <p:nvSpPr>
            <p:cNvPr name="Freeform 38" id="38"/>
            <p:cNvSpPr/>
            <p:nvPr/>
          </p:nvSpPr>
          <p:spPr>
            <a:xfrm flipH="false" flipV="false" rot="0">
              <a:off x="0" y="0"/>
              <a:ext cx="10116566" cy="1246886"/>
            </a:xfrm>
            <a:custGeom>
              <a:avLst/>
              <a:gdLst/>
              <a:ahLst/>
              <a:cxnLst/>
              <a:rect r="r" b="b" t="t" l="l"/>
              <a:pathLst>
                <a:path h="1246886" w="10116566">
                  <a:moveTo>
                    <a:pt x="0" y="130302"/>
                  </a:moveTo>
                  <a:cubicBezTo>
                    <a:pt x="0" y="58293"/>
                    <a:pt x="58293" y="0"/>
                    <a:pt x="130302" y="0"/>
                  </a:cubicBezTo>
                  <a:lnTo>
                    <a:pt x="9986264" y="0"/>
                  </a:lnTo>
                  <a:cubicBezTo>
                    <a:pt x="10058273" y="0"/>
                    <a:pt x="10116566" y="58293"/>
                    <a:pt x="10116566" y="130302"/>
                  </a:cubicBezTo>
                  <a:lnTo>
                    <a:pt x="10116566" y="1116584"/>
                  </a:lnTo>
                  <a:cubicBezTo>
                    <a:pt x="10116566" y="1188593"/>
                    <a:pt x="10058273" y="1246886"/>
                    <a:pt x="9986264" y="1246886"/>
                  </a:cubicBezTo>
                  <a:lnTo>
                    <a:pt x="130302" y="1246886"/>
                  </a:lnTo>
                  <a:cubicBezTo>
                    <a:pt x="58293" y="1246886"/>
                    <a:pt x="0" y="1188593"/>
                    <a:pt x="0" y="1116584"/>
                  </a:cubicBezTo>
                  <a:close/>
                </a:path>
              </a:pathLst>
            </a:custGeom>
            <a:solidFill>
              <a:srgbClr val="FFFFFF"/>
            </a:solidFill>
            <a:ln w="16192" cap="sq">
              <a:solidFill>
                <a:srgbClr val="D3E8DA"/>
              </a:solidFill>
              <a:prstDash val="solid"/>
              <a:miter/>
            </a:ln>
          </p:spPr>
        </p:sp>
      </p:grpSp>
      <p:grpSp>
        <p:nvGrpSpPr>
          <p:cNvPr name="Group 39" id="39"/>
          <p:cNvGrpSpPr/>
          <p:nvPr/>
        </p:nvGrpSpPr>
        <p:grpSpPr>
          <a:xfrm rot="0">
            <a:off x="1005459" y="4311015"/>
            <a:ext cx="94488" cy="938022"/>
            <a:chOff x="0" y="0"/>
            <a:chExt cx="125984" cy="1250696"/>
          </a:xfrm>
        </p:grpSpPr>
        <p:sp>
          <p:nvSpPr>
            <p:cNvPr name="Freeform 40" id="40"/>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F0A69E"/>
            </a:solidFill>
          </p:spPr>
        </p:sp>
      </p:grpSp>
      <p:grpSp>
        <p:nvGrpSpPr>
          <p:cNvPr name="Group 41" id="41"/>
          <p:cNvGrpSpPr/>
          <p:nvPr/>
        </p:nvGrpSpPr>
        <p:grpSpPr>
          <a:xfrm rot="0">
            <a:off x="9728835" y="4311015"/>
            <a:ext cx="94488" cy="938022"/>
            <a:chOff x="0" y="0"/>
            <a:chExt cx="125984" cy="1250696"/>
          </a:xfrm>
        </p:grpSpPr>
        <p:sp>
          <p:nvSpPr>
            <p:cNvPr name="Freeform 42" id="42"/>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008E86"/>
            </a:solidFill>
          </p:spPr>
        </p:sp>
      </p:grpSp>
      <p:grpSp>
        <p:nvGrpSpPr>
          <p:cNvPr name="Group 43" id="43"/>
          <p:cNvGrpSpPr/>
          <p:nvPr/>
        </p:nvGrpSpPr>
        <p:grpSpPr>
          <a:xfrm rot="0">
            <a:off x="1385316" y="4416552"/>
            <a:ext cx="6844284" cy="713232"/>
            <a:chOff x="0" y="0"/>
            <a:chExt cx="9125712" cy="950976"/>
          </a:xfrm>
        </p:grpSpPr>
        <p:sp>
          <p:nvSpPr>
            <p:cNvPr name="Freeform 44" id="44"/>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45" id="45"/>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A flipped flag paid for cosmetic surgery</a:t>
              </a:r>
            </a:p>
          </p:txBody>
        </p:sp>
      </p:grpSp>
      <p:grpSp>
        <p:nvGrpSpPr>
          <p:cNvPr name="Group 46" id="46"/>
          <p:cNvGrpSpPr/>
          <p:nvPr/>
        </p:nvGrpSpPr>
        <p:grpSpPr>
          <a:xfrm rot="0">
            <a:off x="10081260" y="4416552"/>
            <a:ext cx="6844284" cy="713232"/>
            <a:chOff x="0" y="0"/>
            <a:chExt cx="9125712" cy="950976"/>
          </a:xfrm>
        </p:grpSpPr>
        <p:sp>
          <p:nvSpPr>
            <p:cNvPr name="Freeform 47" id="47"/>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48" id="48"/>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Critic re-runs the rules on the rule-based facts and escalates</a:t>
              </a:r>
            </a:p>
          </p:txBody>
        </p:sp>
      </p:grpSp>
      <p:sp>
        <p:nvSpPr>
          <p:cNvPr name="AutoShape 49" id="49"/>
          <p:cNvSpPr/>
          <p:nvPr/>
        </p:nvSpPr>
        <p:spPr>
          <a:xfrm rot="261420">
            <a:off x="8882901" y="4763643"/>
            <a:ext cx="476488" cy="0"/>
          </a:xfrm>
          <a:prstGeom prst="line">
            <a:avLst/>
          </a:prstGeom>
          <a:ln cap="rnd" w="19050">
            <a:solidFill>
              <a:srgbClr val="425AEF"/>
            </a:solidFill>
            <a:prstDash val="solid"/>
            <a:headEnd type="none" len="sm" w="sm"/>
            <a:tailEnd type="triangle" len="med" w="lg"/>
          </a:ln>
        </p:spPr>
      </p:sp>
      <p:grpSp>
        <p:nvGrpSpPr>
          <p:cNvPr name="Group 50" id="50"/>
          <p:cNvGrpSpPr/>
          <p:nvPr/>
        </p:nvGrpSpPr>
        <p:grpSpPr>
          <a:xfrm rot="0">
            <a:off x="1006888" y="5464588"/>
            <a:ext cx="7601140" cy="935165"/>
            <a:chOff x="0" y="0"/>
            <a:chExt cx="10134854" cy="1246886"/>
          </a:xfrm>
        </p:grpSpPr>
        <p:sp>
          <p:nvSpPr>
            <p:cNvPr name="Freeform 51" id="51"/>
            <p:cNvSpPr/>
            <p:nvPr/>
          </p:nvSpPr>
          <p:spPr>
            <a:xfrm flipH="false" flipV="false" rot="0">
              <a:off x="0" y="0"/>
              <a:ext cx="10134854" cy="1246886"/>
            </a:xfrm>
            <a:custGeom>
              <a:avLst/>
              <a:gdLst/>
              <a:ahLst/>
              <a:cxnLst/>
              <a:rect r="r" b="b" t="t" l="l"/>
              <a:pathLst>
                <a:path h="1246886" w="10134854">
                  <a:moveTo>
                    <a:pt x="0" y="130302"/>
                  </a:moveTo>
                  <a:cubicBezTo>
                    <a:pt x="0" y="58293"/>
                    <a:pt x="58293" y="0"/>
                    <a:pt x="130302" y="0"/>
                  </a:cubicBezTo>
                  <a:lnTo>
                    <a:pt x="10004552" y="0"/>
                  </a:lnTo>
                  <a:cubicBezTo>
                    <a:pt x="10076561" y="0"/>
                    <a:pt x="10134854" y="58293"/>
                    <a:pt x="10134854" y="130302"/>
                  </a:cubicBezTo>
                  <a:lnTo>
                    <a:pt x="10134854" y="1116584"/>
                  </a:lnTo>
                  <a:cubicBezTo>
                    <a:pt x="10134854" y="1188593"/>
                    <a:pt x="10076561" y="1246886"/>
                    <a:pt x="10004552" y="1246886"/>
                  </a:cubicBezTo>
                  <a:lnTo>
                    <a:pt x="130302" y="1246886"/>
                  </a:lnTo>
                  <a:cubicBezTo>
                    <a:pt x="58293" y="1246886"/>
                    <a:pt x="0" y="1188593"/>
                    <a:pt x="0" y="1116584"/>
                  </a:cubicBezTo>
                  <a:close/>
                </a:path>
              </a:pathLst>
            </a:custGeom>
            <a:solidFill>
              <a:srgbClr val="FFFFFF"/>
            </a:solidFill>
            <a:ln w="16192" cap="sq">
              <a:solidFill>
                <a:srgbClr val="EADBD8"/>
              </a:solidFill>
              <a:prstDash val="solid"/>
              <a:miter/>
            </a:ln>
          </p:spPr>
        </p:sp>
      </p:grpSp>
      <p:grpSp>
        <p:nvGrpSpPr>
          <p:cNvPr name="Group 52" id="52"/>
          <p:cNvGrpSpPr/>
          <p:nvPr/>
        </p:nvGrpSpPr>
        <p:grpSpPr>
          <a:xfrm rot="0">
            <a:off x="9730264" y="5464588"/>
            <a:ext cx="7587425" cy="935165"/>
            <a:chOff x="0" y="0"/>
            <a:chExt cx="10116566" cy="1246886"/>
          </a:xfrm>
        </p:grpSpPr>
        <p:sp>
          <p:nvSpPr>
            <p:cNvPr name="Freeform 53" id="53"/>
            <p:cNvSpPr/>
            <p:nvPr/>
          </p:nvSpPr>
          <p:spPr>
            <a:xfrm flipH="false" flipV="false" rot="0">
              <a:off x="0" y="0"/>
              <a:ext cx="10116566" cy="1246886"/>
            </a:xfrm>
            <a:custGeom>
              <a:avLst/>
              <a:gdLst/>
              <a:ahLst/>
              <a:cxnLst/>
              <a:rect r="r" b="b" t="t" l="l"/>
              <a:pathLst>
                <a:path h="1246886" w="10116566">
                  <a:moveTo>
                    <a:pt x="0" y="130302"/>
                  </a:moveTo>
                  <a:cubicBezTo>
                    <a:pt x="0" y="58293"/>
                    <a:pt x="58293" y="0"/>
                    <a:pt x="130302" y="0"/>
                  </a:cubicBezTo>
                  <a:lnTo>
                    <a:pt x="9986264" y="0"/>
                  </a:lnTo>
                  <a:cubicBezTo>
                    <a:pt x="10058273" y="0"/>
                    <a:pt x="10116566" y="58293"/>
                    <a:pt x="10116566" y="130302"/>
                  </a:cubicBezTo>
                  <a:lnTo>
                    <a:pt x="10116566" y="1116584"/>
                  </a:lnTo>
                  <a:cubicBezTo>
                    <a:pt x="10116566" y="1188593"/>
                    <a:pt x="10058273" y="1246886"/>
                    <a:pt x="9986264" y="1246886"/>
                  </a:cubicBezTo>
                  <a:lnTo>
                    <a:pt x="130302" y="1246886"/>
                  </a:lnTo>
                  <a:cubicBezTo>
                    <a:pt x="58293" y="1246886"/>
                    <a:pt x="0" y="1188593"/>
                    <a:pt x="0" y="1116584"/>
                  </a:cubicBezTo>
                  <a:close/>
                </a:path>
              </a:pathLst>
            </a:custGeom>
            <a:solidFill>
              <a:srgbClr val="FFFFFF"/>
            </a:solidFill>
            <a:ln w="16192" cap="sq">
              <a:solidFill>
                <a:srgbClr val="D3E8DA"/>
              </a:solidFill>
              <a:prstDash val="solid"/>
              <a:miter/>
            </a:ln>
          </p:spPr>
        </p:sp>
      </p:grpSp>
      <p:grpSp>
        <p:nvGrpSpPr>
          <p:cNvPr name="Group 54" id="54"/>
          <p:cNvGrpSpPr/>
          <p:nvPr/>
        </p:nvGrpSpPr>
        <p:grpSpPr>
          <a:xfrm rot="0">
            <a:off x="1005459" y="5463159"/>
            <a:ext cx="94488" cy="938022"/>
            <a:chOff x="0" y="0"/>
            <a:chExt cx="125984" cy="1250696"/>
          </a:xfrm>
        </p:grpSpPr>
        <p:sp>
          <p:nvSpPr>
            <p:cNvPr name="Freeform 55" id="55"/>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F0A69E"/>
            </a:solidFill>
          </p:spPr>
        </p:sp>
      </p:grpSp>
      <p:grpSp>
        <p:nvGrpSpPr>
          <p:cNvPr name="Group 56" id="56"/>
          <p:cNvGrpSpPr/>
          <p:nvPr/>
        </p:nvGrpSpPr>
        <p:grpSpPr>
          <a:xfrm rot="0">
            <a:off x="9728835" y="5463159"/>
            <a:ext cx="94488" cy="938022"/>
            <a:chOff x="0" y="0"/>
            <a:chExt cx="125984" cy="1250696"/>
          </a:xfrm>
        </p:grpSpPr>
        <p:sp>
          <p:nvSpPr>
            <p:cNvPr name="Freeform 57" id="57"/>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008E86"/>
            </a:solidFill>
          </p:spPr>
        </p:sp>
      </p:grpSp>
      <p:grpSp>
        <p:nvGrpSpPr>
          <p:cNvPr name="Group 58" id="58"/>
          <p:cNvGrpSpPr/>
          <p:nvPr/>
        </p:nvGrpSpPr>
        <p:grpSpPr>
          <a:xfrm rot="0">
            <a:off x="1385316" y="5568696"/>
            <a:ext cx="6844284" cy="713232"/>
            <a:chOff x="0" y="0"/>
            <a:chExt cx="9125712" cy="950976"/>
          </a:xfrm>
        </p:grpSpPr>
        <p:sp>
          <p:nvSpPr>
            <p:cNvPr name="Freeform 59" id="59"/>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60" id="60"/>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Disputed facts denied payable claims</a:t>
              </a:r>
            </a:p>
          </p:txBody>
        </p:sp>
      </p:grpSp>
      <p:grpSp>
        <p:nvGrpSpPr>
          <p:cNvPr name="Group 61" id="61"/>
          <p:cNvGrpSpPr/>
          <p:nvPr/>
        </p:nvGrpSpPr>
        <p:grpSpPr>
          <a:xfrm rot="0">
            <a:off x="10081260" y="5568696"/>
            <a:ext cx="6844284" cy="713232"/>
            <a:chOff x="0" y="0"/>
            <a:chExt cx="9125712" cy="950976"/>
          </a:xfrm>
        </p:grpSpPr>
        <p:sp>
          <p:nvSpPr>
            <p:cNvPr name="Freeform 62" id="62"/>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63" id="63"/>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Deny only on grounds both extractors support</a:t>
              </a:r>
            </a:p>
          </p:txBody>
        </p:sp>
      </p:grpSp>
      <p:sp>
        <p:nvSpPr>
          <p:cNvPr name="AutoShape 64" id="64"/>
          <p:cNvSpPr/>
          <p:nvPr/>
        </p:nvSpPr>
        <p:spPr>
          <a:xfrm rot="261420">
            <a:off x="8882901" y="5915787"/>
            <a:ext cx="476488" cy="0"/>
          </a:xfrm>
          <a:prstGeom prst="line">
            <a:avLst/>
          </a:prstGeom>
          <a:ln cap="rnd" w="19050">
            <a:solidFill>
              <a:srgbClr val="425AEF"/>
            </a:solidFill>
            <a:prstDash val="solid"/>
            <a:headEnd type="none" len="sm" w="sm"/>
            <a:tailEnd type="triangle" len="med" w="lg"/>
          </a:ln>
        </p:spPr>
      </p:sp>
      <p:grpSp>
        <p:nvGrpSpPr>
          <p:cNvPr name="Group 65" id="65"/>
          <p:cNvGrpSpPr/>
          <p:nvPr/>
        </p:nvGrpSpPr>
        <p:grpSpPr>
          <a:xfrm rot="0">
            <a:off x="1006888" y="6616732"/>
            <a:ext cx="7601140" cy="935165"/>
            <a:chOff x="0" y="0"/>
            <a:chExt cx="10134854" cy="1246886"/>
          </a:xfrm>
        </p:grpSpPr>
        <p:sp>
          <p:nvSpPr>
            <p:cNvPr name="Freeform 66" id="66"/>
            <p:cNvSpPr/>
            <p:nvPr/>
          </p:nvSpPr>
          <p:spPr>
            <a:xfrm flipH="false" flipV="false" rot="0">
              <a:off x="0" y="0"/>
              <a:ext cx="10134854" cy="1246886"/>
            </a:xfrm>
            <a:custGeom>
              <a:avLst/>
              <a:gdLst/>
              <a:ahLst/>
              <a:cxnLst/>
              <a:rect r="r" b="b" t="t" l="l"/>
              <a:pathLst>
                <a:path h="1246886" w="10134854">
                  <a:moveTo>
                    <a:pt x="0" y="130302"/>
                  </a:moveTo>
                  <a:cubicBezTo>
                    <a:pt x="0" y="58293"/>
                    <a:pt x="58293" y="0"/>
                    <a:pt x="130302" y="0"/>
                  </a:cubicBezTo>
                  <a:lnTo>
                    <a:pt x="10004552" y="0"/>
                  </a:lnTo>
                  <a:cubicBezTo>
                    <a:pt x="10076561" y="0"/>
                    <a:pt x="10134854" y="58293"/>
                    <a:pt x="10134854" y="130302"/>
                  </a:cubicBezTo>
                  <a:lnTo>
                    <a:pt x="10134854" y="1116584"/>
                  </a:lnTo>
                  <a:cubicBezTo>
                    <a:pt x="10134854" y="1188593"/>
                    <a:pt x="10076561" y="1246886"/>
                    <a:pt x="10004552" y="1246886"/>
                  </a:cubicBezTo>
                  <a:lnTo>
                    <a:pt x="130302" y="1246886"/>
                  </a:lnTo>
                  <a:cubicBezTo>
                    <a:pt x="58293" y="1246886"/>
                    <a:pt x="0" y="1188593"/>
                    <a:pt x="0" y="1116584"/>
                  </a:cubicBezTo>
                  <a:close/>
                </a:path>
              </a:pathLst>
            </a:custGeom>
            <a:solidFill>
              <a:srgbClr val="FFFFFF"/>
            </a:solidFill>
            <a:ln w="16192" cap="sq">
              <a:solidFill>
                <a:srgbClr val="EADBD8"/>
              </a:solidFill>
              <a:prstDash val="solid"/>
              <a:miter/>
            </a:ln>
          </p:spPr>
        </p:sp>
      </p:grpSp>
      <p:grpSp>
        <p:nvGrpSpPr>
          <p:cNvPr name="Group 67" id="67"/>
          <p:cNvGrpSpPr/>
          <p:nvPr/>
        </p:nvGrpSpPr>
        <p:grpSpPr>
          <a:xfrm rot="0">
            <a:off x="9730264" y="6616732"/>
            <a:ext cx="7587425" cy="935165"/>
            <a:chOff x="0" y="0"/>
            <a:chExt cx="10116566" cy="1246886"/>
          </a:xfrm>
        </p:grpSpPr>
        <p:sp>
          <p:nvSpPr>
            <p:cNvPr name="Freeform 68" id="68"/>
            <p:cNvSpPr/>
            <p:nvPr/>
          </p:nvSpPr>
          <p:spPr>
            <a:xfrm flipH="false" flipV="false" rot="0">
              <a:off x="0" y="0"/>
              <a:ext cx="10116566" cy="1246886"/>
            </a:xfrm>
            <a:custGeom>
              <a:avLst/>
              <a:gdLst/>
              <a:ahLst/>
              <a:cxnLst/>
              <a:rect r="r" b="b" t="t" l="l"/>
              <a:pathLst>
                <a:path h="1246886" w="10116566">
                  <a:moveTo>
                    <a:pt x="0" y="130302"/>
                  </a:moveTo>
                  <a:cubicBezTo>
                    <a:pt x="0" y="58293"/>
                    <a:pt x="58293" y="0"/>
                    <a:pt x="130302" y="0"/>
                  </a:cubicBezTo>
                  <a:lnTo>
                    <a:pt x="9986264" y="0"/>
                  </a:lnTo>
                  <a:cubicBezTo>
                    <a:pt x="10058273" y="0"/>
                    <a:pt x="10116566" y="58293"/>
                    <a:pt x="10116566" y="130302"/>
                  </a:cubicBezTo>
                  <a:lnTo>
                    <a:pt x="10116566" y="1116584"/>
                  </a:lnTo>
                  <a:cubicBezTo>
                    <a:pt x="10116566" y="1188593"/>
                    <a:pt x="10058273" y="1246886"/>
                    <a:pt x="9986264" y="1246886"/>
                  </a:cubicBezTo>
                  <a:lnTo>
                    <a:pt x="130302" y="1246886"/>
                  </a:lnTo>
                  <a:cubicBezTo>
                    <a:pt x="58293" y="1246886"/>
                    <a:pt x="0" y="1188593"/>
                    <a:pt x="0" y="1116584"/>
                  </a:cubicBezTo>
                  <a:close/>
                </a:path>
              </a:pathLst>
            </a:custGeom>
            <a:solidFill>
              <a:srgbClr val="FFFFFF"/>
            </a:solidFill>
            <a:ln w="16192" cap="sq">
              <a:solidFill>
                <a:srgbClr val="D3E8DA"/>
              </a:solidFill>
              <a:prstDash val="solid"/>
              <a:miter/>
            </a:ln>
          </p:spPr>
        </p:sp>
      </p:grpSp>
      <p:grpSp>
        <p:nvGrpSpPr>
          <p:cNvPr name="Group 69" id="69"/>
          <p:cNvGrpSpPr/>
          <p:nvPr/>
        </p:nvGrpSpPr>
        <p:grpSpPr>
          <a:xfrm rot="0">
            <a:off x="1005459" y="6615303"/>
            <a:ext cx="94488" cy="938022"/>
            <a:chOff x="0" y="0"/>
            <a:chExt cx="125984" cy="1250696"/>
          </a:xfrm>
        </p:grpSpPr>
        <p:sp>
          <p:nvSpPr>
            <p:cNvPr name="Freeform 70" id="70"/>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F0A69E"/>
            </a:solidFill>
          </p:spPr>
        </p:sp>
      </p:grpSp>
      <p:grpSp>
        <p:nvGrpSpPr>
          <p:cNvPr name="Group 71" id="71"/>
          <p:cNvGrpSpPr/>
          <p:nvPr/>
        </p:nvGrpSpPr>
        <p:grpSpPr>
          <a:xfrm rot="0">
            <a:off x="9728835" y="6615303"/>
            <a:ext cx="94488" cy="938022"/>
            <a:chOff x="0" y="0"/>
            <a:chExt cx="125984" cy="1250696"/>
          </a:xfrm>
        </p:grpSpPr>
        <p:sp>
          <p:nvSpPr>
            <p:cNvPr name="Freeform 72" id="72"/>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008E86"/>
            </a:solidFill>
          </p:spPr>
        </p:sp>
      </p:grpSp>
      <p:grpSp>
        <p:nvGrpSpPr>
          <p:cNvPr name="Group 73" id="73"/>
          <p:cNvGrpSpPr/>
          <p:nvPr/>
        </p:nvGrpSpPr>
        <p:grpSpPr>
          <a:xfrm rot="0">
            <a:off x="1385316" y="6720840"/>
            <a:ext cx="6844284" cy="713232"/>
            <a:chOff x="0" y="0"/>
            <a:chExt cx="9125712" cy="950976"/>
          </a:xfrm>
        </p:grpSpPr>
        <p:sp>
          <p:nvSpPr>
            <p:cNvPr name="Freeform 74" id="74"/>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75" id="75"/>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Letters could drop a reason or flip the wording</a:t>
              </a:r>
            </a:p>
          </p:txBody>
        </p:sp>
      </p:grpSp>
      <p:grpSp>
        <p:nvGrpSpPr>
          <p:cNvPr name="Group 76" id="76"/>
          <p:cNvGrpSpPr/>
          <p:nvPr/>
        </p:nvGrpSpPr>
        <p:grpSpPr>
          <a:xfrm rot="0">
            <a:off x="10081260" y="6720840"/>
            <a:ext cx="6844284" cy="713232"/>
            <a:chOff x="0" y="0"/>
            <a:chExt cx="9125712" cy="950976"/>
          </a:xfrm>
        </p:grpSpPr>
        <p:sp>
          <p:nvSpPr>
            <p:cNvPr name="Freeform 77" id="77"/>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78" id="78"/>
            <p:cNvSpPr txBox="true"/>
            <p:nvPr/>
          </p:nvSpPr>
          <p:spPr>
            <a:xfrm>
              <a:off x="0" y="-9525"/>
              <a:ext cx="9125712" cy="960501"/>
            </a:xfrm>
            <a:prstGeom prst="rect">
              <a:avLst/>
            </a:prstGeom>
          </p:spPr>
          <p:txBody>
            <a:bodyPr anchor="ctr" rtlCol="false" tIns="0" lIns="0" bIns="0" rIns="0"/>
            <a:lstStyle/>
            <a:p>
              <a:pPr algn="l">
                <a:lnSpc>
                  <a:spcPts val="2420"/>
                </a:lnSpc>
              </a:pPr>
              <a:r>
                <a:rPr lang="en-US" sz="2017">
                  <a:solidFill>
                    <a:srgbClr val="101E2B"/>
                  </a:solidFill>
                  <a:latin typeface="Inter"/>
                  <a:ea typeface="Inter"/>
                  <a:cs typeface="Inter"/>
                  <a:sym typeface="Inter"/>
                </a:rPr>
                <a:t>Every reason verbatim; opposite-decision wording blocked</a:t>
              </a:r>
            </a:p>
          </p:txBody>
        </p:sp>
      </p:grpSp>
      <p:sp>
        <p:nvSpPr>
          <p:cNvPr name="AutoShape 79" id="79"/>
          <p:cNvSpPr/>
          <p:nvPr/>
        </p:nvSpPr>
        <p:spPr>
          <a:xfrm rot="261420">
            <a:off x="8882901" y="7067931"/>
            <a:ext cx="476488" cy="0"/>
          </a:xfrm>
          <a:prstGeom prst="line">
            <a:avLst/>
          </a:prstGeom>
          <a:ln cap="rnd" w="19050">
            <a:solidFill>
              <a:srgbClr val="425AEF"/>
            </a:solidFill>
            <a:prstDash val="solid"/>
            <a:headEnd type="none" len="sm" w="sm"/>
            <a:tailEnd type="triangle" len="med" w="lg"/>
          </a:ln>
        </p:spPr>
      </p:sp>
      <p:grpSp>
        <p:nvGrpSpPr>
          <p:cNvPr name="Group 80" id="80"/>
          <p:cNvGrpSpPr/>
          <p:nvPr/>
        </p:nvGrpSpPr>
        <p:grpSpPr>
          <a:xfrm rot="0">
            <a:off x="1006888" y="7768876"/>
            <a:ext cx="7601140" cy="935165"/>
            <a:chOff x="0" y="0"/>
            <a:chExt cx="10134854" cy="1246886"/>
          </a:xfrm>
        </p:grpSpPr>
        <p:sp>
          <p:nvSpPr>
            <p:cNvPr name="Freeform 81" id="81"/>
            <p:cNvSpPr/>
            <p:nvPr/>
          </p:nvSpPr>
          <p:spPr>
            <a:xfrm flipH="false" flipV="false" rot="0">
              <a:off x="0" y="0"/>
              <a:ext cx="10134854" cy="1246886"/>
            </a:xfrm>
            <a:custGeom>
              <a:avLst/>
              <a:gdLst/>
              <a:ahLst/>
              <a:cxnLst/>
              <a:rect r="r" b="b" t="t" l="l"/>
              <a:pathLst>
                <a:path h="1246886" w="10134854">
                  <a:moveTo>
                    <a:pt x="0" y="130302"/>
                  </a:moveTo>
                  <a:cubicBezTo>
                    <a:pt x="0" y="58293"/>
                    <a:pt x="58293" y="0"/>
                    <a:pt x="130302" y="0"/>
                  </a:cubicBezTo>
                  <a:lnTo>
                    <a:pt x="10004552" y="0"/>
                  </a:lnTo>
                  <a:cubicBezTo>
                    <a:pt x="10076561" y="0"/>
                    <a:pt x="10134854" y="58293"/>
                    <a:pt x="10134854" y="130302"/>
                  </a:cubicBezTo>
                  <a:lnTo>
                    <a:pt x="10134854" y="1116584"/>
                  </a:lnTo>
                  <a:cubicBezTo>
                    <a:pt x="10134854" y="1188593"/>
                    <a:pt x="10076561" y="1246886"/>
                    <a:pt x="10004552" y="1246886"/>
                  </a:cubicBezTo>
                  <a:lnTo>
                    <a:pt x="130302" y="1246886"/>
                  </a:lnTo>
                  <a:cubicBezTo>
                    <a:pt x="58293" y="1246886"/>
                    <a:pt x="0" y="1188593"/>
                    <a:pt x="0" y="1116584"/>
                  </a:cubicBezTo>
                  <a:close/>
                </a:path>
              </a:pathLst>
            </a:custGeom>
            <a:solidFill>
              <a:srgbClr val="FFFFFF"/>
            </a:solidFill>
            <a:ln w="16192" cap="sq">
              <a:solidFill>
                <a:srgbClr val="EADBD8"/>
              </a:solidFill>
              <a:prstDash val="solid"/>
              <a:miter/>
            </a:ln>
          </p:spPr>
        </p:sp>
      </p:grpSp>
      <p:grpSp>
        <p:nvGrpSpPr>
          <p:cNvPr name="Group 82" id="82"/>
          <p:cNvGrpSpPr/>
          <p:nvPr/>
        </p:nvGrpSpPr>
        <p:grpSpPr>
          <a:xfrm rot="0">
            <a:off x="9730264" y="7768876"/>
            <a:ext cx="7587425" cy="935165"/>
            <a:chOff x="0" y="0"/>
            <a:chExt cx="10116566" cy="1246886"/>
          </a:xfrm>
        </p:grpSpPr>
        <p:sp>
          <p:nvSpPr>
            <p:cNvPr name="Freeform 83" id="83"/>
            <p:cNvSpPr/>
            <p:nvPr/>
          </p:nvSpPr>
          <p:spPr>
            <a:xfrm flipH="false" flipV="false" rot="0">
              <a:off x="0" y="0"/>
              <a:ext cx="10116566" cy="1246886"/>
            </a:xfrm>
            <a:custGeom>
              <a:avLst/>
              <a:gdLst/>
              <a:ahLst/>
              <a:cxnLst/>
              <a:rect r="r" b="b" t="t" l="l"/>
              <a:pathLst>
                <a:path h="1246886" w="10116566">
                  <a:moveTo>
                    <a:pt x="0" y="130302"/>
                  </a:moveTo>
                  <a:cubicBezTo>
                    <a:pt x="0" y="58293"/>
                    <a:pt x="58293" y="0"/>
                    <a:pt x="130302" y="0"/>
                  </a:cubicBezTo>
                  <a:lnTo>
                    <a:pt x="9986264" y="0"/>
                  </a:lnTo>
                  <a:cubicBezTo>
                    <a:pt x="10058273" y="0"/>
                    <a:pt x="10116566" y="58293"/>
                    <a:pt x="10116566" y="130302"/>
                  </a:cubicBezTo>
                  <a:lnTo>
                    <a:pt x="10116566" y="1116584"/>
                  </a:lnTo>
                  <a:cubicBezTo>
                    <a:pt x="10116566" y="1188593"/>
                    <a:pt x="10058273" y="1246886"/>
                    <a:pt x="9986264" y="1246886"/>
                  </a:cubicBezTo>
                  <a:lnTo>
                    <a:pt x="130302" y="1246886"/>
                  </a:lnTo>
                  <a:cubicBezTo>
                    <a:pt x="58293" y="1246886"/>
                    <a:pt x="0" y="1188593"/>
                    <a:pt x="0" y="1116584"/>
                  </a:cubicBezTo>
                  <a:close/>
                </a:path>
              </a:pathLst>
            </a:custGeom>
            <a:solidFill>
              <a:srgbClr val="FFFFFF"/>
            </a:solidFill>
            <a:ln w="16192" cap="sq">
              <a:solidFill>
                <a:srgbClr val="D3E8DA"/>
              </a:solidFill>
              <a:prstDash val="solid"/>
              <a:miter/>
            </a:ln>
          </p:spPr>
        </p:sp>
      </p:grpSp>
      <p:grpSp>
        <p:nvGrpSpPr>
          <p:cNvPr name="Group 84" id="84"/>
          <p:cNvGrpSpPr/>
          <p:nvPr/>
        </p:nvGrpSpPr>
        <p:grpSpPr>
          <a:xfrm rot="0">
            <a:off x="1005459" y="7767447"/>
            <a:ext cx="94488" cy="938022"/>
            <a:chOff x="0" y="0"/>
            <a:chExt cx="125984" cy="1250696"/>
          </a:xfrm>
        </p:grpSpPr>
        <p:sp>
          <p:nvSpPr>
            <p:cNvPr name="Freeform 85" id="85"/>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EE6A59"/>
            </a:solidFill>
          </p:spPr>
        </p:sp>
      </p:grpSp>
      <p:grpSp>
        <p:nvGrpSpPr>
          <p:cNvPr name="Group 86" id="86"/>
          <p:cNvGrpSpPr/>
          <p:nvPr/>
        </p:nvGrpSpPr>
        <p:grpSpPr>
          <a:xfrm rot="0">
            <a:off x="9728835" y="7767447"/>
            <a:ext cx="94488" cy="938022"/>
            <a:chOff x="0" y="0"/>
            <a:chExt cx="125984" cy="1250696"/>
          </a:xfrm>
        </p:grpSpPr>
        <p:sp>
          <p:nvSpPr>
            <p:cNvPr name="Freeform 87" id="87"/>
            <p:cNvSpPr/>
            <p:nvPr/>
          </p:nvSpPr>
          <p:spPr>
            <a:xfrm flipH="false" flipV="false" rot="0">
              <a:off x="0" y="0"/>
              <a:ext cx="125984" cy="1250696"/>
            </a:xfrm>
            <a:custGeom>
              <a:avLst/>
              <a:gdLst/>
              <a:ahLst/>
              <a:cxnLst/>
              <a:rect r="r" b="b" t="t" l="l"/>
              <a:pathLst>
                <a:path h="1250696" w="125984">
                  <a:moveTo>
                    <a:pt x="0" y="0"/>
                  </a:moveTo>
                  <a:lnTo>
                    <a:pt x="125984" y="0"/>
                  </a:lnTo>
                  <a:lnTo>
                    <a:pt x="125984" y="1250696"/>
                  </a:lnTo>
                  <a:lnTo>
                    <a:pt x="0" y="1250696"/>
                  </a:lnTo>
                  <a:close/>
                </a:path>
              </a:pathLst>
            </a:custGeom>
            <a:solidFill>
              <a:srgbClr val="008E86"/>
            </a:solidFill>
          </p:spPr>
        </p:sp>
      </p:grpSp>
      <p:grpSp>
        <p:nvGrpSpPr>
          <p:cNvPr name="Group 88" id="88"/>
          <p:cNvGrpSpPr/>
          <p:nvPr/>
        </p:nvGrpSpPr>
        <p:grpSpPr>
          <a:xfrm rot="0">
            <a:off x="1385316" y="7872984"/>
            <a:ext cx="6844284" cy="713232"/>
            <a:chOff x="0" y="0"/>
            <a:chExt cx="9125712" cy="950976"/>
          </a:xfrm>
        </p:grpSpPr>
        <p:sp>
          <p:nvSpPr>
            <p:cNvPr name="Freeform 89" id="89"/>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90" id="90"/>
            <p:cNvSpPr txBox="true"/>
            <p:nvPr/>
          </p:nvSpPr>
          <p:spPr>
            <a:xfrm>
              <a:off x="0" y="-9525"/>
              <a:ext cx="9125712" cy="960501"/>
            </a:xfrm>
            <a:prstGeom prst="rect">
              <a:avLst/>
            </a:prstGeom>
          </p:spPr>
          <p:txBody>
            <a:bodyPr anchor="ctr" rtlCol="false" tIns="0" lIns="0" bIns="0" rIns="0"/>
            <a:lstStyle/>
            <a:p>
              <a:pPr algn="l">
                <a:lnSpc>
                  <a:spcPts val="2420"/>
                </a:lnSpc>
              </a:pPr>
              <a:r>
                <a:rPr lang="en-US" sz="2017" b="true">
                  <a:solidFill>
                    <a:srgbClr val="9B3F42"/>
                  </a:solidFill>
                  <a:latin typeface="Inter Bold"/>
                  <a:ea typeface="Inter Bold"/>
                  <a:cs typeface="Inter Bold"/>
                  <a:sym typeface="Inter Bold"/>
                </a:rPr>
                <a:t>14 wrong decisions and 17 bad letters got out</a:t>
              </a:r>
            </a:p>
          </p:txBody>
        </p:sp>
      </p:grpSp>
      <p:grpSp>
        <p:nvGrpSpPr>
          <p:cNvPr name="Group 91" id="91"/>
          <p:cNvGrpSpPr/>
          <p:nvPr/>
        </p:nvGrpSpPr>
        <p:grpSpPr>
          <a:xfrm rot="0">
            <a:off x="10081260" y="7872984"/>
            <a:ext cx="6844284" cy="713232"/>
            <a:chOff x="0" y="0"/>
            <a:chExt cx="9125712" cy="950976"/>
          </a:xfrm>
        </p:grpSpPr>
        <p:sp>
          <p:nvSpPr>
            <p:cNvPr name="Freeform 92" id="92"/>
            <p:cNvSpPr/>
            <p:nvPr/>
          </p:nvSpPr>
          <p:spPr>
            <a:xfrm flipH="false" flipV="false" rot="0">
              <a:off x="0" y="0"/>
              <a:ext cx="9125712" cy="950976"/>
            </a:xfrm>
            <a:custGeom>
              <a:avLst/>
              <a:gdLst/>
              <a:ahLst/>
              <a:cxnLst/>
              <a:rect r="r" b="b" t="t" l="l"/>
              <a:pathLst>
                <a:path h="950976" w="9125712">
                  <a:moveTo>
                    <a:pt x="0" y="0"/>
                  </a:moveTo>
                  <a:lnTo>
                    <a:pt x="9125712" y="0"/>
                  </a:lnTo>
                  <a:lnTo>
                    <a:pt x="9125712" y="950976"/>
                  </a:lnTo>
                  <a:lnTo>
                    <a:pt x="0" y="950976"/>
                  </a:lnTo>
                  <a:close/>
                </a:path>
              </a:pathLst>
            </a:custGeom>
            <a:blipFill>
              <a:blip r:embed="rId3">
                <a:alphaModFix amt="0"/>
              </a:blip>
              <a:stretch>
                <a:fillRect l="0" t="-136981" r="0" b="-136981"/>
              </a:stretch>
            </a:blipFill>
          </p:spPr>
        </p:sp>
        <p:sp>
          <p:nvSpPr>
            <p:cNvPr name="TextBox 93" id="93"/>
            <p:cNvSpPr txBox="true"/>
            <p:nvPr/>
          </p:nvSpPr>
          <p:spPr>
            <a:xfrm>
              <a:off x="0" y="-9525"/>
              <a:ext cx="9125712" cy="960501"/>
            </a:xfrm>
            <a:prstGeom prst="rect">
              <a:avLst/>
            </a:prstGeom>
          </p:spPr>
          <p:txBody>
            <a:bodyPr anchor="ctr" rtlCol="false" tIns="0" lIns="0" bIns="0" rIns="0"/>
            <a:lstStyle/>
            <a:p>
              <a:pPr algn="l">
                <a:lnSpc>
                  <a:spcPts val="2420"/>
                </a:lnSpc>
              </a:pPr>
              <a:r>
                <a:rPr lang="en-US" sz="2017" b="true">
                  <a:solidFill>
                    <a:srgbClr val="008E86"/>
                  </a:solidFill>
                  <a:latin typeface="Inter Bold"/>
                  <a:ea typeface="Inter Bold"/>
                  <a:cs typeface="Inter Bold"/>
                  <a:sym typeface="Inter Bold"/>
                </a:rPr>
                <a:t>0 wrong decisions and 0 bad letters get out</a:t>
              </a:r>
            </a:p>
          </p:txBody>
        </p:sp>
      </p:grpSp>
      <p:sp>
        <p:nvSpPr>
          <p:cNvPr name="AutoShape 94" id="94"/>
          <p:cNvSpPr/>
          <p:nvPr/>
        </p:nvSpPr>
        <p:spPr>
          <a:xfrm rot="261420">
            <a:off x="8882901" y="8220075"/>
            <a:ext cx="476488" cy="0"/>
          </a:xfrm>
          <a:prstGeom prst="line">
            <a:avLst/>
          </a:prstGeom>
          <a:ln cap="rnd" w="19050">
            <a:solidFill>
              <a:srgbClr val="425AEF"/>
            </a:solidFill>
            <a:prstDash val="solid"/>
            <a:headEnd type="none" len="sm" w="sm"/>
            <a:tailEnd type="triangle" len="med" w="lg"/>
          </a:ln>
        </p:spPr>
      </p:sp>
      <p:grpSp>
        <p:nvGrpSpPr>
          <p:cNvPr name="Group 95" id="95"/>
          <p:cNvGrpSpPr/>
          <p:nvPr/>
        </p:nvGrpSpPr>
        <p:grpSpPr>
          <a:xfrm rot="0">
            <a:off x="946404" y="9758934"/>
            <a:ext cx="9601200" cy="260604"/>
            <a:chOff x="0" y="0"/>
            <a:chExt cx="12801600" cy="347472"/>
          </a:xfrm>
        </p:grpSpPr>
        <p:sp>
          <p:nvSpPr>
            <p:cNvPr name="Freeform 96" id="96"/>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97" id="97"/>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98" id="98"/>
          <p:cNvGrpSpPr/>
          <p:nvPr/>
        </p:nvGrpSpPr>
        <p:grpSpPr>
          <a:xfrm rot="0">
            <a:off x="16733520" y="9745218"/>
            <a:ext cx="548640" cy="301752"/>
            <a:chOff x="0" y="0"/>
            <a:chExt cx="731520" cy="402336"/>
          </a:xfrm>
        </p:grpSpPr>
        <p:sp>
          <p:nvSpPr>
            <p:cNvPr name="Freeform 99" id="99"/>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100" id="100"/>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10</a:t>
              </a:r>
            </a:p>
          </p:txBody>
        </p:sp>
      </p:grpSp>
      <p:sp>
        <p:nvSpPr>
          <p:cNvPr name="Freeform 101" id="101"/>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4734"/>
                </a:lnSpc>
              </a:pPr>
              <a:r>
                <a:rPr lang="en-US" sz="3945" b="true">
                  <a:solidFill>
                    <a:srgbClr val="101E2B"/>
                  </a:solidFill>
                  <a:latin typeface="Inter Bold"/>
                  <a:ea typeface="Inter Bold"/>
                  <a:cs typeface="Inter Bold"/>
                  <a:sym typeface="Inter Bold"/>
                </a:rPr>
                <a:t>Results: faster, consistent and explainable decisions</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952024" y="2035588"/>
            <a:ext cx="10426637" cy="7381684"/>
            <a:chOff x="0" y="0"/>
            <a:chExt cx="13902182" cy="9842246"/>
          </a:xfrm>
        </p:grpSpPr>
        <p:sp>
          <p:nvSpPr>
            <p:cNvPr name="Freeform 7" id="7"/>
            <p:cNvSpPr/>
            <p:nvPr/>
          </p:nvSpPr>
          <p:spPr>
            <a:xfrm flipH="false" flipV="false" rot="0">
              <a:off x="0" y="0"/>
              <a:ext cx="13902182" cy="9842246"/>
            </a:xfrm>
            <a:custGeom>
              <a:avLst/>
              <a:gdLst/>
              <a:ahLst/>
              <a:cxnLst/>
              <a:rect r="r" b="b" t="t" l="l"/>
              <a:pathLst>
                <a:path h="9842246" w="13902182">
                  <a:moveTo>
                    <a:pt x="0" y="128397"/>
                  </a:moveTo>
                  <a:cubicBezTo>
                    <a:pt x="0" y="57404"/>
                    <a:pt x="57404" y="0"/>
                    <a:pt x="128397" y="0"/>
                  </a:cubicBezTo>
                  <a:lnTo>
                    <a:pt x="13773786" y="0"/>
                  </a:lnTo>
                  <a:cubicBezTo>
                    <a:pt x="13844651" y="0"/>
                    <a:pt x="13902182" y="57404"/>
                    <a:pt x="13902182" y="128397"/>
                  </a:cubicBezTo>
                  <a:lnTo>
                    <a:pt x="13902182" y="9713849"/>
                  </a:lnTo>
                  <a:cubicBezTo>
                    <a:pt x="13902182" y="9784715"/>
                    <a:pt x="13844778" y="9842246"/>
                    <a:pt x="13773786" y="9842246"/>
                  </a:cubicBezTo>
                  <a:lnTo>
                    <a:pt x="128397" y="9842246"/>
                  </a:lnTo>
                  <a:cubicBezTo>
                    <a:pt x="57404" y="9842246"/>
                    <a:pt x="0" y="9784842"/>
                    <a:pt x="0" y="9713849"/>
                  </a:cubicBezTo>
                  <a:close/>
                </a:path>
              </a:pathLst>
            </a:custGeom>
            <a:solidFill>
              <a:srgbClr val="FFFFFF"/>
            </a:solidFill>
            <a:ln w="16192" cap="sq">
              <a:solidFill>
                <a:srgbClr val="DCE3E6"/>
              </a:solidFill>
              <a:prstDash val="solid"/>
              <a:miter/>
            </a:ln>
          </p:spPr>
        </p:sp>
      </p:grpSp>
      <p:grpSp>
        <p:nvGrpSpPr>
          <p:cNvPr name="Group 8" id="8"/>
          <p:cNvGrpSpPr/>
          <p:nvPr/>
        </p:nvGrpSpPr>
        <p:grpSpPr>
          <a:xfrm rot="0">
            <a:off x="1357884" y="2318004"/>
            <a:ext cx="9518904" cy="521208"/>
            <a:chOff x="0" y="0"/>
            <a:chExt cx="12691872" cy="694944"/>
          </a:xfrm>
        </p:grpSpPr>
        <p:sp>
          <p:nvSpPr>
            <p:cNvPr name="Freeform 9" id="9"/>
            <p:cNvSpPr/>
            <p:nvPr/>
          </p:nvSpPr>
          <p:spPr>
            <a:xfrm flipH="false" flipV="false" rot="0">
              <a:off x="0" y="0"/>
              <a:ext cx="12691872" cy="694944"/>
            </a:xfrm>
            <a:custGeom>
              <a:avLst/>
              <a:gdLst/>
              <a:ahLst/>
              <a:cxnLst/>
              <a:rect r="r" b="b" t="t" l="l"/>
              <a:pathLst>
                <a:path h="694944" w="12691872">
                  <a:moveTo>
                    <a:pt x="0" y="0"/>
                  </a:moveTo>
                  <a:lnTo>
                    <a:pt x="12691872" y="0"/>
                  </a:lnTo>
                  <a:lnTo>
                    <a:pt x="12691872" y="694944"/>
                  </a:lnTo>
                  <a:lnTo>
                    <a:pt x="0" y="694944"/>
                  </a:lnTo>
                  <a:close/>
                </a:path>
              </a:pathLst>
            </a:custGeom>
            <a:blipFill>
              <a:blip r:embed="rId3">
                <a:alphaModFix amt="0"/>
              </a:blip>
              <a:stretch>
                <a:fillRect l="0" t="-305858" r="0" b="-305858"/>
              </a:stretch>
            </a:blipFill>
          </p:spPr>
        </p:sp>
        <p:sp>
          <p:nvSpPr>
            <p:cNvPr name="TextBox 10" id="10"/>
            <p:cNvSpPr txBox="true"/>
            <p:nvPr/>
          </p:nvSpPr>
          <p:spPr>
            <a:xfrm>
              <a:off x="0" y="0"/>
              <a:ext cx="12691872" cy="694944"/>
            </a:xfrm>
            <a:prstGeom prst="rect">
              <a:avLst/>
            </a:prstGeom>
          </p:spPr>
          <p:txBody>
            <a:bodyPr anchor="ctr" rtlCol="false" tIns="0" lIns="0" bIns="0" rIns="0"/>
            <a:lstStyle/>
            <a:p>
              <a:pPr algn="l">
                <a:lnSpc>
                  <a:spcPts val="2627"/>
                </a:lnSpc>
              </a:pPr>
              <a:r>
                <a:rPr lang="en-US" sz="2190" b="true">
                  <a:solidFill>
                    <a:srgbClr val="101E2B"/>
                  </a:solidFill>
                  <a:latin typeface="Inter Bold"/>
                  <a:ea typeface="Inter Bold"/>
                  <a:cs typeface="Inter Bold"/>
                  <a:sym typeface="Inter Bold"/>
                </a:rPr>
                <a:t>Requested vs authorised (₹), payable cases</a:t>
              </a:r>
            </a:p>
          </p:txBody>
        </p:sp>
      </p:grpSp>
      <p:grpSp>
        <p:nvGrpSpPr>
          <p:cNvPr name="Group 11" id="11"/>
          <p:cNvGrpSpPr/>
          <p:nvPr/>
        </p:nvGrpSpPr>
        <p:grpSpPr>
          <a:xfrm rot="0">
            <a:off x="5915787" y="3021711"/>
            <a:ext cx="224790" cy="183642"/>
            <a:chOff x="0" y="0"/>
            <a:chExt cx="299720" cy="244856"/>
          </a:xfrm>
        </p:grpSpPr>
        <p:sp>
          <p:nvSpPr>
            <p:cNvPr name="Freeform 12" id="12"/>
            <p:cNvSpPr/>
            <p:nvPr/>
          </p:nvSpPr>
          <p:spPr>
            <a:xfrm flipH="false" flipV="false" rot="0">
              <a:off x="0" y="0"/>
              <a:ext cx="299720" cy="244856"/>
            </a:xfrm>
            <a:custGeom>
              <a:avLst/>
              <a:gdLst/>
              <a:ahLst/>
              <a:cxnLst/>
              <a:rect r="r" b="b" t="t" l="l"/>
              <a:pathLst>
                <a:path h="244856" w="299720">
                  <a:moveTo>
                    <a:pt x="0" y="0"/>
                  </a:moveTo>
                  <a:lnTo>
                    <a:pt x="299720" y="0"/>
                  </a:lnTo>
                  <a:lnTo>
                    <a:pt x="299720" y="244856"/>
                  </a:lnTo>
                  <a:lnTo>
                    <a:pt x="0" y="244856"/>
                  </a:lnTo>
                  <a:close/>
                </a:path>
              </a:pathLst>
            </a:custGeom>
            <a:solidFill>
              <a:srgbClr val="B9C5FF"/>
            </a:solidFill>
          </p:spPr>
        </p:sp>
      </p:grpSp>
      <p:grpSp>
        <p:nvGrpSpPr>
          <p:cNvPr name="Group 13" id="13"/>
          <p:cNvGrpSpPr/>
          <p:nvPr/>
        </p:nvGrpSpPr>
        <p:grpSpPr>
          <a:xfrm rot="0">
            <a:off x="6227064" y="2990088"/>
            <a:ext cx="1577340" cy="288036"/>
            <a:chOff x="0" y="0"/>
            <a:chExt cx="2103120" cy="384048"/>
          </a:xfrm>
        </p:grpSpPr>
        <p:sp>
          <p:nvSpPr>
            <p:cNvPr name="Freeform 14" id="14"/>
            <p:cNvSpPr/>
            <p:nvPr/>
          </p:nvSpPr>
          <p:spPr>
            <a:xfrm flipH="false" flipV="false" rot="0">
              <a:off x="0" y="0"/>
              <a:ext cx="2103120" cy="384048"/>
            </a:xfrm>
            <a:custGeom>
              <a:avLst/>
              <a:gdLst/>
              <a:ahLst/>
              <a:cxnLst/>
              <a:rect r="r" b="b" t="t" l="l"/>
              <a:pathLst>
                <a:path h="384048" w="2103120">
                  <a:moveTo>
                    <a:pt x="0" y="0"/>
                  </a:moveTo>
                  <a:lnTo>
                    <a:pt x="2103120" y="0"/>
                  </a:lnTo>
                  <a:lnTo>
                    <a:pt x="2103120" y="384048"/>
                  </a:lnTo>
                  <a:lnTo>
                    <a:pt x="0" y="384048"/>
                  </a:lnTo>
                  <a:close/>
                </a:path>
              </a:pathLst>
            </a:custGeom>
            <a:blipFill>
              <a:blip r:embed="rId3">
                <a:alphaModFix amt="0"/>
              </a:blip>
              <a:stretch>
                <a:fillRect l="0" t="-56703" r="0" b="-56703"/>
              </a:stretch>
            </a:blipFill>
          </p:spPr>
        </p:sp>
        <p:sp>
          <p:nvSpPr>
            <p:cNvPr name="TextBox 15" id="15"/>
            <p:cNvSpPr txBox="true"/>
            <p:nvPr/>
          </p:nvSpPr>
          <p:spPr>
            <a:xfrm>
              <a:off x="0" y="-9525"/>
              <a:ext cx="2103120" cy="393573"/>
            </a:xfrm>
            <a:prstGeom prst="rect">
              <a:avLst/>
            </a:prstGeom>
          </p:spPr>
          <p:txBody>
            <a:bodyPr anchor="ctr" rtlCol="false" tIns="0" lIns="0" bIns="0" rIns="0"/>
            <a:lstStyle/>
            <a:p>
              <a:pPr algn="l">
                <a:lnSpc>
                  <a:spcPts val="1854"/>
                </a:lnSpc>
              </a:pPr>
              <a:r>
                <a:rPr lang="en-US" sz="1545">
                  <a:solidFill>
                    <a:srgbClr val="607184"/>
                  </a:solidFill>
                  <a:latin typeface="Inter"/>
                  <a:ea typeface="Inter"/>
                  <a:cs typeface="Inter"/>
                  <a:sym typeface="Inter"/>
                </a:rPr>
                <a:t>Requested</a:t>
              </a:r>
            </a:p>
          </p:txBody>
        </p:sp>
      </p:grpSp>
      <p:grpSp>
        <p:nvGrpSpPr>
          <p:cNvPr name="Group 16" id="16"/>
          <p:cNvGrpSpPr/>
          <p:nvPr/>
        </p:nvGrpSpPr>
        <p:grpSpPr>
          <a:xfrm rot="0">
            <a:off x="8041767" y="3021711"/>
            <a:ext cx="224790" cy="183642"/>
            <a:chOff x="0" y="0"/>
            <a:chExt cx="299720" cy="244856"/>
          </a:xfrm>
        </p:grpSpPr>
        <p:sp>
          <p:nvSpPr>
            <p:cNvPr name="Freeform 17" id="17"/>
            <p:cNvSpPr/>
            <p:nvPr/>
          </p:nvSpPr>
          <p:spPr>
            <a:xfrm flipH="false" flipV="false" rot="0">
              <a:off x="0" y="0"/>
              <a:ext cx="299720" cy="244856"/>
            </a:xfrm>
            <a:custGeom>
              <a:avLst/>
              <a:gdLst/>
              <a:ahLst/>
              <a:cxnLst/>
              <a:rect r="r" b="b" t="t" l="l"/>
              <a:pathLst>
                <a:path h="244856" w="299720">
                  <a:moveTo>
                    <a:pt x="0" y="0"/>
                  </a:moveTo>
                  <a:lnTo>
                    <a:pt x="299720" y="0"/>
                  </a:lnTo>
                  <a:lnTo>
                    <a:pt x="299720" y="244856"/>
                  </a:lnTo>
                  <a:lnTo>
                    <a:pt x="0" y="244856"/>
                  </a:lnTo>
                  <a:close/>
                </a:path>
              </a:pathLst>
            </a:custGeom>
            <a:solidFill>
              <a:srgbClr val="008E86"/>
            </a:solidFill>
          </p:spPr>
        </p:sp>
      </p:grpSp>
      <p:grpSp>
        <p:nvGrpSpPr>
          <p:cNvPr name="Group 18" id="18"/>
          <p:cNvGrpSpPr/>
          <p:nvPr/>
        </p:nvGrpSpPr>
        <p:grpSpPr>
          <a:xfrm rot="0">
            <a:off x="8339328" y="2990088"/>
            <a:ext cx="1645920" cy="288036"/>
            <a:chOff x="0" y="0"/>
            <a:chExt cx="2194560" cy="384048"/>
          </a:xfrm>
        </p:grpSpPr>
        <p:sp>
          <p:nvSpPr>
            <p:cNvPr name="Freeform 19" id="19"/>
            <p:cNvSpPr/>
            <p:nvPr/>
          </p:nvSpPr>
          <p:spPr>
            <a:xfrm flipH="false" flipV="false" rot="0">
              <a:off x="0" y="0"/>
              <a:ext cx="2194560" cy="384048"/>
            </a:xfrm>
            <a:custGeom>
              <a:avLst/>
              <a:gdLst/>
              <a:ahLst/>
              <a:cxnLst/>
              <a:rect r="r" b="b" t="t" l="l"/>
              <a:pathLst>
                <a:path h="384048" w="2194560">
                  <a:moveTo>
                    <a:pt x="0" y="0"/>
                  </a:moveTo>
                  <a:lnTo>
                    <a:pt x="2194560" y="0"/>
                  </a:lnTo>
                  <a:lnTo>
                    <a:pt x="2194560" y="384048"/>
                  </a:lnTo>
                  <a:lnTo>
                    <a:pt x="0" y="384048"/>
                  </a:lnTo>
                  <a:close/>
                </a:path>
              </a:pathLst>
            </a:custGeom>
            <a:blipFill>
              <a:blip r:embed="rId3">
                <a:alphaModFix amt="0"/>
              </a:blip>
              <a:stretch>
                <a:fillRect l="0" t="-61343" r="0" b="-61343"/>
              </a:stretch>
            </a:blipFill>
          </p:spPr>
        </p:sp>
        <p:sp>
          <p:nvSpPr>
            <p:cNvPr name="TextBox 20" id="20"/>
            <p:cNvSpPr txBox="true"/>
            <p:nvPr/>
          </p:nvSpPr>
          <p:spPr>
            <a:xfrm>
              <a:off x="0" y="-9525"/>
              <a:ext cx="2194560" cy="393573"/>
            </a:xfrm>
            <a:prstGeom prst="rect">
              <a:avLst/>
            </a:prstGeom>
          </p:spPr>
          <p:txBody>
            <a:bodyPr anchor="ctr" rtlCol="false" tIns="0" lIns="0" bIns="0" rIns="0"/>
            <a:lstStyle/>
            <a:p>
              <a:pPr algn="l">
                <a:lnSpc>
                  <a:spcPts val="1854"/>
                </a:lnSpc>
              </a:pPr>
              <a:r>
                <a:rPr lang="en-US" sz="1545">
                  <a:solidFill>
                    <a:srgbClr val="607184"/>
                  </a:solidFill>
                  <a:latin typeface="Inter"/>
                  <a:ea typeface="Inter"/>
                  <a:cs typeface="Inter"/>
                  <a:sym typeface="Inter"/>
                </a:rPr>
                <a:t>Authorised</a:t>
              </a:r>
            </a:p>
          </p:txBody>
        </p:sp>
      </p:grpSp>
      <p:grpSp>
        <p:nvGrpSpPr>
          <p:cNvPr name="Group 21" id="21"/>
          <p:cNvGrpSpPr/>
          <p:nvPr/>
        </p:nvGrpSpPr>
        <p:grpSpPr>
          <a:xfrm rot="0">
            <a:off x="1316736" y="3566160"/>
            <a:ext cx="1453896" cy="534924"/>
            <a:chOff x="0" y="0"/>
            <a:chExt cx="1938528" cy="713232"/>
          </a:xfrm>
        </p:grpSpPr>
        <p:sp>
          <p:nvSpPr>
            <p:cNvPr name="Freeform 22" id="22"/>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23" id="23"/>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PA-0101</a:t>
              </a:r>
            </a:p>
          </p:txBody>
        </p:sp>
      </p:grpSp>
      <p:grpSp>
        <p:nvGrpSpPr>
          <p:cNvPr name="Group 24" id="24"/>
          <p:cNvGrpSpPr/>
          <p:nvPr/>
        </p:nvGrpSpPr>
        <p:grpSpPr>
          <a:xfrm rot="0">
            <a:off x="3007995" y="3597783"/>
            <a:ext cx="6328410" cy="142494"/>
            <a:chOff x="0" y="0"/>
            <a:chExt cx="8437880" cy="189992"/>
          </a:xfrm>
        </p:grpSpPr>
        <p:sp>
          <p:nvSpPr>
            <p:cNvPr name="Freeform 25" id="25"/>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26" id="26"/>
          <p:cNvGrpSpPr/>
          <p:nvPr/>
        </p:nvGrpSpPr>
        <p:grpSpPr>
          <a:xfrm rot="0">
            <a:off x="3007995" y="3597783"/>
            <a:ext cx="2753106" cy="204216"/>
            <a:chOff x="0" y="0"/>
            <a:chExt cx="3670808" cy="272288"/>
          </a:xfrm>
        </p:grpSpPr>
        <p:sp>
          <p:nvSpPr>
            <p:cNvPr name="Freeform 27" id="27"/>
            <p:cNvSpPr/>
            <p:nvPr/>
          </p:nvSpPr>
          <p:spPr>
            <a:xfrm flipH="false" flipV="false" rot="0">
              <a:off x="0" y="0"/>
              <a:ext cx="3670808" cy="272288"/>
            </a:xfrm>
            <a:custGeom>
              <a:avLst/>
              <a:gdLst/>
              <a:ahLst/>
              <a:cxnLst/>
              <a:rect r="r" b="b" t="t" l="l"/>
              <a:pathLst>
                <a:path h="272288" w="3670808">
                  <a:moveTo>
                    <a:pt x="0" y="0"/>
                  </a:moveTo>
                  <a:lnTo>
                    <a:pt x="3670808" y="0"/>
                  </a:lnTo>
                  <a:lnTo>
                    <a:pt x="3670808" y="272288"/>
                  </a:lnTo>
                  <a:lnTo>
                    <a:pt x="0" y="272288"/>
                  </a:lnTo>
                  <a:close/>
                </a:path>
              </a:pathLst>
            </a:custGeom>
            <a:solidFill>
              <a:srgbClr val="B1BFFF"/>
            </a:solidFill>
          </p:spPr>
        </p:sp>
      </p:grpSp>
      <p:grpSp>
        <p:nvGrpSpPr>
          <p:cNvPr name="Group 28" id="28"/>
          <p:cNvGrpSpPr/>
          <p:nvPr/>
        </p:nvGrpSpPr>
        <p:grpSpPr>
          <a:xfrm rot="0">
            <a:off x="3007995" y="3885819"/>
            <a:ext cx="2753106" cy="204216"/>
            <a:chOff x="0" y="0"/>
            <a:chExt cx="3670808" cy="272288"/>
          </a:xfrm>
        </p:grpSpPr>
        <p:sp>
          <p:nvSpPr>
            <p:cNvPr name="Freeform 29" id="29"/>
            <p:cNvSpPr/>
            <p:nvPr/>
          </p:nvSpPr>
          <p:spPr>
            <a:xfrm flipH="false" flipV="false" rot="0">
              <a:off x="0" y="0"/>
              <a:ext cx="3670808" cy="272288"/>
            </a:xfrm>
            <a:custGeom>
              <a:avLst/>
              <a:gdLst/>
              <a:ahLst/>
              <a:cxnLst/>
              <a:rect r="r" b="b" t="t" l="l"/>
              <a:pathLst>
                <a:path h="272288" w="3670808">
                  <a:moveTo>
                    <a:pt x="0" y="0"/>
                  </a:moveTo>
                  <a:lnTo>
                    <a:pt x="3670808" y="0"/>
                  </a:lnTo>
                  <a:lnTo>
                    <a:pt x="3670808" y="272288"/>
                  </a:lnTo>
                  <a:lnTo>
                    <a:pt x="0" y="272288"/>
                  </a:lnTo>
                  <a:close/>
                </a:path>
              </a:pathLst>
            </a:custGeom>
            <a:solidFill>
              <a:srgbClr val="008E86"/>
            </a:solidFill>
          </p:spPr>
        </p:sp>
      </p:grpSp>
      <p:grpSp>
        <p:nvGrpSpPr>
          <p:cNvPr name="Group 30" id="30"/>
          <p:cNvGrpSpPr/>
          <p:nvPr/>
        </p:nvGrpSpPr>
        <p:grpSpPr>
          <a:xfrm rot="0">
            <a:off x="5888736" y="3566160"/>
            <a:ext cx="1165860" cy="205740"/>
            <a:chOff x="0" y="0"/>
            <a:chExt cx="1554480" cy="274320"/>
          </a:xfrm>
        </p:grpSpPr>
        <p:sp>
          <p:nvSpPr>
            <p:cNvPr name="Freeform 31" id="31"/>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32" id="32"/>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130,000</a:t>
              </a:r>
            </a:p>
          </p:txBody>
        </p:sp>
      </p:grpSp>
      <p:grpSp>
        <p:nvGrpSpPr>
          <p:cNvPr name="Group 33" id="33"/>
          <p:cNvGrpSpPr/>
          <p:nvPr/>
        </p:nvGrpSpPr>
        <p:grpSpPr>
          <a:xfrm rot="0">
            <a:off x="5888736" y="3840480"/>
            <a:ext cx="1165860" cy="233172"/>
            <a:chOff x="0" y="0"/>
            <a:chExt cx="1554480" cy="310896"/>
          </a:xfrm>
        </p:grpSpPr>
        <p:sp>
          <p:nvSpPr>
            <p:cNvPr name="Freeform 34" id="34"/>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35" id="35"/>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130,000</a:t>
              </a:r>
            </a:p>
          </p:txBody>
        </p:sp>
      </p:grpSp>
      <p:grpSp>
        <p:nvGrpSpPr>
          <p:cNvPr name="Group 36" id="36"/>
          <p:cNvGrpSpPr/>
          <p:nvPr/>
        </p:nvGrpSpPr>
        <p:grpSpPr>
          <a:xfrm rot="0">
            <a:off x="1316736" y="4416552"/>
            <a:ext cx="1453896" cy="534924"/>
            <a:chOff x="0" y="0"/>
            <a:chExt cx="1938528" cy="713232"/>
          </a:xfrm>
        </p:grpSpPr>
        <p:sp>
          <p:nvSpPr>
            <p:cNvPr name="Freeform 37" id="37"/>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38" id="38"/>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PA-0102</a:t>
              </a:r>
            </a:p>
          </p:txBody>
        </p:sp>
      </p:grpSp>
      <p:grpSp>
        <p:nvGrpSpPr>
          <p:cNvPr name="Group 39" id="39"/>
          <p:cNvGrpSpPr/>
          <p:nvPr/>
        </p:nvGrpSpPr>
        <p:grpSpPr>
          <a:xfrm rot="0">
            <a:off x="3007995" y="4448175"/>
            <a:ext cx="6328410" cy="142494"/>
            <a:chOff x="0" y="0"/>
            <a:chExt cx="8437880" cy="189992"/>
          </a:xfrm>
        </p:grpSpPr>
        <p:sp>
          <p:nvSpPr>
            <p:cNvPr name="Freeform 40" id="40"/>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41" id="41"/>
          <p:cNvGrpSpPr/>
          <p:nvPr/>
        </p:nvGrpSpPr>
        <p:grpSpPr>
          <a:xfrm rot="0">
            <a:off x="3007995" y="4448175"/>
            <a:ext cx="1386078" cy="204216"/>
            <a:chOff x="0" y="0"/>
            <a:chExt cx="1848104" cy="272288"/>
          </a:xfrm>
        </p:grpSpPr>
        <p:sp>
          <p:nvSpPr>
            <p:cNvPr name="Freeform 42" id="42"/>
            <p:cNvSpPr/>
            <p:nvPr/>
          </p:nvSpPr>
          <p:spPr>
            <a:xfrm flipH="false" flipV="false" rot="0">
              <a:off x="0" y="0"/>
              <a:ext cx="1848104" cy="272288"/>
            </a:xfrm>
            <a:custGeom>
              <a:avLst/>
              <a:gdLst/>
              <a:ahLst/>
              <a:cxnLst/>
              <a:rect r="r" b="b" t="t" l="l"/>
              <a:pathLst>
                <a:path h="272288" w="1848104">
                  <a:moveTo>
                    <a:pt x="0" y="0"/>
                  </a:moveTo>
                  <a:lnTo>
                    <a:pt x="1848104" y="0"/>
                  </a:lnTo>
                  <a:lnTo>
                    <a:pt x="1848104" y="272288"/>
                  </a:lnTo>
                  <a:lnTo>
                    <a:pt x="0" y="272288"/>
                  </a:lnTo>
                  <a:close/>
                </a:path>
              </a:pathLst>
            </a:custGeom>
            <a:solidFill>
              <a:srgbClr val="B1BFFF"/>
            </a:solidFill>
          </p:spPr>
        </p:sp>
      </p:grpSp>
      <p:grpSp>
        <p:nvGrpSpPr>
          <p:cNvPr name="Group 43" id="43"/>
          <p:cNvGrpSpPr/>
          <p:nvPr/>
        </p:nvGrpSpPr>
        <p:grpSpPr>
          <a:xfrm rot="0">
            <a:off x="3007995" y="4736211"/>
            <a:ext cx="860298" cy="204216"/>
            <a:chOff x="0" y="0"/>
            <a:chExt cx="1147064" cy="272288"/>
          </a:xfrm>
        </p:grpSpPr>
        <p:sp>
          <p:nvSpPr>
            <p:cNvPr name="Freeform 44" id="44"/>
            <p:cNvSpPr/>
            <p:nvPr/>
          </p:nvSpPr>
          <p:spPr>
            <a:xfrm flipH="false" flipV="false" rot="0">
              <a:off x="0" y="0"/>
              <a:ext cx="1147064" cy="272288"/>
            </a:xfrm>
            <a:custGeom>
              <a:avLst/>
              <a:gdLst/>
              <a:ahLst/>
              <a:cxnLst/>
              <a:rect r="r" b="b" t="t" l="l"/>
              <a:pathLst>
                <a:path h="272288" w="1147064">
                  <a:moveTo>
                    <a:pt x="0" y="0"/>
                  </a:moveTo>
                  <a:lnTo>
                    <a:pt x="1147064" y="0"/>
                  </a:lnTo>
                  <a:lnTo>
                    <a:pt x="1147064" y="272288"/>
                  </a:lnTo>
                  <a:lnTo>
                    <a:pt x="0" y="272288"/>
                  </a:lnTo>
                  <a:close/>
                </a:path>
              </a:pathLst>
            </a:custGeom>
            <a:solidFill>
              <a:srgbClr val="008E86"/>
            </a:solidFill>
          </p:spPr>
        </p:sp>
      </p:grpSp>
      <p:grpSp>
        <p:nvGrpSpPr>
          <p:cNvPr name="Group 45" id="45"/>
          <p:cNvGrpSpPr/>
          <p:nvPr/>
        </p:nvGrpSpPr>
        <p:grpSpPr>
          <a:xfrm rot="0">
            <a:off x="4521708" y="4416552"/>
            <a:ext cx="1165860" cy="205740"/>
            <a:chOff x="0" y="0"/>
            <a:chExt cx="1554480" cy="274320"/>
          </a:xfrm>
        </p:grpSpPr>
        <p:sp>
          <p:nvSpPr>
            <p:cNvPr name="Freeform 46" id="46"/>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47" id="47"/>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65,000</a:t>
              </a:r>
            </a:p>
          </p:txBody>
        </p:sp>
      </p:grpSp>
      <p:grpSp>
        <p:nvGrpSpPr>
          <p:cNvPr name="Group 48" id="48"/>
          <p:cNvGrpSpPr/>
          <p:nvPr/>
        </p:nvGrpSpPr>
        <p:grpSpPr>
          <a:xfrm rot="0">
            <a:off x="3995928" y="4690872"/>
            <a:ext cx="1165860" cy="233172"/>
            <a:chOff x="0" y="0"/>
            <a:chExt cx="1554480" cy="310896"/>
          </a:xfrm>
        </p:grpSpPr>
        <p:sp>
          <p:nvSpPr>
            <p:cNvPr name="Freeform 49" id="49"/>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50" id="50"/>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40,000</a:t>
              </a:r>
            </a:p>
          </p:txBody>
        </p:sp>
      </p:grpSp>
      <p:grpSp>
        <p:nvGrpSpPr>
          <p:cNvPr name="Group 51" id="51"/>
          <p:cNvGrpSpPr/>
          <p:nvPr/>
        </p:nvGrpSpPr>
        <p:grpSpPr>
          <a:xfrm rot="0">
            <a:off x="1316736" y="5266944"/>
            <a:ext cx="1453896" cy="534924"/>
            <a:chOff x="0" y="0"/>
            <a:chExt cx="1938528" cy="713232"/>
          </a:xfrm>
        </p:grpSpPr>
        <p:sp>
          <p:nvSpPr>
            <p:cNvPr name="Freeform 52" id="52"/>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53" id="53"/>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PA-0103</a:t>
              </a:r>
            </a:p>
          </p:txBody>
        </p:sp>
      </p:grpSp>
      <p:grpSp>
        <p:nvGrpSpPr>
          <p:cNvPr name="Group 54" id="54"/>
          <p:cNvGrpSpPr/>
          <p:nvPr/>
        </p:nvGrpSpPr>
        <p:grpSpPr>
          <a:xfrm rot="0">
            <a:off x="3007995" y="5298567"/>
            <a:ext cx="6328410" cy="142494"/>
            <a:chOff x="0" y="0"/>
            <a:chExt cx="8437880" cy="189992"/>
          </a:xfrm>
        </p:grpSpPr>
        <p:sp>
          <p:nvSpPr>
            <p:cNvPr name="Freeform 55" id="55"/>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56" id="56"/>
          <p:cNvGrpSpPr/>
          <p:nvPr/>
        </p:nvGrpSpPr>
        <p:grpSpPr>
          <a:xfrm rot="0">
            <a:off x="3007995" y="5298567"/>
            <a:ext cx="6328410" cy="204216"/>
            <a:chOff x="0" y="0"/>
            <a:chExt cx="8437880" cy="272288"/>
          </a:xfrm>
        </p:grpSpPr>
        <p:sp>
          <p:nvSpPr>
            <p:cNvPr name="Freeform 57" id="57"/>
            <p:cNvSpPr/>
            <p:nvPr/>
          </p:nvSpPr>
          <p:spPr>
            <a:xfrm flipH="false" flipV="false" rot="0">
              <a:off x="0" y="0"/>
              <a:ext cx="8437880" cy="272288"/>
            </a:xfrm>
            <a:custGeom>
              <a:avLst/>
              <a:gdLst/>
              <a:ahLst/>
              <a:cxnLst/>
              <a:rect r="r" b="b" t="t" l="l"/>
              <a:pathLst>
                <a:path h="272288" w="8437880">
                  <a:moveTo>
                    <a:pt x="0" y="0"/>
                  </a:moveTo>
                  <a:lnTo>
                    <a:pt x="8437880" y="0"/>
                  </a:lnTo>
                  <a:lnTo>
                    <a:pt x="8437880" y="272288"/>
                  </a:lnTo>
                  <a:lnTo>
                    <a:pt x="0" y="272288"/>
                  </a:lnTo>
                  <a:close/>
                </a:path>
              </a:pathLst>
            </a:custGeom>
            <a:solidFill>
              <a:srgbClr val="B1BFFF"/>
            </a:solidFill>
          </p:spPr>
        </p:sp>
      </p:grpSp>
      <p:grpSp>
        <p:nvGrpSpPr>
          <p:cNvPr name="Group 58" id="58"/>
          <p:cNvGrpSpPr/>
          <p:nvPr/>
        </p:nvGrpSpPr>
        <p:grpSpPr>
          <a:xfrm rot="0">
            <a:off x="3007995" y="5586603"/>
            <a:ext cx="2542794" cy="204216"/>
            <a:chOff x="0" y="0"/>
            <a:chExt cx="3390392" cy="272288"/>
          </a:xfrm>
        </p:grpSpPr>
        <p:sp>
          <p:nvSpPr>
            <p:cNvPr name="Freeform 59" id="59"/>
            <p:cNvSpPr/>
            <p:nvPr/>
          </p:nvSpPr>
          <p:spPr>
            <a:xfrm flipH="false" flipV="false" rot="0">
              <a:off x="0" y="0"/>
              <a:ext cx="3390392" cy="272288"/>
            </a:xfrm>
            <a:custGeom>
              <a:avLst/>
              <a:gdLst/>
              <a:ahLst/>
              <a:cxnLst/>
              <a:rect r="r" b="b" t="t" l="l"/>
              <a:pathLst>
                <a:path h="272288" w="3390392">
                  <a:moveTo>
                    <a:pt x="0" y="0"/>
                  </a:moveTo>
                  <a:lnTo>
                    <a:pt x="3390392" y="0"/>
                  </a:lnTo>
                  <a:lnTo>
                    <a:pt x="3390392" y="272288"/>
                  </a:lnTo>
                  <a:lnTo>
                    <a:pt x="0" y="272288"/>
                  </a:lnTo>
                  <a:close/>
                </a:path>
              </a:pathLst>
            </a:custGeom>
            <a:solidFill>
              <a:srgbClr val="008E86"/>
            </a:solidFill>
          </p:spPr>
        </p:sp>
      </p:grpSp>
      <p:grpSp>
        <p:nvGrpSpPr>
          <p:cNvPr name="Group 60" id="60"/>
          <p:cNvGrpSpPr/>
          <p:nvPr/>
        </p:nvGrpSpPr>
        <p:grpSpPr>
          <a:xfrm rot="0">
            <a:off x="9464040" y="5266944"/>
            <a:ext cx="1165860" cy="205740"/>
            <a:chOff x="0" y="0"/>
            <a:chExt cx="1554480" cy="274320"/>
          </a:xfrm>
        </p:grpSpPr>
        <p:sp>
          <p:nvSpPr>
            <p:cNvPr name="Freeform 61" id="61"/>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62" id="62"/>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300,000</a:t>
              </a:r>
            </a:p>
          </p:txBody>
        </p:sp>
      </p:grpSp>
      <p:grpSp>
        <p:nvGrpSpPr>
          <p:cNvPr name="Group 63" id="63"/>
          <p:cNvGrpSpPr/>
          <p:nvPr/>
        </p:nvGrpSpPr>
        <p:grpSpPr>
          <a:xfrm rot="0">
            <a:off x="5678424" y="5541264"/>
            <a:ext cx="1165860" cy="233172"/>
            <a:chOff x="0" y="0"/>
            <a:chExt cx="1554480" cy="310896"/>
          </a:xfrm>
        </p:grpSpPr>
        <p:sp>
          <p:nvSpPr>
            <p:cNvPr name="Freeform 64" id="64"/>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65" id="65"/>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120,000</a:t>
              </a:r>
            </a:p>
          </p:txBody>
        </p:sp>
      </p:grpSp>
      <p:grpSp>
        <p:nvGrpSpPr>
          <p:cNvPr name="Group 66" id="66"/>
          <p:cNvGrpSpPr/>
          <p:nvPr/>
        </p:nvGrpSpPr>
        <p:grpSpPr>
          <a:xfrm rot="0">
            <a:off x="1316736" y="6117336"/>
            <a:ext cx="1453896" cy="534924"/>
            <a:chOff x="0" y="0"/>
            <a:chExt cx="1938528" cy="713232"/>
          </a:xfrm>
        </p:grpSpPr>
        <p:sp>
          <p:nvSpPr>
            <p:cNvPr name="Freeform 67" id="67"/>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68" id="68"/>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PA-0108</a:t>
              </a:r>
            </a:p>
          </p:txBody>
        </p:sp>
      </p:grpSp>
      <p:grpSp>
        <p:nvGrpSpPr>
          <p:cNvPr name="Group 69" id="69"/>
          <p:cNvGrpSpPr/>
          <p:nvPr/>
        </p:nvGrpSpPr>
        <p:grpSpPr>
          <a:xfrm rot="0">
            <a:off x="3007995" y="6148959"/>
            <a:ext cx="6328410" cy="142494"/>
            <a:chOff x="0" y="0"/>
            <a:chExt cx="8437880" cy="189992"/>
          </a:xfrm>
        </p:grpSpPr>
        <p:sp>
          <p:nvSpPr>
            <p:cNvPr name="Freeform 70" id="70"/>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71" id="71"/>
          <p:cNvGrpSpPr/>
          <p:nvPr/>
        </p:nvGrpSpPr>
        <p:grpSpPr>
          <a:xfrm rot="0">
            <a:off x="3007995" y="6148959"/>
            <a:ext cx="5487162" cy="204216"/>
            <a:chOff x="0" y="0"/>
            <a:chExt cx="7316216" cy="272288"/>
          </a:xfrm>
        </p:grpSpPr>
        <p:sp>
          <p:nvSpPr>
            <p:cNvPr name="Freeform 72" id="72"/>
            <p:cNvSpPr/>
            <p:nvPr/>
          </p:nvSpPr>
          <p:spPr>
            <a:xfrm flipH="false" flipV="false" rot="0">
              <a:off x="0" y="0"/>
              <a:ext cx="7316216" cy="272288"/>
            </a:xfrm>
            <a:custGeom>
              <a:avLst/>
              <a:gdLst/>
              <a:ahLst/>
              <a:cxnLst/>
              <a:rect r="r" b="b" t="t" l="l"/>
              <a:pathLst>
                <a:path h="272288" w="7316216">
                  <a:moveTo>
                    <a:pt x="0" y="0"/>
                  </a:moveTo>
                  <a:lnTo>
                    <a:pt x="7316216" y="0"/>
                  </a:lnTo>
                  <a:lnTo>
                    <a:pt x="7316216" y="272288"/>
                  </a:lnTo>
                  <a:lnTo>
                    <a:pt x="0" y="272288"/>
                  </a:lnTo>
                  <a:close/>
                </a:path>
              </a:pathLst>
            </a:custGeom>
            <a:solidFill>
              <a:srgbClr val="B1BFFF"/>
            </a:solidFill>
          </p:spPr>
        </p:sp>
      </p:grpSp>
      <p:grpSp>
        <p:nvGrpSpPr>
          <p:cNvPr name="Group 73" id="73"/>
          <p:cNvGrpSpPr/>
          <p:nvPr/>
        </p:nvGrpSpPr>
        <p:grpSpPr>
          <a:xfrm rot="0">
            <a:off x="3007995" y="6436995"/>
            <a:ext cx="3173730" cy="204216"/>
            <a:chOff x="0" y="0"/>
            <a:chExt cx="4231640" cy="272288"/>
          </a:xfrm>
        </p:grpSpPr>
        <p:sp>
          <p:nvSpPr>
            <p:cNvPr name="Freeform 74" id="74"/>
            <p:cNvSpPr/>
            <p:nvPr/>
          </p:nvSpPr>
          <p:spPr>
            <a:xfrm flipH="false" flipV="false" rot="0">
              <a:off x="0" y="0"/>
              <a:ext cx="4231640" cy="272288"/>
            </a:xfrm>
            <a:custGeom>
              <a:avLst/>
              <a:gdLst/>
              <a:ahLst/>
              <a:cxnLst/>
              <a:rect r="r" b="b" t="t" l="l"/>
              <a:pathLst>
                <a:path h="272288" w="4231640">
                  <a:moveTo>
                    <a:pt x="0" y="0"/>
                  </a:moveTo>
                  <a:lnTo>
                    <a:pt x="4231640" y="0"/>
                  </a:lnTo>
                  <a:lnTo>
                    <a:pt x="4231640" y="272288"/>
                  </a:lnTo>
                  <a:lnTo>
                    <a:pt x="0" y="272288"/>
                  </a:lnTo>
                  <a:close/>
                </a:path>
              </a:pathLst>
            </a:custGeom>
            <a:solidFill>
              <a:srgbClr val="008E86"/>
            </a:solidFill>
          </p:spPr>
        </p:sp>
      </p:grpSp>
      <p:grpSp>
        <p:nvGrpSpPr>
          <p:cNvPr name="Group 75" id="75"/>
          <p:cNvGrpSpPr/>
          <p:nvPr/>
        </p:nvGrpSpPr>
        <p:grpSpPr>
          <a:xfrm rot="0">
            <a:off x="8622792" y="6117336"/>
            <a:ext cx="1165860" cy="205740"/>
            <a:chOff x="0" y="0"/>
            <a:chExt cx="1554480" cy="274320"/>
          </a:xfrm>
        </p:grpSpPr>
        <p:sp>
          <p:nvSpPr>
            <p:cNvPr name="Freeform 76" id="76"/>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77" id="77"/>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260,000</a:t>
              </a:r>
            </a:p>
          </p:txBody>
        </p:sp>
      </p:grpSp>
      <p:grpSp>
        <p:nvGrpSpPr>
          <p:cNvPr name="Group 78" id="78"/>
          <p:cNvGrpSpPr/>
          <p:nvPr/>
        </p:nvGrpSpPr>
        <p:grpSpPr>
          <a:xfrm rot="0">
            <a:off x="6309360" y="6391656"/>
            <a:ext cx="1165860" cy="233172"/>
            <a:chOff x="0" y="0"/>
            <a:chExt cx="1554480" cy="310896"/>
          </a:xfrm>
        </p:grpSpPr>
        <p:sp>
          <p:nvSpPr>
            <p:cNvPr name="Freeform 79" id="79"/>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80" id="80"/>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150,000</a:t>
              </a:r>
            </a:p>
          </p:txBody>
        </p:sp>
      </p:grpSp>
      <p:grpSp>
        <p:nvGrpSpPr>
          <p:cNvPr name="Group 81" id="81"/>
          <p:cNvGrpSpPr/>
          <p:nvPr/>
        </p:nvGrpSpPr>
        <p:grpSpPr>
          <a:xfrm rot="0">
            <a:off x="1316736" y="6967728"/>
            <a:ext cx="1453896" cy="534924"/>
            <a:chOff x="0" y="0"/>
            <a:chExt cx="1938528" cy="713232"/>
          </a:xfrm>
        </p:grpSpPr>
        <p:sp>
          <p:nvSpPr>
            <p:cNvPr name="Freeform 82" id="82"/>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83" id="83"/>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PA-0110</a:t>
              </a:r>
            </a:p>
          </p:txBody>
        </p:sp>
      </p:grpSp>
      <p:grpSp>
        <p:nvGrpSpPr>
          <p:cNvPr name="Group 84" id="84"/>
          <p:cNvGrpSpPr/>
          <p:nvPr/>
        </p:nvGrpSpPr>
        <p:grpSpPr>
          <a:xfrm rot="0">
            <a:off x="3007995" y="6999351"/>
            <a:ext cx="6328410" cy="142494"/>
            <a:chOff x="0" y="0"/>
            <a:chExt cx="8437880" cy="189992"/>
          </a:xfrm>
        </p:grpSpPr>
        <p:sp>
          <p:nvSpPr>
            <p:cNvPr name="Freeform 85" id="85"/>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86" id="86"/>
          <p:cNvGrpSpPr/>
          <p:nvPr/>
        </p:nvGrpSpPr>
        <p:grpSpPr>
          <a:xfrm rot="0">
            <a:off x="3007995" y="6999351"/>
            <a:ext cx="3699510" cy="204216"/>
            <a:chOff x="0" y="0"/>
            <a:chExt cx="4932680" cy="272288"/>
          </a:xfrm>
        </p:grpSpPr>
        <p:sp>
          <p:nvSpPr>
            <p:cNvPr name="Freeform 87" id="87"/>
            <p:cNvSpPr/>
            <p:nvPr/>
          </p:nvSpPr>
          <p:spPr>
            <a:xfrm flipH="false" flipV="false" rot="0">
              <a:off x="0" y="0"/>
              <a:ext cx="4932680" cy="272288"/>
            </a:xfrm>
            <a:custGeom>
              <a:avLst/>
              <a:gdLst/>
              <a:ahLst/>
              <a:cxnLst/>
              <a:rect r="r" b="b" t="t" l="l"/>
              <a:pathLst>
                <a:path h="272288" w="4932680">
                  <a:moveTo>
                    <a:pt x="0" y="0"/>
                  </a:moveTo>
                  <a:lnTo>
                    <a:pt x="4932680" y="0"/>
                  </a:lnTo>
                  <a:lnTo>
                    <a:pt x="4932680" y="272288"/>
                  </a:lnTo>
                  <a:lnTo>
                    <a:pt x="0" y="272288"/>
                  </a:lnTo>
                  <a:close/>
                </a:path>
              </a:pathLst>
            </a:custGeom>
            <a:solidFill>
              <a:srgbClr val="B1BFFF"/>
            </a:solidFill>
          </p:spPr>
        </p:sp>
      </p:grpSp>
      <p:grpSp>
        <p:nvGrpSpPr>
          <p:cNvPr name="Group 88" id="88"/>
          <p:cNvGrpSpPr/>
          <p:nvPr/>
        </p:nvGrpSpPr>
        <p:grpSpPr>
          <a:xfrm rot="0">
            <a:off x="3007995" y="7287387"/>
            <a:ext cx="3699510" cy="204216"/>
            <a:chOff x="0" y="0"/>
            <a:chExt cx="4932680" cy="272288"/>
          </a:xfrm>
        </p:grpSpPr>
        <p:sp>
          <p:nvSpPr>
            <p:cNvPr name="Freeform 89" id="89"/>
            <p:cNvSpPr/>
            <p:nvPr/>
          </p:nvSpPr>
          <p:spPr>
            <a:xfrm flipH="false" flipV="false" rot="0">
              <a:off x="0" y="0"/>
              <a:ext cx="4932680" cy="272288"/>
            </a:xfrm>
            <a:custGeom>
              <a:avLst/>
              <a:gdLst/>
              <a:ahLst/>
              <a:cxnLst/>
              <a:rect r="r" b="b" t="t" l="l"/>
              <a:pathLst>
                <a:path h="272288" w="4932680">
                  <a:moveTo>
                    <a:pt x="0" y="0"/>
                  </a:moveTo>
                  <a:lnTo>
                    <a:pt x="4932680" y="0"/>
                  </a:lnTo>
                  <a:lnTo>
                    <a:pt x="4932680" y="272288"/>
                  </a:lnTo>
                  <a:lnTo>
                    <a:pt x="0" y="272288"/>
                  </a:lnTo>
                  <a:close/>
                </a:path>
              </a:pathLst>
            </a:custGeom>
            <a:solidFill>
              <a:srgbClr val="008E86"/>
            </a:solidFill>
          </p:spPr>
        </p:sp>
      </p:grpSp>
      <p:grpSp>
        <p:nvGrpSpPr>
          <p:cNvPr name="Group 90" id="90"/>
          <p:cNvGrpSpPr/>
          <p:nvPr/>
        </p:nvGrpSpPr>
        <p:grpSpPr>
          <a:xfrm rot="0">
            <a:off x="6835140" y="6967728"/>
            <a:ext cx="1165860" cy="205740"/>
            <a:chOff x="0" y="0"/>
            <a:chExt cx="1554480" cy="274320"/>
          </a:xfrm>
        </p:grpSpPr>
        <p:sp>
          <p:nvSpPr>
            <p:cNvPr name="Freeform 91" id="91"/>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92" id="92"/>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175,000</a:t>
              </a:r>
            </a:p>
          </p:txBody>
        </p:sp>
      </p:grpSp>
      <p:grpSp>
        <p:nvGrpSpPr>
          <p:cNvPr name="Group 93" id="93"/>
          <p:cNvGrpSpPr/>
          <p:nvPr/>
        </p:nvGrpSpPr>
        <p:grpSpPr>
          <a:xfrm rot="0">
            <a:off x="6835140" y="7242048"/>
            <a:ext cx="1165860" cy="233172"/>
            <a:chOff x="0" y="0"/>
            <a:chExt cx="1554480" cy="310896"/>
          </a:xfrm>
        </p:grpSpPr>
        <p:sp>
          <p:nvSpPr>
            <p:cNvPr name="Freeform 94" id="94"/>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95" id="95"/>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175,000</a:t>
              </a:r>
            </a:p>
          </p:txBody>
        </p:sp>
      </p:grpSp>
      <p:grpSp>
        <p:nvGrpSpPr>
          <p:cNvPr name="Group 96" id="96"/>
          <p:cNvGrpSpPr/>
          <p:nvPr/>
        </p:nvGrpSpPr>
        <p:grpSpPr>
          <a:xfrm rot="0">
            <a:off x="1316736" y="7818120"/>
            <a:ext cx="1453896" cy="534924"/>
            <a:chOff x="0" y="0"/>
            <a:chExt cx="1938528" cy="713232"/>
          </a:xfrm>
        </p:grpSpPr>
        <p:sp>
          <p:nvSpPr>
            <p:cNvPr name="Freeform 97" id="97"/>
            <p:cNvSpPr/>
            <p:nvPr/>
          </p:nvSpPr>
          <p:spPr>
            <a:xfrm flipH="false" flipV="false" rot="0">
              <a:off x="0" y="0"/>
              <a:ext cx="1938528" cy="713232"/>
            </a:xfrm>
            <a:custGeom>
              <a:avLst/>
              <a:gdLst/>
              <a:ahLst/>
              <a:cxnLst/>
              <a:rect r="r" b="b" t="t" l="l"/>
              <a:pathLst>
                <a:path h="713232" w="1938528">
                  <a:moveTo>
                    <a:pt x="0" y="0"/>
                  </a:moveTo>
                  <a:lnTo>
                    <a:pt x="1938528" y="0"/>
                  </a:lnTo>
                  <a:lnTo>
                    <a:pt x="1938528" y="713232"/>
                  </a:lnTo>
                  <a:lnTo>
                    <a:pt x="0" y="713232"/>
                  </a:lnTo>
                  <a:close/>
                </a:path>
              </a:pathLst>
            </a:custGeom>
            <a:blipFill>
              <a:blip r:embed="rId3">
                <a:alphaModFix amt="0"/>
              </a:blip>
              <a:stretch>
                <a:fillRect l="0" t="-2959" r="0" b="-2959"/>
              </a:stretch>
            </a:blipFill>
          </p:spPr>
        </p:sp>
        <p:sp>
          <p:nvSpPr>
            <p:cNvPr name="TextBox 98" id="98"/>
            <p:cNvSpPr txBox="true"/>
            <p:nvPr/>
          </p:nvSpPr>
          <p:spPr>
            <a:xfrm>
              <a:off x="0" y="0"/>
              <a:ext cx="1938528" cy="713232"/>
            </a:xfrm>
            <a:prstGeom prst="rect">
              <a:avLst/>
            </a:prstGeom>
          </p:spPr>
          <p:txBody>
            <a:bodyPr anchor="ctr" rtlCol="false" tIns="0" lIns="0" bIns="0" rIns="0"/>
            <a:lstStyle/>
            <a:p>
              <a:pPr algn="l">
                <a:lnSpc>
                  <a:spcPts val="2124"/>
                </a:lnSpc>
              </a:pPr>
              <a:r>
                <a:rPr lang="en-US" sz="1770" b="true">
                  <a:solidFill>
                    <a:srgbClr val="101E2B"/>
                  </a:solidFill>
                  <a:latin typeface="Inter Bold"/>
                  <a:ea typeface="Inter Bold"/>
                  <a:cs typeface="Inter Bold"/>
                  <a:sym typeface="Inter Bold"/>
                </a:rPr>
                <a:t>PA-0111</a:t>
              </a:r>
            </a:p>
          </p:txBody>
        </p:sp>
      </p:grpSp>
      <p:grpSp>
        <p:nvGrpSpPr>
          <p:cNvPr name="Group 99" id="99"/>
          <p:cNvGrpSpPr/>
          <p:nvPr/>
        </p:nvGrpSpPr>
        <p:grpSpPr>
          <a:xfrm rot="0">
            <a:off x="3007995" y="7849743"/>
            <a:ext cx="6328410" cy="142494"/>
            <a:chOff x="0" y="0"/>
            <a:chExt cx="8437880" cy="189992"/>
          </a:xfrm>
        </p:grpSpPr>
        <p:sp>
          <p:nvSpPr>
            <p:cNvPr name="Freeform 100" id="100"/>
            <p:cNvSpPr/>
            <p:nvPr/>
          </p:nvSpPr>
          <p:spPr>
            <a:xfrm flipH="false" flipV="false" rot="0">
              <a:off x="0" y="0"/>
              <a:ext cx="8437880" cy="189992"/>
            </a:xfrm>
            <a:custGeom>
              <a:avLst/>
              <a:gdLst/>
              <a:ahLst/>
              <a:cxnLst/>
              <a:rect r="r" b="b" t="t" l="l"/>
              <a:pathLst>
                <a:path h="189992" w="8437880">
                  <a:moveTo>
                    <a:pt x="0" y="0"/>
                  </a:moveTo>
                  <a:lnTo>
                    <a:pt x="8437880" y="0"/>
                  </a:lnTo>
                  <a:lnTo>
                    <a:pt x="8437880" y="189992"/>
                  </a:lnTo>
                  <a:lnTo>
                    <a:pt x="0" y="189992"/>
                  </a:lnTo>
                  <a:close/>
                </a:path>
              </a:pathLst>
            </a:custGeom>
            <a:solidFill>
              <a:srgbClr val="EBEFF1"/>
            </a:solidFill>
          </p:spPr>
        </p:sp>
      </p:grpSp>
      <p:grpSp>
        <p:nvGrpSpPr>
          <p:cNvPr name="Group 101" id="101"/>
          <p:cNvGrpSpPr/>
          <p:nvPr/>
        </p:nvGrpSpPr>
        <p:grpSpPr>
          <a:xfrm rot="0">
            <a:off x="3007995" y="7849743"/>
            <a:ext cx="2080108" cy="204216"/>
            <a:chOff x="0" y="0"/>
            <a:chExt cx="2773477" cy="272288"/>
          </a:xfrm>
        </p:grpSpPr>
        <p:sp>
          <p:nvSpPr>
            <p:cNvPr name="Freeform 102" id="102"/>
            <p:cNvSpPr/>
            <p:nvPr/>
          </p:nvSpPr>
          <p:spPr>
            <a:xfrm flipH="false" flipV="false" rot="0">
              <a:off x="0" y="0"/>
              <a:ext cx="2773426" cy="272288"/>
            </a:xfrm>
            <a:custGeom>
              <a:avLst/>
              <a:gdLst/>
              <a:ahLst/>
              <a:cxnLst/>
              <a:rect r="r" b="b" t="t" l="l"/>
              <a:pathLst>
                <a:path h="272288" w="2773426">
                  <a:moveTo>
                    <a:pt x="0" y="0"/>
                  </a:moveTo>
                  <a:lnTo>
                    <a:pt x="2773426" y="0"/>
                  </a:lnTo>
                  <a:lnTo>
                    <a:pt x="2773426" y="272288"/>
                  </a:lnTo>
                  <a:lnTo>
                    <a:pt x="0" y="272288"/>
                  </a:lnTo>
                  <a:close/>
                </a:path>
              </a:pathLst>
            </a:custGeom>
            <a:solidFill>
              <a:srgbClr val="B1BFFF"/>
            </a:solidFill>
          </p:spPr>
        </p:sp>
      </p:grpSp>
      <p:grpSp>
        <p:nvGrpSpPr>
          <p:cNvPr name="Group 103" id="103"/>
          <p:cNvGrpSpPr/>
          <p:nvPr/>
        </p:nvGrpSpPr>
        <p:grpSpPr>
          <a:xfrm rot="0">
            <a:off x="3007995" y="8137779"/>
            <a:ext cx="2080108" cy="204216"/>
            <a:chOff x="0" y="0"/>
            <a:chExt cx="2773477" cy="272288"/>
          </a:xfrm>
        </p:grpSpPr>
        <p:sp>
          <p:nvSpPr>
            <p:cNvPr name="Freeform 104" id="104"/>
            <p:cNvSpPr/>
            <p:nvPr/>
          </p:nvSpPr>
          <p:spPr>
            <a:xfrm flipH="false" flipV="false" rot="0">
              <a:off x="0" y="0"/>
              <a:ext cx="2773426" cy="272288"/>
            </a:xfrm>
            <a:custGeom>
              <a:avLst/>
              <a:gdLst/>
              <a:ahLst/>
              <a:cxnLst/>
              <a:rect r="r" b="b" t="t" l="l"/>
              <a:pathLst>
                <a:path h="272288" w="2773426">
                  <a:moveTo>
                    <a:pt x="0" y="0"/>
                  </a:moveTo>
                  <a:lnTo>
                    <a:pt x="2773426" y="0"/>
                  </a:lnTo>
                  <a:lnTo>
                    <a:pt x="2773426" y="272288"/>
                  </a:lnTo>
                  <a:lnTo>
                    <a:pt x="0" y="272288"/>
                  </a:lnTo>
                  <a:close/>
                </a:path>
              </a:pathLst>
            </a:custGeom>
            <a:solidFill>
              <a:srgbClr val="008E86"/>
            </a:solidFill>
          </p:spPr>
        </p:sp>
      </p:grpSp>
      <p:grpSp>
        <p:nvGrpSpPr>
          <p:cNvPr name="Group 105" id="105"/>
          <p:cNvGrpSpPr/>
          <p:nvPr/>
        </p:nvGrpSpPr>
        <p:grpSpPr>
          <a:xfrm rot="0">
            <a:off x="5215738" y="7818120"/>
            <a:ext cx="1165860" cy="205740"/>
            <a:chOff x="0" y="0"/>
            <a:chExt cx="1554480" cy="274320"/>
          </a:xfrm>
        </p:grpSpPr>
        <p:sp>
          <p:nvSpPr>
            <p:cNvPr name="Freeform 106" id="106"/>
            <p:cNvSpPr/>
            <p:nvPr/>
          </p:nvSpPr>
          <p:spPr>
            <a:xfrm flipH="false" flipV="false" rot="0">
              <a:off x="0" y="0"/>
              <a:ext cx="1554480" cy="274320"/>
            </a:xfrm>
            <a:custGeom>
              <a:avLst/>
              <a:gdLst/>
              <a:ahLst/>
              <a:cxnLst/>
              <a:rect r="r" b="b" t="t" l="l"/>
              <a:pathLst>
                <a:path h="274320" w="1554480">
                  <a:moveTo>
                    <a:pt x="0" y="0"/>
                  </a:moveTo>
                  <a:lnTo>
                    <a:pt x="1554480" y="0"/>
                  </a:lnTo>
                  <a:lnTo>
                    <a:pt x="1554480" y="274320"/>
                  </a:lnTo>
                  <a:lnTo>
                    <a:pt x="0" y="274320"/>
                  </a:lnTo>
                  <a:close/>
                </a:path>
              </a:pathLst>
            </a:custGeom>
            <a:blipFill>
              <a:blip r:embed="rId3">
                <a:alphaModFix amt="0"/>
              </a:blip>
              <a:stretch>
                <a:fillRect l="0" t="-60415" r="0" b="-60415"/>
              </a:stretch>
            </a:blipFill>
          </p:spPr>
        </p:sp>
        <p:sp>
          <p:nvSpPr>
            <p:cNvPr name="TextBox 107" id="107"/>
            <p:cNvSpPr txBox="true"/>
            <p:nvPr/>
          </p:nvSpPr>
          <p:spPr>
            <a:xfrm>
              <a:off x="0" y="0"/>
              <a:ext cx="1554480" cy="274320"/>
            </a:xfrm>
            <a:prstGeom prst="rect">
              <a:avLst/>
            </a:prstGeom>
          </p:spPr>
          <p:txBody>
            <a:bodyPr anchor="ctr" rtlCol="false" tIns="0" lIns="0" bIns="0" rIns="0"/>
            <a:lstStyle/>
            <a:p>
              <a:pPr algn="l">
                <a:lnSpc>
                  <a:spcPts val="1674"/>
                </a:lnSpc>
              </a:pPr>
              <a:r>
                <a:rPr lang="en-US" sz="1395">
                  <a:solidFill>
                    <a:srgbClr val="607184"/>
                  </a:solidFill>
                  <a:latin typeface="Inter"/>
                  <a:ea typeface="Inter"/>
                  <a:cs typeface="Inter"/>
                  <a:sym typeface="Inter"/>
                </a:rPr>
                <a:t>98,000</a:t>
              </a:r>
            </a:p>
          </p:txBody>
        </p:sp>
      </p:grpSp>
      <p:grpSp>
        <p:nvGrpSpPr>
          <p:cNvPr name="Group 108" id="108"/>
          <p:cNvGrpSpPr/>
          <p:nvPr/>
        </p:nvGrpSpPr>
        <p:grpSpPr>
          <a:xfrm rot="0">
            <a:off x="5215738" y="8092440"/>
            <a:ext cx="1165860" cy="233172"/>
            <a:chOff x="0" y="0"/>
            <a:chExt cx="1554480" cy="310896"/>
          </a:xfrm>
        </p:grpSpPr>
        <p:sp>
          <p:nvSpPr>
            <p:cNvPr name="Freeform 109" id="109"/>
            <p:cNvSpPr/>
            <p:nvPr/>
          </p:nvSpPr>
          <p:spPr>
            <a:xfrm flipH="false" flipV="false" rot="0">
              <a:off x="0" y="0"/>
              <a:ext cx="1554480" cy="310896"/>
            </a:xfrm>
            <a:custGeom>
              <a:avLst/>
              <a:gdLst/>
              <a:ahLst/>
              <a:cxnLst/>
              <a:rect r="r" b="b" t="t" l="l"/>
              <a:pathLst>
                <a:path h="310896" w="1554480">
                  <a:moveTo>
                    <a:pt x="0" y="0"/>
                  </a:moveTo>
                  <a:lnTo>
                    <a:pt x="1554480" y="0"/>
                  </a:lnTo>
                  <a:lnTo>
                    <a:pt x="1554480" y="310896"/>
                  </a:lnTo>
                  <a:lnTo>
                    <a:pt x="0" y="310896"/>
                  </a:lnTo>
                  <a:close/>
                </a:path>
              </a:pathLst>
            </a:custGeom>
            <a:blipFill>
              <a:blip r:embed="rId3">
                <a:alphaModFix amt="0"/>
              </a:blip>
              <a:stretch>
                <a:fillRect l="0" t="-47425" r="0" b="-47425"/>
              </a:stretch>
            </a:blipFill>
          </p:spPr>
        </p:sp>
        <p:sp>
          <p:nvSpPr>
            <p:cNvPr name="TextBox 110" id="110"/>
            <p:cNvSpPr txBox="true"/>
            <p:nvPr/>
          </p:nvSpPr>
          <p:spPr>
            <a:xfrm>
              <a:off x="0" y="0"/>
              <a:ext cx="1554480" cy="310896"/>
            </a:xfrm>
            <a:prstGeom prst="rect">
              <a:avLst/>
            </a:prstGeom>
          </p:spPr>
          <p:txBody>
            <a:bodyPr anchor="ctr" rtlCol="false" tIns="0" lIns="0" bIns="0" rIns="0"/>
            <a:lstStyle/>
            <a:p>
              <a:pPr algn="l">
                <a:lnSpc>
                  <a:spcPts val="1692"/>
                </a:lnSpc>
              </a:pPr>
              <a:r>
                <a:rPr lang="en-US" sz="1410" b="true">
                  <a:solidFill>
                    <a:srgbClr val="008E86"/>
                  </a:solidFill>
                  <a:latin typeface="Inter Bold"/>
                  <a:ea typeface="Inter Bold"/>
                  <a:cs typeface="Inter Bold"/>
                  <a:sym typeface="Inter Bold"/>
                </a:rPr>
                <a:t>98,000</a:t>
              </a:r>
            </a:p>
          </p:txBody>
        </p:sp>
      </p:grpSp>
      <p:grpSp>
        <p:nvGrpSpPr>
          <p:cNvPr name="Group 111" id="111"/>
          <p:cNvGrpSpPr/>
          <p:nvPr/>
        </p:nvGrpSpPr>
        <p:grpSpPr>
          <a:xfrm rot="0">
            <a:off x="11815096" y="2049304"/>
            <a:ext cx="5502592" cy="2251900"/>
            <a:chOff x="0" y="0"/>
            <a:chExt cx="7336790" cy="3002534"/>
          </a:xfrm>
        </p:grpSpPr>
        <p:sp>
          <p:nvSpPr>
            <p:cNvPr name="Freeform 112" id="112"/>
            <p:cNvSpPr/>
            <p:nvPr/>
          </p:nvSpPr>
          <p:spPr>
            <a:xfrm flipH="false" flipV="false" rot="0">
              <a:off x="0" y="0"/>
              <a:ext cx="7336789" cy="3002534"/>
            </a:xfrm>
            <a:custGeom>
              <a:avLst/>
              <a:gdLst/>
              <a:ahLst/>
              <a:cxnLst/>
              <a:rect r="r" b="b" t="t" l="l"/>
              <a:pathLst>
                <a:path h="3002534" w="7336789">
                  <a:moveTo>
                    <a:pt x="0" y="147320"/>
                  </a:moveTo>
                  <a:cubicBezTo>
                    <a:pt x="0" y="66040"/>
                    <a:pt x="66040" y="0"/>
                    <a:pt x="147320" y="0"/>
                  </a:cubicBezTo>
                  <a:lnTo>
                    <a:pt x="7189470" y="0"/>
                  </a:lnTo>
                  <a:cubicBezTo>
                    <a:pt x="7270876" y="0"/>
                    <a:pt x="7336789" y="66040"/>
                    <a:pt x="7336789" y="147320"/>
                  </a:cubicBezTo>
                  <a:lnTo>
                    <a:pt x="7336789" y="2855214"/>
                  </a:lnTo>
                  <a:cubicBezTo>
                    <a:pt x="7336789" y="2936621"/>
                    <a:pt x="7270750" y="3002534"/>
                    <a:pt x="7189470" y="3002534"/>
                  </a:cubicBezTo>
                  <a:lnTo>
                    <a:pt x="147320" y="3002534"/>
                  </a:lnTo>
                  <a:cubicBezTo>
                    <a:pt x="65913" y="3002534"/>
                    <a:pt x="0" y="2936494"/>
                    <a:pt x="0" y="2855214"/>
                  </a:cubicBezTo>
                  <a:close/>
                </a:path>
              </a:pathLst>
            </a:custGeom>
            <a:solidFill>
              <a:srgbClr val="0D1826"/>
            </a:solidFill>
            <a:ln w="16192" cap="sq">
              <a:solidFill>
                <a:srgbClr val="0D1826"/>
              </a:solidFill>
              <a:prstDash val="solid"/>
              <a:miter/>
            </a:ln>
          </p:spPr>
        </p:sp>
      </p:grpSp>
      <p:grpSp>
        <p:nvGrpSpPr>
          <p:cNvPr name="Group 113" id="113"/>
          <p:cNvGrpSpPr/>
          <p:nvPr/>
        </p:nvGrpSpPr>
        <p:grpSpPr>
          <a:xfrm rot="0">
            <a:off x="12220956" y="2276856"/>
            <a:ext cx="4855464" cy="1001268"/>
            <a:chOff x="0" y="0"/>
            <a:chExt cx="6473952" cy="1335024"/>
          </a:xfrm>
        </p:grpSpPr>
        <p:sp>
          <p:nvSpPr>
            <p:cNvPr name="Freeform 114" id="114"/>
            <p:cNvSpPr/>
            <p:nvPr/>
          </p:nvSpPr>
          <p:spPr>
            <a:xfrm flipH="false" flipV="false" rot="0">
              <a:off x="0" y="0"/>
              <a:ext cx="6473952" cy="1335024"/>
            </a:xfrm>
            <a:custGeom>
              <a:avLst/>
              <a:gdLst/>
              <a:ahLst/>
              <a:cxnLst/>
              <a:rect r="r" b="b" t="t" l="l"/>
              <a:pathLst>
                <a:path h="1335024" w="6473952">
                  <a:moveTo>
                    <a:pt x="0" y="0"/>
                  </a:moveTo>
                  <a:lnTo>
                    <a:pt x="6473952" y="0"/>
                  </a:lnTo>
                  <a:lnTo>
                    <a:pt x="6473952" y="1335024"/>
                  </a:lnTo>
                  <a:lnTo>
                    <a:pt x="0" y="1335024"/>
                  </a:lnTo>
                  <a:close/>
                </a:path>
              </a:pathLst>
            </a:custGeom>
            <a:blipFill>
              <a:blip r:embed="rId3">
                <a:alphaModFix amt="0"/>
              </a:blip>
              <a:stretch>
                <a:fillRect l="0" t="-44489" r="0" b="-44489"/>
              </a:stretch>
            </a:blipFill>
          </p:spPr>
        </p:sp>
        <p:sp>
          <p:nvSpPr>
            <p:cNvPr name="TextBox 115" id="115"/>
            <p:cNvSpPr txBox="true"/>
            <p:nvPr/>
          </p:nvSpPr>
          <p:spPr>
            <a:xfrm>
              <a:off x="0" y="-9525"/>
              <a:ext cx="6473952" cy="1344549"/>
            </a:xfrm>
            <a:prstGeom prst="rect">
              <a:avLst/>
            </a:prstGeom>
          </p:spPr>
          <p:txBody>
            <a:bodyPr anchor="ctr" rtlCol="false" tIns="0" lIns="0" bIns="0" rIns="0"/>
            <a:lstStyle/>
            <a:p>
              <a:pPr algn="l">
                <a:lnSpc>
                  <a:spcPts val="6300"/>
                </a:lnSpc>
              </a:pPr>
              <a:r>
                <a:rPr lang="en-US" sz="5250" b="true">
                  <a:solidFill>
                    <a:srgbClr val="BAF389"/>
                  </a:solidFill>
                  <a:latin typeface="Inter Bold"/>
                  <a:ea typeface="Inter Bold"/>
                  <a:cs typeface="Inter Bold"/>
                  <a:sym typeface="Inter Bold"/>
                </a:rPr>
                <a:t>₹3.15 lakh</a:t>
              </a:r>
            </a:p>
          </p:txBody>
        </p:sp>
      </p:grpSp>
      <p:sp>
        <p:nvSpPr>
          <p:cNvPr name="TextBox 116" id="116"/>
          <p:cNvSpPr txBox="true"/>
          <p:nvPr/>
        </p:nvSpPr>
        <p:spPr>
          <a:xfrm rot="0">
            <a:off x="12248388" y="3374136"/>
            <a:ext cx="4608576" cy="685800"/>
          </a:xfrm>
          <a:prstGeom prst="rect">
            <a:avLst/>
          </a:prstGeom>
        </p:spPr>
        <p:txBody>
          <a:bodyPr anchor="t" rtlCol="false" tIns="0" lIns="0" bIns="0" rIns="0">
            <a:spAutoFit/>
          </a:bodyPr>
          <a:lstStyle/>
          <a:p>
            <a:pPr algn="l">
              <a:lnSpc>
                <a:spcPts val="2160"/>
              </a:lnSpc>
            </a:pPr>
            <a:r>
              <a:rPr lang="en-US" sz="1800">
                <a:solidFill>
                  <a:srgbClr val="DAE6EE"/>
                </a:solidFill>
                <a:latin typeface="Inter"/>
                <a:ea typeface="Inter"/>
                <a:cs typeface="Inter"/>
                <a:sym typeface="Inter"/>
              </a:rPr>
              <a:t>non-payable amount identified across 3 partial approvals, each with a clause</a:t>
            </a:r>
          </a:p>
        </p:txBody>
      </p:sp>
      <p:grpSp>
        <p:nvGrpSpPr>
          <p:cNvPr name="Group 117" id="117"/>
          <p:cNvGrpSpPr/>
          <p:nvPr/>
        </p:nvGrpSpPr>
        <p:grpSpPr>
          <a:xfrm rot="0">
            <a:off x="11815096" y="4504468"/>
            <a:ext cx="5502592" cy="2251900"/>
            <a:chOff x="0" y="0"/>
            <a:chExt cx="7336790" cy="3002534"/>
          </a:xfrm>
        </p:grpSpPr>
        <p:sp>
          <p:nvSpPr>
            <p:cNvPr name="Freeform 118" id="118"/>
            <p:cNvSpPr/>
            <p:nvPr/>
          </p:nvSpPr>
          <p:spPr>
            <a:xfrm flipH="false" flipV="false" rot="0">
              <a:off x="0" y="0"/>
              <a:ext cx="7336789" cy="3002534"/>
            </a:xfrm>
            <a:custGeom>
              <a:avLst/>
              <a:gdLst/>
              <a:ahLst/>
              <a:cxnLst/>
              <a:rect r="r" b="b" t="t" l="l"/>
              <a:pathLst>
                <a:path h="3002534" w="7336789">
                  <a:moveTo>
                    <a:pt x="0" y="147320"/>
                  </a:moveTo>
                  <a:cubicBezTo>
                    <a:pt x="0" y="66040"/>
                    <a:pt x="66040" y="0"/>
                    <a:pt x="147320" y="0"/>
                  </a:cubicBezTo>
                  <a:lnTo>
                    <a:pt x="7189470" y="0"/>
                  </a:lnTo>
                  <a:cubicBezTo>
                    <a:pt x="7270876" y="0"/>
                    <a:pt x="7336789" y="66040"/>
                    <a:pt x="7336789" y="147320"/>
                  </a:cubicBezTo>
                  <a:lnTo>
                    <a:pt x="7336789" y="2855214"/>
                  </a:lnTo>
                  <a:cubicBezTo>
                    <a:pt x="7336789" y="2936621"/>
                    <a:pt x="7270750" y="3002534"/>
                    <a:pt x="7189470" y="3002534"/>
                  </a:cubicBezTo>
                  <a:lnTo>
                    <a:pt x="147320" y="3002534"/>
                  </a:lnTo>
                  <a:cubicBezTo>
                    <a:pt x="65913" y="3002534"/>
                    <a:pt x="0" y="2936494"/>
                    <a:pt x="0" y="2855214"/>
                  </a:cubicBezTo>
                  <a:close/>
                </a:path>
              </a:pathLst>
            </a:custGeom>
            <a:solidFill>
              <a:srgbClr val="FFFFFF"/>
            </a:solidFill>
            <a:ln w="16192" cap="sq">
              <a:solidFill>
                <a:srgbClr val="DCE3E6"/>
              </a:solidFill>
              <a:prstDash val="solid"/>
              <a:miter/>
            </a:ln>
          </p:spPr>
        </p:sp>
      </p:grpSp>
      <p:grpSp>
        <p:nvGrpSpPr>
          <p:cNvPr name="Group 119" id="119"/>
          <p:cNvGrpSpPr/>
          <p:nvPr/>
        </p:nvGrpSpPr>
        <p:grpSpPr>
          <a:xfrm rot="0">
            <a:off x="12220956" y="4732020"/>
            <a:ext cx="4855464" cy="1001268"/>
            <a:chOff x="0" y="0"/>
            <a:chExt cx="6473952" cy="1335024"/>
          </a:xfrm>
        </p:grpSpPr>
        <p:sp>
          <p:nvSpPr>
            <p:cNvPr name="Freeform 120" id="120"/>
            <p:cNvSpPr/>
            <p:nvPr/>
          </p:nvSpPr>
          <p:spPr>
            <a:xfrm flipH="false" flipV="false" rot="0">
              <a:off x="0" y="0"/>
              <a:ext cx="6473952" cy="1335024"/>
            </a:xfrm>
            <a:custGeom>
              <a:avLst/>
              <a:gdLst/>
              <a:ahLst/>
              <a:cxnLst/>
              <a:rect r="r" b="b" t="t" l="l"/>
              <a:pathLst>
                <a:path h="1335024" w="6473952">
                  <a:moveTo>
                    <a:pt x="0" y="0"/>
                  </a:moveTo>
                  <a:lnTo>
                    <a:pt x="6473952" y="0"/>
                  </a:lnTo>
                  <a:lnTo>
                    <a:pt x="6473952" y="1335024"/>
                  </a:lnTo>
                  <a:lnTo>
                    <a:pt x="0" y="1335024"/>
                  </a:lnTo>
                  <a:close/>
                </a:path>
              </a:pathLst>
            </a:custGeom>
            <a:blipFill>
              <a:blip r:embed="rId3">
                <a:alphaModFix amt="0"/>
              </a:blip>
              <a:stretch>
                <a:fillRect l="0" t="-44489" r="0" b="-44489"/>
              </a:stretch>
            </a:blipFill>
          </p:spPr>
        </p:sp>
        <p:sp>
          <p:nvSpPr>
            <p:cNvPr name="TextBox 121" id="121"/>
            <p:cNvSpPr txBox="true"/>
            <p:nvPr/>
          </p:nvSpPr>
          <p:spPr>
            <a:xfrm>
              <a:off x="0" y="0"/>
              <a:ext cx="6473952" cy="1335024"/>
            </a:xfrm>
            <a:prstGeom prst="rect">
              <a:avLst/>
            </a:prstGeom>
          </p:spPr>
          <p:txBody>
            <a:bodyPr anchor="ctr" rtlCol="false" tIns="0" lIns="0" bIns="0" rIns="0"/>
            <a:lstStyle/>
            <a:p>
              <a:pPr algn="l">
                <a:lnSpc>
                  <a:spcPts val="6659"/>
                </a:lnSpc>
              </a:pPr>
              <a:r>
                <a:rPr lang="en-US" sz="5550" b="true">
                  <a:solidFill>
                    <a:srgbClr val="101E2B"/>
                  </a:solidFill>
                  <a:latin typeface="Inter Bold"/>
                  <a:ea typeface="Inter Bold"/>
                  <a:cs typeface="Inter Bold"/>
                  <a:sym typeface="Inter Bold"/>
                </a:rPr>
                <a:t>~5 ms</a:t>
              </a:r>
            </a:p>
          </p:txBody>
        </p:sp>
      </p:grpSp>
      <p:sp>
        <p:nvSpPr>
          <p:cNvPr name="TextBox 122" id="122"/>
          <p:cNvSpPr txBox="true"/>
          <p:nvPr/>
        </p:nvSpPr>
        <p:spPr>
          <a:xfrm rot="0">
            <a:off x="12248388" y="5829300"/>
            <a:ext cx="4608576" cy="685800"/>
          </a:xfrm>
          <a:prstGeom prst="rect">
            <a:avLst/>
          </a:prstGeom>
        </p:spPr>
        <p:txBody>
          <a:bodyPr anchor="t" rtlCol="false" tIns="0" lIns="0" bIns="0" rIns="0">
            <a:spAutoFit/>
          </a:bodyPr>
          <a:lstStyle/>
          <a:p>
            <a:pPr algn="l">
              <a:lnSpc>
                <a:spcPts val="2160"/>
              </a:lnSpc>
            </a:pPr>
            <a:r>
              <a:rPr lang="en-US" sz="1800">
                <a:solidFill>
                  <a:srgbClr val="607184"/>
                </a:solidFill>
                <a:latin typeface="Inter"/>
                <a:ea typeface="Inter"/>
                <a:cs typeface="Inter"/>
                <a:sym typeface="Inter"/>
              </a:rPr>
              <a:t>median agent compute per request (simulated LLM), vs ~45 min manual (our assumption)</a:t>
            </a:r>
          </a:p>
        </p:txBody>
      </p:sp>
      <p:grpSp>
        <p:nvGrpSpPr>
          <p:cNvPr name="Group 123" id="123"/>
          <p:cNvGrpSpPr/>
          <p:nvPr/>
        </p:nvGrpSpPr>
        <p:grpSpPr>
          <a:xfrm rot="0">
            <a:off x="11815096" y="6959632"/>
            <a:ext cx="5502592" cy="2251900"/>
            <a:chOff x="0" y="0"/>
            <a:chExt cx="7336790" cy="3002534"/>
          </a:xfrm>
        </p:grpSpPr>
        <p:sp>
          <p:nvSpPr>
            <p:cNvPr name="Freeform 124" id="124"/>
            <p:cNvSpPr/>
            <p:nvPr/>
          </p:nvSpPr>
          <p:spPr>
            <a:xfrm flipH="false" flipV="false" rot="0">
              <a:off x="0" y="0"/>
              <a:ext cx="7336789" cy="3002534"/>
            </a:xfrm>
            <a:custGeom>
              <a:avLst/>
              <a:gdLst/>
              <a:ahLst/>
              <a:cxnLst/>
              <a:rect r="r" b="b" t="t" l="l"/>
              <a:pathLst>
                <a:path h="3002534" w="7336789">
                  <a:moveTo>
                    <a:pt x="0" y="147320"/>
                  </a:moveTo>
                  <a:cubicBezTo>
                    <a:pt x="0" y="66040"/>
                    <a:pt x="66040" y="0"/>
                    <a:pt x="147320" y="0"/>
                  </a:cubicBezTo>
                  <a:lnTo>
                    <a:pt x="7189470" y="0"/>
                  </a:lnTo>
                  <a:cubicBezTo>
                    <a:pt x="7270876" y="0"/>
                    <a:pt x="7336789" y="66040"/>
                    <a:pt x="7336789" y="147320"/>
                  </a:cubicBezTo>
                  <a:lnTo>
                    <a:pt x="7336789" y="2855214"/>
                  </a:lnTo>
                  <a:cubicBezTo>
                    <a:pt x="7336789" y="2936621"/>
                    <a:pt x="7270750" y="3002534"/>
                    <a:pt x="7189470" y="3002534"/>
                  </a:cubicBezTo>
                  <a:lnTo>
                    <a:pt x="147320" y="3002534"/>
                  </a:lnTo>
                  <a:cubicBezTo>
                    <a:pt x="65913" y="3002534"/>
                    <a:pt x="0" y="2936494"/>
                    <a:pt x="0" y="2855214"/>
                  </a:cubicBezTo>
                  <a:close/>
                </a:path>
              </a:pathLst>
            </a:custGeom>
            <a:solidFill>
              <a:srgbClr val="FFFFFF"/>
            </a:solidFill>
            <a:ln w="16192" cap="sq">
              <a:solidFill>
                <a:srgbClr val="DCE3E6"/>
              </a:solidFill>
              <a:prstDash val="solid"/>
              <a:miter/>
            </a:ln>
          </p:spPr>
        </p:sp>
      </p:grpSp>
      <p:grpSp>
        <p:nvGrpSpPr>
          <p:cNvPr name="Group 125" id="125"/>
          <p:cNvGrpSpPr/>
          <p:nvPr/>
        </p:nvGrpSpPr>
        <p:grpSpPr>
          <a:xfrm rot="0">
            <a:off x="12220956" y="7187184"/>
            <a:ext cx="4855464" cy="1001268"/>
            <a:chOff x="0" y="0"/>
            <a:chExt cx="6473952" cy="1335024"/>
          </a:xfrm>
        </p:grpSpPr>
        <p:sp>
          <p:nvSpPr>
            <p:cNvPr name="Freeform 126" id="126"/>
            <p:cNvSpPr/>
            <p:nvPr/>
          </p:nvSpPr>
          <p:spPr>
            <a:xfrm flipH="false" flipV="false" rot="0">
              <a:off x="0" y="0"/>
              <a:ext cx="6473952" cy="1335024"/>
            </a:xfrm>
            <a:custGeom>
              <a:avLst/>
              <a:gdLst/>
              <a:ahLst/>
              <a:cxnLst/>
              <a:rect r="r" b="b" t="t" l="l"/>
              <a:pathLst>
                <a:path h="1335024" w="6473952">
                  <a:moveTo>
                    <a:pt x="0" y="0"/>
                  </a:moveTo>
                  <a:lnTo>
                    <a:pt x="6473952" y="0"/>
                  </a:lnTo>
                  <a:lnTo>
                    <a:pt x="6473952" y="1335024"/>
                  </a:lnTo>
                  <a:lnTo>
                    <a:pt x="0" y="1335024"/>
                  </a:lnTo>
                  <a:close/>
                </a:path>
              </a:pathLst>
            </a:custGeom>
            <a:blipFill>
              <a:blip r:embed="rId3">
                <a:alphaModFix amt="0"/>
              </a:blip>
              <a:stretch>
                <a:fillRect l="0" t="-44489" r="0" b="-44489"/>
              </a:stretch>
            </a:blipFill>
          </p:spPr>
        </p:sp>
        <p:sp>
          <p:nvSpPr>
            <p:cNvPr name="TextBox 127" id="127"/>
            <p:cNvSpPr txBox="true"/>
            <p:nvPr/>
          </p:nvSpPr>
          <p:spPr>
            <a:xfrm>
              <a:off x="0" y="0"/>
              <a:ext cx="6473952" cy="1335024"/>
            </a:xfrm>
            <a:prstGeom prst="rect">
              <a:avLst/>
            </a:prstGeom>
          </p:spPr>
          <p:txBody>
            <a:bodyPr anchor="ctr" rtlCol="false" tIns="0" lIns="0" bIns="0" rIns="0"/>
            <a:lstStyle/>
            <a:p>
              <a:pPr algn="l">
                <a:lnSpc>
                  <a:spcPts val="6659"/>
                </a:lnSpc>
              </a:pPr>
              <a:r>
                <a:rPr lang="en-US" sz="5550" b="true">
                  <a:solidFill>
                    <a:srgbClr val="101E2B"/>
                  </a:solidFill>
                  <a:latin typeface="Inter Bold"/>
                  <a:ea typeface="Inter Bold"/>
                  <a:cs typeface="Inter Bold"/>
                  <a:sym typeface="Inter Bold"/>
                </a:rPr>
                <a:t>100%</a:t>
              </a:r>
            </a:p>
          </p:txBody>
        </p:sp>
      </p:grpSp>
      <p:sp>
        <p:nvSpPr>
          <p:cNvPr name="TextBox 128" id="128"/>
          <p:cNvSpPr txBox="true"/>
          <p:nvPr/>
        </p:nvSpPr>
        <p:spPr>
          <a:xfrm rot="0">
            <a:off x="12248388" y="8284464"/>
            <a:ext cx="4608576" cy="685800"/>
          </a:xfrm>
          <a:prstGeom prst="rect">
            <a:avLst/>
          </a:prstGeom>
        </p:spPr>
        <p:txBody>
          <a:bodyPr anchor="t" rtlCol="false" tIns="0" lIns="0" bIns="0" rIns="0">
            <a:spAutoFit/>
          </a:bodyPr>
          <a:lstStyle/>
          <a:p>
            <a:pPr algn="l">
              <a:lnSpc>
                <a:spcPts val="2160"/>
              </a:lnSpc>
            </a:pPr>
            <a:r>
              <a:rPr lang="en-US" sz="1800">
                <a:solidFill>
                  <a:srgbClr val="607184"/>
                </a:solidFill>
                <a:latin typeface="Inter"/>
                <a:ea typeface="Inter"/>
                <a:cs typeface="Inter"/>
                <a:sym typeface="Inter"/>
              </a:rPr>
              <a:t>of decisions carry reasons, clause numbers and a full audit trace</a:t>
            </a:r>
          </a:p>
        </p:txBody>
      </p:sp>
      <p:grpSp>
        <p:nvGrpSpPr>
          <p:cNvPr name="Group 129" id="129"/>
          <p:cNvGrpSpPr/>
          <p:nvPr/>
        </p:nvGrpSpPr>
        <p:grpSpPr>
          <a:xfrm rot="0">
            <a:off x="946404" y="9758934"/>
            <a:ext cx="9601200" cy="260604"/>
            <a:chOff x="0" y="0"/>
            <a:chExt cx="12801600" cy="347472"/>
          </a:xfrm>
        </p:grpSpPr>
        <p:sp>
          <p:nvSpPr>
            <p:cNvPr name="Freeform 130" id="130"/>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131" id="131"/>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132" id="132"/>
          <p:cNvGrpSpPr/>
          <p:nvPr/>
        </p:nvGrpSpPr>
        <p:grpSpPr>
          <a:xfrm rot="0">
            <a:off x="16733520" y="9745218"/>
            <a:ext cx="548640" cy="301752"/>
            <a:chOff x="0" y="0"/>
            <a:chExt cx="731520" cy="402336"/>
          </a:xfrm>
        </p:grpSpPr>
        <p:sp>
          <p:nvSpPr>
            <p:cNvPr name="Freeform 133" id="133"/>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134" id="134"/>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11</a:t>
              </a:r>
            </a:p>
          </p:txBody>
        </p:sp>
      </p:grpSp>
      <p:sp>
        <p:nvSpPr>
          <p:cNvPr name="Freeform 135" id="135"/>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8F5"/>
        </a:solidFill>
      </p:bgPr>
    </p:bg>
    <p:spTree>
      <p:nvGrpSpPr>
        <p:cNvPr id="1" name=""/>
        <p:cNvGrpSpPr/>
        <p:nvPr/>
      </p:nvGrpSpPr>
      <p:grpSpPr>
        <a:xfrm>
          <a:off x="0" y="0"/>
          <a:ext cx="0" cy="0"/>
          <a:chOff x="0" y="0"/>
          <a:chExt cx="0" cy="0"/>
        </a:xfrm>
      </p:grpSpPr>
      <p:grpSp>
        <p:nvGrpSpPr>
          <p:cNvPr name="Group 2" id="2"/>
          <p:cNvGrpSpPr/>
          <p:nvPr/>
        </p:nvGrpSpPr>
        <p:grpSpPr>
          <a:xfrm rot="0">
            <a:off x="960120" y="699516"/>
            <a:ext cx="16322040" cy="987552"/>
            <a:chOff x="0" y="0"/>
            <a:chExt cx="21762720" cy="1316736"/>
          </a:xfrm>
        </p:grpSpPr>
        <p:sp>
          <p:nvSpPr>
            <p:cNvPr name="Freeform 3" id="3"/>
            <p:cNvSpPr/>
            <p:nvPr/>
          </p:nvSpPr>
          <p:spPr>
            <a:xfrm flipH="false" flipV="false" rot="0">
              <a:off x="0" y="0"/>
              <a:ext cx="21762720" cy="1316736"/>
            </a:xfrm>
            <a:custGeom>
              <a:avLst/>
              <a:gdLst/>
              <a:ahLst/>
              <a:cxnLst/>
              <a:rect r="r" b="b" t="t" l="l"/>
              <a:pathLst>
                <a:path h="1316736" w="21762720">
                  <a:moveTo>
                    <a:pt x="0" y="0"/>
                  </a:moveTo>
                  <a:lnTo>
                    <a:pt x="21762720" y="0"/>
                  </a:lnTo>
                  <a:lnTo>
                    <a:pt x="21762720" y="1316736"/>
                  </a:lnTo>
                  <a:lnTo>
                    <a:pt x="0" y="1316736"/>
                  </a:lnTo>
                  <a:close/>
                </a:path>
              </a:pathLst>
            </a:custGeom>
            <a:blipFill>
              <a:blip r:embed="rId3">
                <a:alphaModFix amt="0"/>
              </a:blip>
              <a:stretch>
                <a:fillRect l="0" t="-272044" r="0" b="-272044"/>
              </a:stretch>
            </a:blipFill>
          </p:spPr>
        </p:sp>
        <p:sp>
          <p:nvSpPr>
            <p:cNvPr name="TextBox 4" id="4"/>
            <p:cNvSpPr txBox="true"/>
            <p:nvPr/>
          </p:nvSpPr>
          <p:spPr>
            <a:xfrm>
              <a:off x="0" y="0"/>
              <a:ext cx="21762720" cy="1316736"/>
            </a:xfrm>
            <a:prstGeom prst="rect">
              <a:avLst/>
            </a:prstGeom>
          </p:spPr>
          <p:txBody>
            <a:bodyPr anchor="ctr" rtlCol="false" tIns="0" lIns="0" bIns="0" rIns="0"/>
            <a:lstStyle/>
            <a:p>
              <a:pPr algn="l">
                <a:lnSpc>
                  <a:spcPts val="5220"/>
                </a:lnSpc>
              </a:pPr>
              <a:r>
                <a:rPr lang="en-US" sz="4350" b="true">
                  <a:solidFill>
                    <a:srgbClr val="101E2B"/>
                  </a:solidFill>
                  <a:latin typeface="Inter Bold"/>
                  <a:ea typeface="Inter Bold"/>
                  <a:cs typeface="Inter Bold"/>
                  <a:sym typeface="Inter Bold"/>
                </a:rPr>
                <a:t>Limitations and future scope</a:t>
              </a:r>
            </a:p>
          </p:txBody>
        </p:sp>
      </p:grpSp>
      <p:sp>
        <p:nvSpPr>
          <p:cNvPr name="AutoShape 5" id="5"/>
          <p:cNvSpPr/>
          <p:nvPr/>
        </p:nvSpPr>
        <p:spPr>
          <a:xfrm rot="3180">
            <a:off x="925068" y="1737170"/>
            <a:ext cx="16460734" cy="0"/>
          </a:xfrm>
          <a:prstGeom prst="line">
            <a:avLst/>
          </a:prstGeom>
          <a:ln cap="rnd" w="9525">
            <a:solidFill>
              <a:srgbClr val="DCE3E6"/>
            </a:solidFill>
            <a:prstDash val="solid"/>
            <a:headEnd type="none" len="sm" w="sm"/>
            <a:tailEnd type="none" len="sm" w="sm"/>
          </a:ln>
        </p:spPr>
      </p:sp>
      <p:grpSp>
        <p:nvGrpSpPr>
          <p:cNvPr name="Group 6" id="6"/>
          <p:cNvGrpSpPr/>
          <p:nvPr/>
        </p:nvGrpSpPr>
        <p:grpSpPr>
          <a:xfrm rot="0">
            <a:off x="979456" y="2117884"/>
            <a:ext cx="8094916" cy="7217093"/>
            <a:chOff x="0" y="0"/>
            <a:chExt cx="10793222" cy="9622790"/>
          </a:xfrm>
        </p:grpSpPr>
        <p:sp>
          <p:nvSpPr>
            <p:cNvPr name="Freeform 7" id="7"/>
            <p:cNvSpPr/>
            <p:nvPr/>
          </p:nvSpPr>
          <p:spPr>
            <a:xfrm flipH="false" flipV="false" rot="0">
              <a:off x="0" y="0"/>
              <a:ext cx="10793222" cy="9622790"/>
            </a:xfrm>
            <a:custGeom>
              <a:avLst/>
              <a:gdLst/>
              <a:ahLst/>
              <a:cxnLst/>
              <a:rect r="r" b="b" t="t" l="l"/>
              <a:pathLst>
                <a:path h="9622790" w="10793222">
                  <a:moveTo>
                    <a:pt x="0" y="146685"/>
                  </a:moveTo>
                  <a:cubicBezTo>
                    <a:pt x="0" y="65659"/>
                    <a:pt x="65659" y="0"/>
                    <a:pt x="146685" y="0"/>
                  </a:cubicBezTo>
                  <a:lnTo>
                    <a:pt x="10646537" y="0"/>
                  </a:lnTo>
                  <a:cubicBezTo>
                    <a:pt x="10727563" y="0"/>
                    <a:pt x="10793222" y="65659"/>
                    <a:pt x="10793222" y="146685"/>
                  </a:cubicBezTo>
                  <a:lnTo>
                    <a:pt x="10793222" y="9476105"/>
                  </a:lnTo>
                  <a:cubicBezTo>
                    <a:pt x="10793222" y="9557131"/>
                    <a:pt x="10727563" y="9622790"/>
                    <a:pt x="10646537" y="9622790"/>
                  </a:cubicBezTo>
                  <a:lnTo>
                    <a:pt x="146685" y="9622790"/>
                  </a:lnTo>
                  <a:cubicBezTo>
                    <a:pt x="65659" y="9622790"/>
                    <a:pt x="0" y="9557131"/>
                    <a:pt x="0" y="9476105"/>
                  </a:cubicBezTo>
                  <a:close/>
                </a:path>
              </a:pathLst>
            </a:custGeom>
            <a:solidFill>
              <a:srgbClr val="FFFFFF"/>
            </a:solidFill>
            <a:ln w="16192" cap="sq">
              <a:solidFill>
                <a:srgbClr val="DCE3E6"/>
              </a:solidFill>
              <a:prstDash val="solid"/>
              <a:miter/>
            </a:ln>
          </p:spPr>
        </p:sp>
      </p:grpSp>
      <p:grpSp>
        <p:nvGrpSpPr>
          <p:cNvPr name="Group 8" id="8"/>
          <p:cNvGrpSpPr/>
          <p:nvPr/>
        </p:nvGrpSpPr>
        <p:grpSpPr>
          <a:xfrm rot="0">
            <a:off x="9250204" y="2117884"/>
            <a:ext cx="8026336" cy="7217093"/>
            <a:chOff x="0" y="0"/>
            <a:chExt cx="10701782" cy="9622790"/>
          </a:xfrm>
        </p:grpSpPr>
        <p:sp>
          <p:nvSpPr>
            <p:cNvPr name="Freeform 9" id="9"/>
            <p:cNvSpPr/>
            <p:nvPr/>
          </p:nvSpPr>
          <p:spPr>
            <a:xfrm flipH="false" flipV="false" rot="0">
              <a:off x="0" y="0"/>
              <a:ext cx="10701782" cy="9622790"/>
            </a:xfrm>
            <a:custGeom>
              <a:avLst/>
              <a:gdLst/>
              <a:ahLst/>
              <a:cxnLst/>
              <a:rect r="r" b="b" t="t" l="l"/>
              <a:pathLst>
                <a:path h="9622790" w="10701782">
                  <a:moveTo>
                    <a:pt x="0" y="146685"/>
                  </a:moveTo>
                  <a:cubicBezTo>
                    <a:pt x="0" y="65659"/>
                    <a:pt x="65659" y="0"/>
                    <a:pt x="146685" y="0"/>
                  </a:cubicBezTo>
                  <a:lnTo>
                    <a:pt x="10555097" y="0"/>
                  </a:lnTo>
                  <a:cubicBezTo>
                    <a:pt x="10636123" y="0"/>
                    <a:pt x="10701782" y="65659"/>
                    <a:pt x="10701782" y="146685"/>
                  </a:cubicBezTo>
                  <a:lnTo>
                    <a:pt x="10701782" y="9476105"/>
                  </a:lnTo>
                  <a:cubicBezTo>
                    <a:pt x="10701782" y="9557131"/>
                    <a:pt x="10636123" y="9622790"/>
                    <a:pt x="10555097" y="9622790"/>
                  </a:cubicBezTo>
                  <a:lnTo>
                    <a:pt x="146685" y="9622790"/>
                  </a:lnTo>
                  <a:cubicBezTo>
                    <a:pt x="65659" y="9622790"/>
                    <a:pt x="0" y="9557131"/>
                    <a:pt x="0" y="9476105"/>
                  </a:cubicBezTo>
                  <a:close/>
                </a:path>
              </a:pathLst>
            </a:custGeom>
            <a:solidFill>
              <a:srgbClr val="FFFFFF"/>
            </a:solidFill>
            <a:ln w="16192" cap="sq">
              <a:solidFill>
                <a:srgbClr val="DCE3E6"/>
              </a:solidFill>
              <a:prstDash val="solid"/>
              <a:miter/>
            </a:ln>
          </p:spPr>
        </p:sp>
      </p:grpSp>
      <p:grpSp>
        <p:nvGrpSpPr>
          <p:cNvPr name="Group 10" id="10"/>
          <p:cNvGrpSpPr/>
          <p:nvPr/>
        </p:nvGrpSpPr>
        <p:grpSpPr>
          <a:xfrm rot="0">
            <a:off x="978027" y="2116455"/>
            <a:ext cx="8097774" cy="979170"/>
            <a:chOff x="0" y="0"/>
            <a:chExt cx="10797032" cy="1305560"/>
          </a:xfrm>
        </p:grpSpPr>
        <p:sp>
          <p:nvSpPr>
            <p:cNvPr name="Freeform 11" id="11"/>
            <p:cNvSpPr/>
            <p:nvPr/>
          </p:nvSpPr>
          <p:spPr>
            <a:xfrm flipH="false" flipV="false" rot="0">
              <a:off x="0" y="0"/>
              <a:ext cx="10797032" cy="1305560"/>
            </a:xfrm>
            <a:custGeom>
              <a:avLst/>
              <a:gdLst/>
              <a:ahLst/>
              <a:cxnLst/>
              <a:rect r="r" b="b" t="t" l="l"/>
              <a:pathLst>
                <a:path h="1305560" w="10797032">
                  <a:moveTo>
                    <a:pt x="0" y="0"/>
                  </a:moveTo>
                  <a:lnTo>
                    <a:pt x="10797032" y="0"/>
                  </a:lnTo>
                  <a:lnTo>
                    <a:pt x="10797032" y="1305560"/>
                  </a:lnTo>
                  <a:lnTo>
                    <a:pt x="0" y="1305560"/>
                  </a:lnTo>
                  <a:close/>
                </a:path>
              </a:pathLst>
            </a:custGeom>
            <a:solidFill>
              <a:srgbClr val="FFF0EC"/>
            </a:solidFill>
          </p:spPr>
        </p:sp>
      </p:grpSp>
      <p:grpSp>
        <p:nvGrpSpPr>
          <p:cNvPr name="Group 12" id="12"/>
          <p:cNvGrpSpPr/>
          <p:nvPr/>
        </p:nvGrpSpPr>
        <p:grpSpPr>
          <a:xfrm rot="0">
            <a:off x="9248775" y="2116455"/>
            <a:ext cx="8029194" cy="979170"/>
            <a:chOff x="0" y="0"/>
            <a:chExt cx="10705592" cy="1305560"/>
          </a:xfrm>
        </p:grpSpPr>
        <p:sp>
          <p:nvSpPr>
            <p:cNvPr name="Freeform 13" id="13"/>
            <p:cNvSpPr/>
            <p:nvPr/>
          </p:nvSpPr>
          <p:spPr>
            <a:xfrm flipH="false" flipV="false" rot="0">
              <a:off x="0" y="0"/>
              <a:ext cx="10705592" cy="1305560"/>
            </a:xfrm>
            <a:custGeom>
              <a:avLst/>
              <a:gdLst/>
              <a:ahLst/>
              <a:cxnLst/>
              <a:rect r="r" b="b" t="t" l="l"/>
              <a:pathLst>
                <a:path h="1305560" w="10705592">
                  <a:moveTo>
                    <a:pt x="0" y="0"/>
                  </a:moveTo>
                  <a:lnTo>
                    <a:pt x="10705592" y="0"/>
                  </a:lnTo>
                  <a:lnTo>
                    <a:pt x="10705592" y="1305560"/>
                  </a:lnTo>
                  <a:lnTo>
                    <a:pt x="0" y="1305560"/>
                  </a:lnTo>
                  <a:close/>
                </a:path>
              </a:pathLst>
            </a:custGeom>
            <a:solidFill>
              <a:srgbClr val="E7F4EB"/>
            </a:solidFill>
          </p:spPr>
        </p:sp>
      </p:grpSp>
      <p:grpSp>
        <p:nvGrpSpPr>
          <p:cNvPr name="Group 14" id="14"/>
          <p:cNvGrpSpPr/>
          <p:nvPr/>
        </p:nvGrpSpPr>
        <p:grpSpPr>
          <a:xfrm rot="0">
            <a:off x="1385316" y="2331720"/>
            <a:ext cx="7214616" cy="521208"/>
            <a:chOff x="0" y="0"/>
            <a:chExt cx="9619488" cy="694944"/>
          </a:xfrm>
        </p:grpSpPr>
        <p:sp>
          <p:nvSpPr>
            <p:cNvPr name="Freeform 15" id="15"/>
            <p:cNvSpPr/>
            <p:nvPr/>
          </p:nvSpPr>
          <p:spPr>
            <a:xfrm flipH="false" flipV="false" rot="0">
              <a:off x="0" y="0"/>
              <a:ext cx="9619488" cy="694944"/>
            </a:xfrm>
            <a:custGeom>
              <a:avLst/>
              <a:gdLst/>
              <a:ahLst/>
              <a:cxnLst/>
              <a:rect r="r" b="b" t="t" l="l"/>
              <a:pathLst>
                <a:path h="694944" w="9619488">
                  <a:moveTo>
                    <a:pt x="0" y="0"/>
                  </a:moveTo>
                  <a:lnTo>
                    <a:pt x="9619488" y="0"/>
                  </a:lnTo>
                  <a:lnTo>
                    <a:pt x="9619488" y="694944"/>
                  </a:lnTo>
                  <a:lnTo>
                    <a:pt x="0" y="694944"/>
                  </a:lnTo>
                  <a:close/>
                </a:path>
              </a:pathLst>
            </a:custGeom>
            <a:blipFill>
              <a:blip r:embed="rId3">
                <a:alphaModFix amt="0"/>
              </a:blip>
              <a:stretch>
                <a:fillRect l="0" t="-219713" r="0" b="-219713"/>
              </a:stretch>
            </a:blipFill>
          </p:spPr>
        </p:sp>
        <p:sp>
          <p:nvSpPr>
            <p:cNvPr name="TextBox 16" id="16"/>
            <p:cNvSpPr txBox="true"/>
            <p:nvPr/>
          </p:nvSpPr>
          <p:spPr>
            <a:xfrm>
              <a:off x="0" y="0"/>
              <a:ext cx="9619488" cy="694944"/>
            </a:xfrm>
            <a:prstGeom prst="rect">
              <a:avLst/>
            </a:prstGeom>
          </p:spPr>
          <p:txBody>
            <a:bodyPr anchor="ctr" rtlCol="false" tIns="0" lIns="0" bIns="0" rIns="0"/>
            <a:lstStyle/>
            <a:p>
              <a:pPr algn="l">
                <a:lnSpc>
                  <a:spcPts val="3276"/>
                </a:lnSpc>
              </a:pPr>
              <a:r>
                <a:rPr lang="en-US" sz="2729" b="true">
                  <a:solidFill>
                    <a:srgbClr val="B65A54"/>
                  </a:solidFill>
                  <a:latin typeface="Inter Bold"/>
                  <a:ea typeface="Inter Bold"/>
                  <a:cs typeface="Inter Bold"/>
                  <a:sym typeface="Inter Bold"/>
                </a:rPr>
                <a:t>Limitations</a:t>
              </a:r>
            </a:p>
          </p:txBody>
        </p:sp>
      </p:grpSp>
      <p:grpSp>
        <p:nvGrpSpPr>
          <p:cNvPr name="Group 17" id="17"/>
          <p:cNvGrpSpPr/>
          <p:nvPr/>
        </p:nvGrpSpPr>
        <p:grpSpPr>
          <a:xfrm rot="0">
            <a:off x="9656064" y="2331720"/>
            <a:ext cx="7228332" cy="521208"/>
            <a:chOff x="0" y="0"/>
            <a:chExt cx="9637776" cy="694944"/>
          </a:xfrm>
        </p:grpSpPr>
        <p:sp>
          <p:nvSpPr>
            <p:cNvPr name="Freeform 18" id="18"/>
            <p:cNvSpPr/>
            <p:nvPr/>
          </p:nvSpPr>
          <p:spPr>
            <a:xfrm flipH="false" flipV="false" rot="0">
              <a:off x="0" y="0"/>
              <a:ext cx="9637776" cy="694944"/>
            </a:xfrm>
            <a:custGeom>
              <a:avLst/>
              <a:gdLst/>
              <a:ahLst/>
              <a:cxnLst/>
              <a:rect r="r" b="b" t="t" l="l"/>
              <a:pathLst>
                <a:path h="694944" w="9637776">
                  <a:moveTo>
                    <a:pt x="0" y="0"/>
                  </a:moveTo>
                  <a:lnTo>
                    <a:pt x="9637776" y="0"/>
                  </a:lnTo>
                  <a:lnTo>
                    <a:pt x="9637776" y="694944"/>
                  </a:lnTo>
                  <a:lnTo>
                    <a:pt x="0" y="694944"/>
                  </a:lnTo>
                  <a:close/>
                </a:path>
              </a:pathLst>
            </a:custGeom>
            <a:blipFill>
              <a:blip r:embed="rId3">
                <a:alphaModFix amt="0"/>
              </a:blip>
              <a:stretch>
                <a:fillRect l="0" t="-220226" r="0" b="-220226"/>
              </a:stretch>
            </a:blipFill>
          </p:spPr>
        </p:sp>
        <p:sp>
          <p:nvSpPr>
            <p:cNvPr name="TextBox 19" id="19"/>
            <p:cNvSpPr txBox="true"/>
            <p:nvPr/>
          </p:nvSpPr>
          <p:spPr>
            <a:xfrm>
              <a:off x="0" y="0"/>
              <a:ext cx="9637776" cy="694944"/>
            </a:xfrm>
            <a:prstGeom prst="rect">
              <a:avLst/>
            </a:prstGeom>
          </p:spPr>
          <p:txBody>
            <a:bodyPr anchor="ctr" rtlCol="false" tIns="0" lIns="0" bIns="0" rIns="0"/>
            <a:lstStyle/>
            <a:p>
              <a:pPr algn="l">
                <a:lnSpc>
                  <a:spcPts val="3276"/>
                </a:lnSpc>
              </a:pPr>
              <a:r>
                <a:rPr lang="en-US" sz="2729" b="true">
                  <a:solidFill>
                    <a:srgbClr val="008E86"/>
                  </a:solidFill>
                  <a:latin typeface="Inter Bold"/>
                  <a:ea typeface="Inter Bold"/>
                  <a:cs typeface="Inter Bold"/>
                  <a:sym typeface="Inter Bold"/>
                </a:rPr>
                <a:t>Future scope</a:t>
              </a:r>
            </a:p>
          </p:txBody>
        </p:sp>
      </p:grpSp>
      <p:grpSp>
        <p:nvGrpSpPr>
          <p:cNvPr name="Group 20" id="20"/>
          <p:cNvGrpSpPr/>
          <p:nvPr/>
        </p:nvGrpSpPr>
        <p:grpSpPr>
          <a:xfrm rot="0">
            <a:off x="1389507" y="3584067"/>
            <a:ext cx="224790" cy="224790"/>
            <a:chOff x="0" y="0"/>
            <a:chExt cx="299720" cy="299720"/>
          </a:xfrm>
        </p:grpSpPr>
        <p:sp>
          <p:nvSpPr>
            <p:cNvPr name="Freeform 21" id="21"/>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EE6A59"/>
            </a:solidFill>
          </p:spPr>
        </p:sp>
      </p:grpSp>
      <p:grpSp>
        <p:nvGrpSpPr>
          <p:cNvPr name="Group 22" id="22"/>
          <p:cNvGrpSpPr/>
          <p:nvPr/>
        </p:nvGrpSpPr>
        <p:grpSpPr>
          <a:xfrm rot="0">
            <a:off x="1865376" y="3387852"/>
            <a:ext cx="6803136" cy="850392"/>
            <a:chOff x="0" y="0"/>
            <a:chExt cx="9070848" cy="1133856"/>
          </a:xfrm>
        </p:grpSpPr>
        <p:sp>
          <p:nvSpPr>
            <p:cNvPr name="Freeform 23" id="23"/>
            <p:cNvSpPr/>
            <p:nvPr/>
          </p:nvSpPr>
          <p:spPr>
            <a:xfrm flipH="false" flipV="false" rot="0">
              <a:off x="0" y="0"/>
              <a:ext cx="9070848" cy="1133856"/>
            </a:xfrm>
            <a:custGeom>
              <a:avLst/>
              <a:gdLst/>
              <a:ahLst/>
              <a:cxnLst/>
              <a:rect r="r" b="b" t="t" l="l"/>
              <a:pathLst>
                <a:path h="1133856" w="9070848">
                  <a:moveTo>
                    <a:pt x="0" y="0"/>
                  </a:moveTo>
                  <a:lnTo>
                    <a:pt x="9070848" y="0"/>
                  </a:lnTo>
                  <a:lnTo>
                    <a:pt x="9070848" y="1133856"/>
                  </a:lnTo>
                  <a:lnTo>
                    <a:pt x="0" y="1133856"/>
                  </a:lnTo>
                  <a:close/>
                </a:path>
              </a:pathLst>
            </a:custGeom>
            <a:blipFill>
              <a:blip r:embed="rId3">
                <a:alphaModFix amt="0"/>
              </a:blip>
              <a:stretch>
                <a:fillRect l="0" t="-105880" r="0" b="-105880"/>
              </a:stretch>
            </a:blipFill>
          </p:spPr>
        </p:sp>
        <p:sp>
          <p:nvSpPr>
            <p:cNvPr name="TextBox 24" id="24"/>
            <p:cNvSpPr txBox="true"/>
            <p:nvPr/>
          </p:nvSpPr>
          <p:spPr>
            <a:xfrm>
              <a:off x="0" y="-9525"/>
              <a:ext cx="9070848"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Synthetic data and a simplified policy wording (11 clauses)</a:t>
              </a:r>
            </a:p>
          </p:txBody>
        </p:sp>
      </p:grpSp>
      <p:grpSp>
        <p:nvGrpSpPr>
          <p:cNvPr name="Group 25" id="25"/>
          <p:cNvGrpSpPr/>
          <p:nvPr/>
        </p:nvGrpSpPr>
        <p:grpSpPr>
          <a:xfrm rot="0">
            <a:off x="9687687" y="3584067"/>
            <a:ext cx="224790" cy="224790"/>
            <a:chOff x="0" y="0"/>
            <a:chExt cx="299720" cy="299720"/>
          </a:xfrm>
        </p:grpSpPr>
        <p:sp>
          <p:nvSpPr>
            <p:cNvPr name="Freeform 26" id="26"/>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08E86"/>
            </a:solidFill>
          </p:spPr>
        </p:sp>
      </p:grpSp>
      <p:grpSp>
        <p:nvGrpSpPr>
          <p:cNvPr name="Group 27" id="27"/>
          <p:cNvGrpSpPr/>
          <p:nvPr/>
        </p:nvGrpSpPr>
        <p:grpSpPr>
          <a:xfrm rot="0">
            <a:off x="10163556" y="3387852"/>
            <a:ext cx="6761988" cy="850392"/>
            <a:chOff x="0" y="0"/>
            <a:chExt cx="9015984" cy="1133856"/>
          </a:xfrm>
        </p:grpSpPr>
        <p:sp>
          <p:nvSpPr>
            <p:cNvPr name="Freeform 28" id="28"/>
            <p:cNvSpPr/>
            <p:nvPr/>
          </p:nvSpPr>
          <p:spPr>
            <a:xfrm flipH="false" flipV="false" rot="0">
              <a:off x="0" y="0"/>
              <a:ext cx="9015984" cy="1133856"/>
            </a:xfrm>
            <a:custGeom>
              <a:avLst/>
              <a:gdLst/>
              <a:ahLst/>
              <a:cxnLst/>
              <a:rect r="r" b="b" t="t" l="l"/>
              <a:pathLst>
                <a:path h="1133856" w="9015984">
                  <a:moveTo>
                    <a:pt x="0" y="0"/>
                  </a:moveTo>
                  <a:lnTo>
                    <a:pt x="9015984" y="0"/>
                  </a:lnTo>
                  <a:lnTo>
                    <a:pt x="9015984" y="1133856"/>
                  </a:lnTo>
                  <a:lnTo>
                    <a:pt x="0" y="1133856"/>
                  </a:lnTo>
                  <a:close/>
                </a:path>
              </a:pathLst>
            </a:custGeom>
            <a:blipFill>
              <a:blip r:embed="rId3">
                <a:alphaModFix amt="0"/>
              </a:blip>
              <a:stretch>
                <a:fillRect l="0" t="-104937" r="0" b="-104937"/>
              </a:stretch>
            </a:blipFill>
          </p:spPr>
        </p:sp>
        <p:sp>
          <p:nvSpPr>
            <p:cNvPr name="TextBox 29" id="29"/>
            <p:cNvSpPr txBox="true"/>
            <p:nvPr/>
          </p:nvSpPr>
          <p:spPr>
            <a:xfrm>
              <a:off x="0" y="-9525"/>
              <a:ext cx="9015984"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Vector RAG over full policy wordings</a:t>
              </a:r>
            </a:p>
          </p:txBody>
        </p:sp>
      </p:grpSp>
      <p:sp>
        <p:nvSpPr>
          <p:cNvPr name="AutoShape 30" id="30"/>
          <p:cNvSpPr/>
          <p:nvPr/>
        </p:nvSpPr>
        <p:spPr>
          <a:xfrm rot="6300">
            <a:off x="1392355" y="4384358"/>
            <a:ext cx="7269109" cy="0"/>
          </a:xfrm>
          <a:prstGeom prst="line">
            <a:avLst/>
          </a:prstGeom>
          <a:ln cap="rnd" w="9525">
            <a:solidFill>
              <a:srgbClr val="EDF0F1"/>
            </a:solidFill>
            <a:prstDash val="solid"/>
            <a:headEnd type="none" len="sm" w="sm"/>
            <a:tailEnd type="none" len="sm" w="sm"/>
          </a:ln>
        </p:spPr>
      </p:sp>
      <p:sp>
        <p:nvSpPr>
          <p:cNvPr name="AutoShape 31" id="31"/>
          <p:cNvSpPr/>
          <p:nvPr/>
        </p:nvSpPr>
        <p:spPr>
          <a:xfrm rot="6360">
            <a:off x="9676819" y="4384358"/>
            <a:ext cx="7214245" cy="0"/>
          </a:xfrm>
          <a:prstGeom prst="line">
            <a:avLst/>
          </a:prstGeom>
          <a:ln cap="rnd" w="9525">
            <a:solidFill>
              <a:srgbClr val="EDF0F1"/>
            </a:solidFill>
            <a:prstDash val="solid"/>
            <a:headEnd type="none" len="sm" w="sm"/>
            <a:tailEnd type="none" len="sm" w="sm"/>
          </a:ln>
        </p:spPr>
      </p:sp>
      <p:grpSp>
        <p:nvGrpSpPr>
          <p:cNvPr name="Group 32" id="32"/>
          <p:cNvGrpSpPr/>
          <p:nvPr/>
        </p:nvGrpSpPr>
        <p:grpSpPr>
          <a:xfrm rot="0">
            <a:off x="1389507" y="4708779"/>
            <a:ext cx="224790" cy="224790"/>
            <a:chOff x="0" y="0"/>
            <a:chExt cx="299720" cy="299720"/>
          </a:xfrm>
        </p:grpSpPr>
        <p:sp>
          <p:nvSpPr>
            <p:cNvPr name="Freeform 33" id="33"/>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EE6A59"/>
            </a:solidFill>
          </p:spPr>
        </p:sp>
      </p:grpSp>
      <p:grpSp>
        <p:nvGrpSpPr>
          <p:cNvPr name="Group 34" id="34"/>
          <p:cNvGrpSpPr/>
          <p:nvPr/>
        </p:nvGrpSpPr>
        <p:grpSpPr>
          <a:xfrm rot="0">
            <a:off x="1865376" y="4512564"/>
            <a:ext cx="6803136" cy="850392"/>
            <a:chOff x="0" y="0"/>
            <a:chExt cx="9070848" cy="1133856"/>
          </a:xfrm>
        </p:grpSpPr>
        <p:sp>
          <p:nvSpPr>
            <p:cNvPr name="Freeform 35" id="35"/>
            <p:cNvSpPr/>
            <p:nvPr/>
          </p:nvSpPr>
          <p:spPr>
            <a:xfrm flipH="false" flipV="false" rot="0">
              <a:off x="0" y="0"/>
              <a:ext cx="9070848" cy="1133856"/>
            </a:xfrm>
            <a:custGeom>
              <a:avLst/>
              <a:gdLst/>
              <a:ahLst/>
              <a:cxnLst/>
              <a:rect r="r" b="b" t="t" l="l"/>
              <a:pathLst>
                <a:path h="1133856" w="9070848">
                  <a:moveTo>
                    <a:pt x="0" y="0"/>
                  </a:moveTo>
                  <a:lnTo>
                    <a:pt x="9070848" y="0"/>
                  </a:lnTo>
                  <a:lnTo>
                    <a:pt x="9070848" y="1133856"/>
                  </a:lnTo>
                  <a:lnTo>
                    <a:pt x="0" y="1133856"/>
                  </a:lnTo>
                  <a:close/>
                </a:path>
              </a:pathLst>
            </a:custGeom>
            <a:blipFill>
              <a:blip r:embed="rId3">
                <a:alphaModFix amt="0"/>
              </a:blip>
              <a:stretch>
                <a:fillRect l="0" t="-105880" r="0" b="-105880"/>
              </a:stretch>
            </a:blipFill>
          </p:spPr>
        </p:sp>
        <p:sp>
          <p:nvSpPr>
            <p:cNvPr name="TextBox 36" id="36"/>
            <p:cNvSpPr txBox="true"/>
            <p:nvPr/>
          </p:nvSpPr>
          <p:spPr>
            <a:xfrm>
              <a:off x="0" y="-9525"/>
              <a:ext cx="9070848"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Keyword clause retrieval, not semantic search</a:t>
              </a:r>
            </a:p>
          </p:txBody>
        </p:sp>
      </p:grpSp>
      <p:grpSp>
        <p:nvGrpSpPr>
          <p:cNvPr name="Group 37" id="37"/>
          <p:cNvGrpSpPr/>
          <p:nvPr/>
        </p:nvGrpSpPr>
        <p:grpSpPr>
          <a:xfrm rot="0">
            <a:off x="9687687" y="4708779"/>
            <a:ext cx="224790" cy="224790"/>
            <a:chOff x="0" y="0"/>
            <a:chExt cx="299720" cy="299720"/>
          </a:xfrm>
        </p:grpSpPr>
        <p:sp>
          <p:nvSpPr>
            <p:cNvPr name="Freeform 38" id="38"/>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08E86"/>
            </a:solidFill>
          </p:spPr>
        </p:sp>
      </p:grpSp>
      <p:grpSp>
        <p:nvGrpSpPr>
          <p:cNvPr name="Group 39" id="39"/>
          <p:cNvGrpSpPr/>
          <p:nvPr/>
        </p:nvGrpSpPr>
        <p:grpSpPr>
          <a:xfrm rot="0">
            <a:off x="10163556" y="4512564"/>
            <a:ext cx="6761988" cy="850392"/>
            <a:chOff x="0" y="0"/>
            <a:chExt cx="9015984" cy="1133856"/>
          </a:xfrm>
        </p:grpSpPr>
        <p:sp>
          <p:nvSpPr>
            <p:cNvPr name="Freeform 40" id="40"/>
            <p:cNvSpPr/>
            <p:nvPr/>
          </p:nvSpPr>
          <p:spPr>
            <a:xfrm flipH="false" flipV="false" rot="0">
              <a:off x="0" y="0"/>
              <a:ext cx="9015984" cy="1133856"/>
            </a:xfrm>
            <a:custGeom>
              <a:avLst/>
              <a:gdLst/>
              <a:ahLst/>
              <a:cxnLst/>
              <a:rect r="r" b="b" t="t" l="l"/>
              <a:pathLst>
                <a:path h="1133856" w="9015984">
                  <a:moveTo>
                    <a:pt x="0" y="0"/>
                  </a:moveTo>
                  <a:lnTo>
                    <a:pt x="9015984" y="0"/>
                  </a:lnTo>
                  <a:lnTo>
                    <a:pt x="9015984" y="1133856"/>
                  </a:lnTo>
                  <a:lnTo>
                    <a:pt x="0" y="1133856"/>
                  </a:lnTo>
                  <a:close/>
                </a:path>
              </a:pathLst>
            </a:custGeom>
            <a:blipFill>
              <a:blip r:embed="rId3">
                <a:alphaModFix amt="0"/>
              </a:blip>
              <a:stretch>
                <a:fillRect l="0" t="-104937" r="0" b="-104937"/>
              </a:stretch>
            </a:blipFill>
          </p:spPr>
        </p:sp>
        <p:sp>
          <p:nvSpPr>
            <p:cNvPr name="TextBox 41" id="41"/>
            <p:cNvSpPr txBox="true"/>
            <p:nvPr/>
          </p:nvSpPr>
          <p:spPr>
            <a:xfrm>
              <a:off x="0" y="-9525"/>
              <a:ext cx="9015984"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OCR + LLM extraction for scanned PDFs and reports</a:t>
              </a:r>
            </a:p>
          </p:txBody>
        </p:sp>
      </p:grpSp>
      <p:sp>
        <p:nvSpPr>
          <p:cNvPr name="AutoShape 42" id="42"/>
          <p:cNvSpPr/>
          <p:nvPr/>
        </p:nvSpPr>
        <p:spPr>
          <a:xfrm rot="6300">
            <a:off x="1392355" y="5509070"/>
            <a:ext cx="7269109" cy="0"/>
          </a:xfrm>
          <a:prstGeom prst="line">
            <a:avLst/>
          </a:prstGeom>
          <a:ln cap="rnd" w="9525">
            <a:solidFill>
              <a:srgbClr val="EDF0F1"/>
            </a:solidFill>
            <a:prstDash val="solid"/>
            <a:headEnd type="none" len="sm" w="sm"/>
            <a:tailEnd type="none" len="sm" w="sm"/>
          </a:ln>
        </p:spPr>
      </p:sp>
      <p:sp>
        <p:nvSpPr>
          <p:cNvPr name="AutoShape 43" id="43"/>
          <p:cNvSpPr/>
          <p:nvPr/>
        </p:nvSpPr>
        <p:spPr>
          <a:xfrm rot="6360">
            <a:off x="9676819" y="5509070"/>
            <a:ext cx="7214245" cy="0"/>
          </a:xfrm>
          <a:prstGeom prst="line">
            <a:avLst/>
          </a:prstGeom>
          <a:ln cap="rnd" w="9525">
            <a:solidFill>
              <a:srgbClr val="EDF0F1"/>
            </a:solidFill>
            <a:prstDash val="solid"/>
            <a:headEnd type="none" len="sm" w="sm"/>
            <a:tailEnd type="none" len="sm" w="sm"/>
          </a:ln>
        </p:spPr>
      </p:sp>
      <p:grpSp>
        <p:nvGrpSpPr>
          <p:cNvPr name="Group 44" id="44"/>
          <p:cNvGrpSpPr/>
          <p:nvPr/>
        </p:nvGrpSpPr>
        <p:grpSpPr>
          <a:xfrm rot="0">
            <a:off x="1389507" y="5833491"/>
            <a:ext cx="224790" cy="224790"/>
            <a:chOff x="0" y="0"/>
            <a:chExt cx="299720" cy="299720"/>
          </a:xfrm>
        </p:grpSpPr>
        <p:sp>
          <p:nvSpPr>
            <p:cNvPr name="Freeform 45" id="45"/>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EE6A59"/>
            </a:solidFill>
          </p:spPr>
        </p:sp>
      </p:grpSp>
      <p:grpSp>
        <p:nvGrpSpPr>
          <p:cNvPr name="Group 46" id="46"/>
          <p:cNvGrpSpPr/>
          <p:nvPr/>
        </p:nvGrpSpPr>
        <p:grpSpPr>
          <a:xfrm rot="0">
            <a:off x="1865376" y="5637276"/>
            <a:ext cx="6803136" cy="850392"/>
            <a:chOff x="0" y="0"/>
            <a:chExt cx="9070848" cy="1133856"/>
          </a:xfrm>
        </p:grpSpPr>
        <p:sp>
          <p:nvSpPr>
            <p:cNvPr name="Freeform 47" id="47"/>
            <p:cNvSpPr/>
            <p:nvPr/>
          </p:nvSpPr>
          <p:spPr>
            <a:xfrm flipH="false" flipV="false" rot="0">
              <a:off x="0" y="0"/>
              <a:ext cx="9070848" cy="1133856"/>
            </a:xfrm>
            <a:custGeom>
              <a:avLst/>
              <a:gdLst/>
              <a:ahLst/>
              <a:cxnLst/>
              <a:rect r="r" b="b" t="t" l="l"/>
              <a:pathLst>
                <a:path h="1133856" w="9070848">
                  <a:moveTo>
                    <a:pt x="0" y="0"/>
                  </a:moveTo>
                  <a:lnTo>
                    <a:pt x="9070848" y="0"/>
                  </a:lnTo>
                  <a:lnTo>
                    <a:pt x="9070848" y="1133856"/>
                  </a:lnTo>
                  <a:lnTo>
                    <a:pt x="0" y="1133856"/>
                  </a:lnTo>
                  <a:close/>
                </a:path>
              </a:pathLst>
            </a:custGeom>
            <a:blipFill>
              <a:blip r:embed="rId3">
                <a:alphaModFix amt="0"/>
              </a:blip>
              <a:stretch>
                <a:fillRect l="0" t="-105880" r="0" b="-105880"/>
              </a:stretch>
            </a:blipFill>
          </p:spPr>
        </p:sp>
        <p:sp>
          <p:nvSpPr>
            <p:cNvPr name="TextBox 48" id="48"/>
            <p:cNvSpPr txBox="true"/>
            <p:nvPr/>
          </p:nvSpPr>
          <p:spPr>
            <a:xfrm>
              <a:off x="0" y="-9525"/>
              <a:ext cx="9070848"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The rule cross-check cannot catch a mistake both extractors make</a:t>
              </a:r>
            </a:p>
          </p:txBody>
        </p:sp>
      </p:grpSp>
      <p:grpSp>
        <p:nvGrpSpPr>
          <p:cNvPr name="Group 49" id="49"/>
          <p:cNvGrpSpPr/>
          <p:nvPr/>
        </p:nvGrpSpPr>
        <p:grpSpPr>
          <a:xfrm rot="0">
            <a:off x="9687687" y="5833491"/>
            <a:ext cx="224790" cy="224790"/>
            <a:chOff x="0" y="0"/>
            <a:chExt cx="299720" cy="299720"/>
          </a:xfrm>
        </p:grpSpPr>
        <p:sp>
          <p:nvSpPr>
            <p:cNvPr name="Freeform 50" id="50"/>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08E86"/>
            </a:solidFill>
          </p:spPr>
        </p:sp>
      </p:grpSp>
      <p:grpSp>
        <p:nvGrpSpPr>
          <p:cNvPr name="Group 51" id="51"/>
          <p:cNvGrpSpPr/>
          <p:nvPr/>
        </p:nvGrpSpPr>
        <p:grpSpPr>
          <a:xfrm rot="0">
            <a:off x="10163556" y="5637276"/>
            <a:ext cx="6761988" cy="850392"/>
            <a:chOff x="0" y="0"/>
            <a:chExt cx="9015984" cy="1133856"/>
          </a:xfrm>
        </p:grpSpPr>
        <p:sp>
          <p:nvSpPr>
            <p:cNvPr name="Freeform 52" id="52"/>
            <p:cNvSpPr/>
            <p:nvPr/>
          </p:nvSpPr>
          <p:spPr>
            <a:xfrm flipH="false" flipV="false" rot="0">
              <a:off x="0" y="0"/>
              <a:ext cx="9015984" cy="1133856"/>
            </a:xfrm>
            <a:custGeom>
              <a:avLst/>
              <a:gdLst/>
              <a:ahLst/>
              <a:cxnLst/>
              <a:rect r="r" b="b" t="t" l="l"/>
              <a:pathLst>
                <a:path h="1133856" w="9015984">
                  <a:moveTo>
                    <a:pt x="0" y="0"/>
                  </a:moveTo>
                  <a:lnTo>
                    <a:pt x="9015984" y="0"/>
                  </a:lnTo>
                  <a:lnTo>
                    <a:pt x="9015984" y="1133856"/>
                  </a:lnTo>
                  <a:lnTo>
                    <a:pt x="0" y="1133856"/>
                  </a:lnTo>
                  <a:close/>
                </a:path>
              </a:pathLst>
            </a:custGeom>
            <a:blipFill>
              <a:blip r:embed="rId3">
                <a:alphaModFix amt="0"/>
              </a:blip>
              <a:stretch>
                <a:fillRect l="0" t="-104937" r="0" b="-104937"/>
              </a:stretch>
            </a:blipFill>
          </p:spPr>
        </p:sp>
        <p:sp>
          <p:nvSpPr>
            <p:cNvPr name="TextBox 53" id="53"/>
            <p:cNvSpPr txBox="true"/>
            <p:nvPr/>
          </p:nvSpPr>
          <p:spPr>
            <a:xfrm>
              <a:off x="0" y="-9525"/>
              <a:ext cx="9015984"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LangGraph + MCP tools to connect hospital systems and NHCX</a:t>
              </a:r>
            </a:p>
          </p:txBody>
        </p:sp>
      </p:grpSp>
      <p:sp>
        <p:nvSpPr>
          <p:cNvPr name="AutoShape 54" id="54"/>
          <p:cNvSpPr/>
          <p:nvPr/>
        </p:nvSpPr>
        <p:spPr>
          <a:xfrm rot="6300">
            <a:off x="1392355" y="6633782"/>
            <a:ext cx="7269109" cy="0"/>
          </a:xfrm>
          <a:prstGeom prst="line">
            <a:avLst/>
          </a:prstGeom>
          <a:ln cap="rnd" w="9525">
            <a:solidFill>
              <a:srgbClr val="EDF0F1"/>
            </a:solidFill>
            <a:prstDash val="solid"/>
            <a:headEnd type="none" len="sm" w="sm"/>
            <a:tailEnd type="none" len="sm" w="sm"/>
          </a:ln>
        </p:spPr>
      </p:sp>
      <p:sp>
        <p:nvSpPr>
          <p:cNvPr name="AutoShape 55" id="55"/>
          <p:cNvSpPr/>
          <p:nvPr/>
        </p:nvSpPr>
        <p:spPr>
          <a:xfrm rot="6360">
            <a:off x="9676819" y="6633782"/>
            <a:ext cx="7214245" cy="0"/>
          </a:xfrm>
          <a:prstGeom prst="line">
            <a:avLst/>
          </a:prstGeom>
          <a:ln cap="rnd" w="9525">
            <a:solidFill>
              <a:srgbClr val="EDF0F1"/>
            </a:solidFill>
            <a:prstDash val="solid"/>
            <a:headEnd type="none" len="sm" w="sm"/>
            <a:tailEnd type="none" len="sm" w="sm"/>
          </a:ln>
        </p:spPr>
      </p:sp>
      <p:grpSp>
        <p:nvGrpSpPr>
          <p:cNvPr name="Group 56" id="56"/>
          <p:cNvGrpSpPr/>
          <p:nvPr/>
        </p:nvGrpSpPr>
        <p:grpSpPr>
          <a:xfrm rot="0">
            <a:off x="1389507" y="6958203"/>
            <a:ext cx="224790" cy="224790"/>
            <a:chOff x="0" y="0"/>
            <a:chExt cx="299720" cy="299720"/>
          </a:xfrm>
        </p:grpSpPr>
        <p:sp>
          <p:nvSpPr>
            <p:cNvPr name="Freeform 57" id="57"/>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EE6A59"/>
            </a:solidFill>
          </p:spPr>
        </p:sp>
      </p:grpSp>
      <p:grpSp>
        <p:nvGrpSpPr>
          <p:cNvPr name="Group 58" id="58"/>
          <p:cNvGrpSpPr/>
          <p:nvPr/>
        </p:nvGrpSpPr>
        <p:grpSpPr>
          <a:xfrm rot="0">
            <a:off x="1865376" y="6761988"/>
            <a:ext cx="6803136" cy="850392"/>
            <a:chOff x="0" y="0"/>
            <a:chExt cx="9070848" cy="1133856"/>
          </a:xfrm>
        </p:grpSpPr>
        <p:sp>
          <p:nvSpPr>
            <p:cNvPr name="Freeform 59" id="59"/>
            <p:cNvSpPr/>
            <p:nvPr/>
          </p:nvSpPr>
          <p:spPr>
            <a:xfrm flipH="false" flipV="false" rot="0">
              <a:off x="0" y="0"/>
              <a:ext cx="9070848" cy="1133856"/>
            </a:xfrm>
            <a:custGeom>
              <a:avLst/>
              <a:gdLst/>
              <a:ahLst/>
              <a:cxnLst/>
              <a:rect r="r" b="b" t="t" l="l"/>
              <a:pathLst>
                <a:path h="1133856" w="9070848">
                  <a:moveTo>
                    <a:pt x="0" y="0"/>
                  </a:moveTo>
                  <a:lnTo>
                    <a:pt x="9070848" y="0"/>
                  </a:lnTo>
                  <a:lnTo>
                    <a:pt x="9070848" y="1133856"/>
                  </a:lnTo>
                  <a:lnTo>
                    <a:pt x="0" y="1133856"/>
                  </a:lnTo>
                  <a:close/>
                </a:path>
              </a:pathLst>
            </a:custGeom>
            <a:blipFill>
              <a:blip r:embed="rId3">
                <a:alphaModFix amt="0"/>
              </a:blip>
              <a:stretch>
                <a:fillRect l="0" t="-105880" r="0" b="-105880"/>
              </a:stretch>
            </a:blipFill>
          </p:spPr>
        </p:sp>
        <p:sp>
          <p:nvSpPr>
            <p:cNvPr name="TextBox 60" id="60"/>
            <p:cNvSpPr txBox="true"/>
            <p:nvPr/>
          </p:nvSpPr>
          <p:spPr>
            <a:xfrm>
              <a:off x="0" y="-9525"/>
              <a:ext cx="9070848"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No OCR of scanned reports; no real hospital or insurer integration</a:t>
              </a:r>
            </a:p>
          </p:txBody>
        </p:sp>
      </p:grpSp>
      <p:grpSp>
        <p:nvGrpSpPr>
          <p:cNvPr name="Group 61" id="61"/>
          <p:cNvGrpSpPr/>
          <p:nvPr/>
        </p:nvGrpSpPr>
        <p:grpSpPr>
          <a:xfrm rot="0">
            <a:off x="9687687" y="6958203"/>
            <a:ext cx="224790" cy="224790"/>
            <a:chOff x="0" y="0"/>
            <a:chExt cx="299720" cy="299720"/>
          </a:xfrm>
        </p:grpSpPr>
        <p:sp>
          <p:nvSpPr>
            <p:cNvPr name="Freeform 62" id="62"/>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08E86"/>
            </a:solidFill>
          </p:spPr>
        </p:sp>
      </p:grpSp>
      <p:grpSp>
        <p:nvGrpSpPr>
          <p:cNvPr name="Group 63" id="63"/>
          <p:cNvGrpSpPr/>
          <p:nvPr/>
        </p:nvGrpSpPr>
        <p:grpSpPr>
          <a:xfrm rot="0">
            <a:off x="10163556" y="6761988"/>
            <a:ext cx="6761988" cy="850392"/>
            <a:chOff x="0" y="0"/>
            <a:chExt cx="9015984" cy="1133856"/>
          </a:xfrm>
        </p:grpSpPr>
        <p:sp>
          <p:nvSpPr>
            <p:cNvPr name="Freeform 64" id="64"/>
            <p:cNvSpPr/>
            <p:nvPr/>
          </p:nvSpPr>
          <p:spPr>
            <a:xfrm flipH="false" flipV="false" rot="0">
              <a:off x="0" y="0"/>
              <a:ext cx="9015984" cy="1133856"/>
            </a:xfrm>
            <a:custGeom>
              <a:avLst/>
              <a:gdLst/>
              <a:ahLst/>
              <a:cxnLst/>
              <a:rect r="r" b="b" t="t" l="l"/>
              <a:pathLst>
                <a:path h="1133856" w="9015984">
                  <a:moveTo>
                    <a:pt x="0" y="0"/>
                  </a:moveTo>
                  <a:lnTo>
                    <a:pt x="9015984" y="0"/>
                  </a:lnTo>
                  <a:lnTo>
                    <a:pt x="9015984" y="1133856"/>
                  </a:lnTo>
                  <a:lnTo>
                    <a:pt x="0" y="1133856"/>
                  </a:lnTo>
                  <a:close/>
                </a:path>
              </a:pathLst>
            </a:custGeom>
            <a:blipFill>
              <a:blip r:embed="rId3">
                <a:alphaModFix amt="0"/>
              </a:blip>
              <a:stretch>
                <a:fillRect l="0" t="-104937" r="0" b="-104937"/>
              </a:stretch>
            </a:blipFill>
          </p:spPr>
        </p:sp>
        <p:sp>
          <p:nvSpPr>
            <p:cNvPr name="TextBox 65" id="65"/>
            <p:cNvSpPr txBox="true"/>
            <p:nvPr/>
          </p:nvSpPr>
          <p:spPr>
            <a:xfrm>
              <a:off x="0" y="-9525"/>
              <a:ext cx="9015984"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Fraud-pattern agent that looks across many claims</a:t>
              </a:r>
            </a:p>
          </p:txBody>
        </p:sp>
      </p:grpSp>
      <p:sp>
        <p:nvSpPr>
          <p:cNvPr name="AutoShape 66" id="66"/>
          <p:cNvSpPr/>
          <p:nvPr/>
        </p:nvSpPr>
        <p:spPr>
          <a:xfrm rot="6300">
            <a:off x="1392355" y="7758494"/>
            <a:ext cx="7269109" cy="0"/>
          </a:xfrm>
          <a:prstGeom prst="line">
            <a:avLst/>
          </a:prstGeom>
          <a:ln cap="rnd" w="9525">
            <a:solidFill>
              <a:srgbClr val="EDF0F1"/>
            </a:solidFill>
            <a:prstDash val="solid"/>
            <a:headEnd type="none" len="sm" w="sm"/>
            <a:tailEnd type="none" len="sm" w="sm"/>
          </a:ln>
        </p:spPr>
      </p:sp>
      <p:sp>
        <p:nvSpPr>
          <p:cNvPr name="AutoShape 67" id="67"/>
          <p:cNvSpPr/>
          <p:nvPr/>
        </p:nvSpPr>
        <p:spPr>
          <a:xfrm rot="6360">
            <a:off x="9676819" y="7758494"/>
            <a:ext cx="7214245" cy="0"/>
          </a:xfrm>
          <a:prstGeom prst="line">
            <a:avLst/>
          </a:prstGeom>
          <a:ln cap="rnd" w="9525">
            <a:solidFill>
              <a:srgbClr val="EDF0F1"/>
            </a:solidFill>
            <a:prstDash val="solid"/>
            <a:headEnd type="none" len="sm" w="sm"/>
            <a:tailEnd type="none" len="sm" w="sm"/>
          </a:ln>
        </p:spPr>
      </p:sp>
      <p:grpSp>
        <p:nvGrpSpPr>
          <p:cNvPr name="Group 68" id="68"/>
          <p:cNvGrpSpPr/>
          <p:nvPr/>
        </p:nvGrpSpPr>
        <p:grpSpPr>
          <a:xfrm rot="0">
            <a:off x="1389507" y="8082915"/>
            <a:ext cx="224790" cy="224790"/>
            <a:chOff x="0" y="0"/>
            <a:chExt cx="299720" cy="299720"/>
          </a:xfrm>
        </p:grpSpPr>
        <p:sp>
          <p:nvSpPr>
            <p:cNvPr name="Freeform 69" id="69"/>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EE6A59"/>
            </a:solidFill>
          </p:spPr>
        </p:sp>
      </p:grpSp>
      <p:grpSp>
        <p:nvGrpSpPr>
          <p:cNvPr name="Group 70" id="70"/>
          <p:cNvGrpSpPr/>
          <p:nvPr/>
        </p:nvGrpSpPr>
        <p:grpSpPr>
          <a:xfrm rot="0">
            <a:off x="1865376" y="7886700"/>
            <a:ext cx="6803136" cy="850392"/>
            <a:chOff x="0" y="0"/>
            <a:chExt cx="9070848" cy="1133856"/>
          </a:xfrm>
        </p:grpSpPr>
        <p:sp>
          <p:nvSpPr>
            <p:cNvPr name="Freeform 71" id="71"/>
            <p:cNvSpPr/>
            <p:nvPr/>
          </p:nvSpPr>
          <p:spPr>
            <a:xfrm flipH="false" flipV="false" rot="0">
              <a:off x="0" y="0"/>
              <a:ext cx="9070848" cy="1133856"/>
            </a:xfrm>
            <a:custGeom>
              <a:avLst/>
              <a:gdLst/>
              <a:ahLst/>
              <a:cxnLst/>
              <a:rect r="r" b="b" t="t" l="l"/>
              <a:pathLst>
                <a:path h="1133856" w="9070848">
                  <a:moveTo>
                    <a:pt x="0" y="0"/>
                  </a:moveTo>
                  <a:lnTo>
                    <a:pt x="9070848" y="0"/>
                  </a:lnTo>
                  <a:lnTo>
                    <a:pt x="9070848" y="1133856"/>
                  </a:lnTo>
                  <a:lnTo>
                    <a:pt x="0" y="1133856"/>
                  </a:lnTo>
                  <a:close/>
                </a:path>
              </a:pathLst>
            </a:custGeom>
            <a:blipFill>
              <a:blip r:embed="rId3">
                <a:alphaModFix amt="0"/>
              </a:blip>
              <a:stretch>
                <a:fillRect l="0" t="-105880" r="0" b="-105880"/>
              </a:stretch>
            </a:blipFill>
          </p:spPr>
        </p:sp>
        <p:sp>
          <p:nvSpPr>
            <p:cNvPr name="TextBox 72" id="72"/>
            <p:cNvSpPr txBox="true"/>
            <p:nvPr/>
          </p:nvSpPr>
          <p:spPr>
            <a:xfrm>
              <a:off x="0" y="-9525"/>
              <a:ext cx="9070848"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Decides on the estimate only; final bill settlement is out of scope</a:t>
              </a:r>
            </a:p>
          </p:txBody>
        </p:sp>
      </p:grpSp>
      <p:grpSp>
        <p:nvGrpSpPr>
          <p:cNvPr name="Group 73" id="73"/>
          <p:cNvGrpSpPr/>
          <p:nvPr/>
        </p:nvGrpSpPr>
        <p:grpSpPr>
          <a:xfrm rot="0">
            <a:off x="9687687" y="8082915"/>
            <a:ext cx="224790" cy="224790"/>
            <a:chOff x="0" y="0"/>
            <a:chExt cx="299720" cy="299720"/>
          </a:xfrm>
        </p:grpSpPr>
        <p:sp>
          <p:nvSpPr>
            <p:cNvPr name="Freeform 74" id="74"/>
            <p:cNvSpPr/>
            <p:nvPr/>
          </p:nvSpPr>
          <p:spPr>
            <a:xfrm flipH="false" flipV="false" rot="0">
              <a:off x="0" y="0"/>
              <a:ext cx="299720" cy="299720"/>
            </a:xfrm>
            <a:custGeom>
              <a:avLst/>
              <a:gdLst/>
              <a:ahLst/>
              <a:cxnLst/>
              <a:rect r="r" b="b" t="t" l="l"/>
              <a:pathLst>
                <a:path h="299720" w="299720">
                  <a:moveTo>
                    <a:pt x="0" y="149860"/>
                  </a:moveTo>
                  <a:cubicBezTo>
                    <a:pt x="0" y="67056"/>
                    <a:pt x="67056" y="0"/>
                    <a:pt x="149860" y="0"/>
                  </a:cubicBezTo>
                  <a:cubicBezTo>
                    <a:pt x="232664" y="0"/>
                    <a:pt x="299720" y="67056"/>
                    <a:pt x="299720" y="149860"/>
                  </a:cubicBezTo>
                  <a:cubicBezTo>
                    <a:pt x="299720" y="232664"/>
                    <a:pt x="232664" y="299720"/>
                    <a:pt x="149860" y="299720"/>
                  </a:cubicBezTo>
                  <a:cubicBezTo>
                    <a:pt x="67056" y="299720"/>
                    <a:pt x="0" y="232664"/>
                    <a:pt x="0" y="149860"/>
                  </a:cubicBezTo>
                  <a:close/>
                </a:path>
              </a:pathLst>
            </a:custGeom>
            <a:solidFill>
              <a:srgbClr val="008E86"/>
            </a:solidFill>
          </p:spPr>
        </p:sp>
      </p:grpSp>
      <p:grpSp>
        <p:nvGrpSpPr>
          <p:cNvPr name="Group 75" id="75"/>
          <p:cNvGrpSpPr/>
          <p:nvPr/>
        </p:nvGrpSpPr>
        <p:grpSpPr>
          <a:xfrm rot="0">
            <a:off x="10163556" y="7886700"/>
            <a:ext cx="6761988" cy="850392"/>
            <a:chOff x="0" y="0"/>
            <a:chExt cx="9015984" cy="1133856"/>
          </a:xfrm>
        </p:grpSpPr>
        <p:sp>
          <p:nvSpPr>
            <p:cNvPr name="Freeform 76" id="76"/>
            <p:cNvSpPr/>
            <p:nvPr/>
          </p:nvSpPr>
          <p:spPr>
            <a:xfrm flipH="false" flipV="false" rot="0">
              <a:off x="0" y="0"/>
              <a:ext cx="9015984" cy="1133856"/>
            </a:xfrm>
            <a:custGeom>
              <a:avLst/>
              <a:gdLst/>
              <a:ahLst/>
              <a:cxnLst/>
              <a:rect r="r" b="b" t="t" l="l"/>
              <a:pathLst>
                <a:path h="1133856" w="9015984">
                  <a:moveTo>
                    <a:pt x="0" y="0"/>
                  </a:moveTo>
                  <a:lnTo>
                    <a:pt x="9015984" y="0"/>
                  </a:lnTo>
                  <a:lnTo>
                    <a:pt x="9015984" y="1133856"/>
                  </a:lnTo>
                  <a:lnTo>
                    <a:pt x="0" y="1133856"/>
                  </a:lnTo>
                  <a:close/>
                </a:path>
              </a:pathLst>
            </a:custGeom>
            <a:blipFill>
              <a:blip r:embed="rId3">
                <a:alphaModFix amt="0"/>
              </a:blip>
              <a:stretch>
                <a:fillRect l="0" t="-104937" r="0" b="-104937"/>
              </a:stretch>
            </a:blipFill>
          </p:spPr>
        </p:sp>
        <p:sp>
          <p:nvSpPr>
            <p:cNvPr name="TextBox 77" id="77"/>
            <p:cNvSpPr txBox="true"/>
            <p:nvPr/>
          </p:nvSpPr>
          <p:spPr>
            <a:xfrm>
              <a:off x="0" y="-9525"/>
              <a:ext cx="9015984" cy="1143381"/>
            </a:xfrm>
            <a:prstGeom prst="rect">
              <a:avLst/>
            </a:prstGeom>
          </p:spPr>
          <p:txBody>
            <a:bodyPr anchor="ctr" rtlCol="false" tIns="0" lIns="0" bIns="0" rIns="0"/>
            <a:lstStyle/>
            <a:p>
              <a:pPr algn="l">
                <a:lnSpc>
                  <a:spcPts val="2330"/>
                </a:lnSpc>
              </a:pPr>
              <a:r>
                <a:rPr lang="en-US" sz="1942">
                  <a:solidFill>
                    <a:srgbClr val="101E2B"/>
                  </a:solidFill>
                  <a:latin typeface="Inter"/>
                  <a:ea typeface="Inter"/>
                  <a:cs typeface="Inter"/>
                  <a:sym typeface="Inter"/>
                </a:rPr>
                <a:t>Learn from medical-officer overrides; status updates to patients</a:t>
              </a:r>
            </a:p>
          </p:txBody>
        </p:sp>
      </p:grpSp>
      <p:grpSp>
        <p:nvGrpSpPr>
          <p:cNvPr name="Group 78" id="78"/>
          <p:cNvGrpSpPr/>
          <p:nvPr/>
        </p:nvGrpSpPr>
        <p:grpSpPr>
          <a:xfrm rot="0">
            <a:off x="946404" y="9758934"/>
            <a:ext cx="9601200" cy="260604"/>
            <a:chOff x="0" y="0"/>
            <a:chExt cx="12801600" cy="347472"/>
          </a:xfrm>
        </p:grpSpPr>
        <p:sp>
          <p:nvSpPr>
            <p:cNvPr name="Freeform 79" id="79"/>
            <p:cNvSpPr/>
            <p:nvPr/>
          </p:nvSpPr>
          <p:spPr>
            <a:xfrm flipH="false" flipV="false" rot="0">
              <a:off x="0" y="0"/>
              <a:ext cx="12801600" cy="347472"/>
            </a:xfrm>
            <a:custGeom>
              <a:avLst/>
              <a:gdLst/>
              <a:ahLst/>
              <a:cxnLst/>
              <a:rect r="r" b="b" t="t" l="l"/>
              <a:pathLst>
                <a:path h="347472" w="12801600">
                  <a:moveTo>
                    <a:pt x="0" y="0"/>
                  </a:moveTo>
                  <a:lnTo>
                    <a:pt x="12801600" y="0"/>
                  </a:lnTo>
                  <a:lnTo>
                    <a:pt x="12801600" y="347472"/>
                  </a:lnTo>
                  <a:lnTo>
                    <a:pt x="0" y="347472"/>
                  </a:lnTo>
                  <a:close/>
                </a:path>
              </a:pathLst>
            </a:custGeom>
            <a:blipFill>
              <a:blip r:embed="rId3">
                <a:alphaModFix amt="0"/>
              </a:blip>
              <a:stretch>
                <a:fillRect l="0" t="-667869" r="0" b="-667869"/>
              </a:stretch>
            </a:blipFill>
          </p:spPr>
        </p:sp>
        <p:sp>
          <p:nvSpPr>
            <p:cNvPr name="TextBox 80" id="80"/>
            <p:cNvSpPr txBox="true"/>
            <p:nvPr/>
          </p:nvSpPr>
          <p:spPr>
            <a:xfrm>
              <a:off x="0" y="9525"/>
              <a:ext cx="12801600" cy="337947"/>
            </a:xfrm>
            <a:prstGeom prst="rect">
              <a:avLst/>
            </a:prstGeom>
          </p:spPr>
          <p:txBody>
            <a:bodyPr anchor="ctr" rtlCol="false" tIns="0" lIns="0" bIns="0" rIns="0"/>
            <a:lstStyle/>
            <a:p>
              <a:pPr algn="l">
                <a:lnSpc>
                  <a:spcPts val="1494"/>
                </a:lnSpc>
              </a:pPr>
              <a:r>
                <a:rPr lang="en-US" sz="1245" spc="52">
                  <a:solidFill>
                    <a:srgbClr val="80909A"/>
                  </a:solidFill>
                  <a:latin typeface="Inter"/>
                  <a:ea typeface="Inter"/>
                  <a:cs typeface="Inter"/>
                  <a:sym typeface="Inter"/>
                </a:rPr>
                <a:t>ClaimPilot · CA-3 Agentic AI PoC</a:t>
              </a:r>
            </a:p>
          </p:txBody>
        </p:sp>
      </p:grpSp>
      <p:grpSp>
        <p:nvGrpSpPr>
          <p:cNvPr name="Group 81" id="81"/>
          <p:cNvGrpSpPr/>
          <p:nvPr/>
        </p:nvGrpSpPr>
        <p:grpSpPr>
          <a:xfrm rot="0">
            <a:off x="16733520" y="9745218"/>
            <a:ext cx="548640" cy="301752"/>
            <a:chOff x="0" y="0"/>
            <a:chExt cx="731520" cy="402336"/>
          </a:xfrm>
        </p:grpSpPr>
        <p:sp>
          <p:nvSpPr>
            <p:cNvPr name="Freeform 82" id="82"/>
            <p:cNvSpPr/>
            <p:nvPr/>
          </p:nvSpPr>
          <p:spPr>
            <a:xfrm flipH="false" flipV="false" rot="0">
              <a:off x="0" y="0"/>
              <a:ext cx="731520" cy="402336"/>
            </a:xfrm>
            <a:custGeom>
              <a:avLst/>
              <a:gdLst/>
              <a:ahLst/>
              <a:cxnLst/>
              <a:rect r="r" b="b" t="t" l="l"/>
              <a:pathLst>
                <a:path h="402336" w="731520">
                  <a:moveTo>
                    <a:pt x="0" y="0"/>
                  </a:moveTo>
                  <a:lnTo>
                    <a:pt x="731520" y="0"/>
                  </a:lnTo>
                  <a:lnTo>
                    <a:pt x="731520" y="402336"/>
                  </a:lnTo>
                  <a:lnTo>
                    <a:pt x="0" y="402336"/>
                  </a:lnTo>
                  <a:close/>
                </a:path>
              </a:pathLst>
            </a:custGeom>
            <a:blipFill>
              <a:blip r:embed="rId3">
                <a:alphaModFix amt="0"/>
              </a:blip>
              <a:stretch>
                <a:fillRect l="-20566" t="0" r="-20566" b="0"/>
              </a:stretch>
            </a:blipFill>
          </p:spPr>
        </p:sp>
        <p:sp>
          <p:nvSpPr>
            <p:cNvPr name="TextBox 83" id="83"/>
            <p:cNvSpPr txBox="true"/>
            <p:nvPr/>
          </p:nvSpPr>
          <p:spPr>
            <a:xfrm>
              <a:off x="0" y="-9525"/>
              <a:ext cx="731520" cy="411861"/>
            </a:xfrm>
            <a:prstGeom prst="rect">
              <a:avLst/>
            </a:prstGeom>
          </p:spPr>
          <p:txBody>
            <a:bodyPr anchor="ctr" rtlCol="false" tIns="0" lIns="0" bIns="0" rIns="0"/>
            <a:lstStyle/>
            <a:p>
              <a:pPr algn="r">
                <a:lnSpc>
                  <a:spcPts val="1709"/>
                </a:lnSpc>
              </a:pPr>
              <a:r>
                <a:rPr lang="en-US" sz="1425" b="true">
                  <a:solidFill>
                    <a:srgbClr val="80909A"/>
                  </a:solidFill>
                  <a:latin typeface="Inter Bold"/>
                  <a:ea typeface="Inter Bold"/>
                  <a:cs typeface="Inter Bold"/>
                  <a:sym typeface="Inter Bold"/>
                </a:rPr>
                <a:t>12</a:t>
              </a:r>
            </a:p>
          </p:txBody>
        </p:sp>
      </p:grpSp>
      <p:sp>
        <p:nvSpPr>
          <p:cNvPr name="Freeform 84" id="84"/>
          <p:cNvSpPr/>
          <p:nvPr/>
        </p:nvSpPr>
        <p:spPr>
          <a:xfrm flipH="false" flipV="false" rot="-10800000">
            <a:off x="13445461" y="-5126497"/>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826"/>
        </a:solidFill>
      </p:bgPr>
    </p:bg>
    <p:spTree>
      <p:nvGrpSpPr>
        <p:cNvPr id="1" name=""/>
        <p:cNvGrpSpPr/>
        <p:nvPr/>
      </p:nvGrpSpPr>
      <p:grpSpPr>
        <a:xfrm>
          <a:off x="0" y="0"/>
          <a:ext cx="0" cy="0"/>
          <a:chOff x="0" y="0"/>
          <a:chExt cx="0" cy="0"/>
        </a:xfrm>
      </p:grpSpPr>
      <p:sp>
        <p:nvSpPr>
          <p:cNvPr name="AutoShape 2" id="2"/>
          <p:cNvSpPr/>
          <p:nvPr/>
        </p:nvSpPr>
        <p:spPr>
          <a:xfrm rot="5391900">
            <a:off x="10123065" y="3170492"/>
            <a:ext cx="5265630" cy="0"/>
          </a:xfrm>
          <a:prstGeom prst="line">
            <a:avLst/>
          </a:prstGeom>
          <a:ln cap="rnd" w="9525">
            <a:solidFill>
              <a:srgbClr val="21394C"/>
            </a:solidFill>
            <a:prstDash val="solid"/>
            <a:headEnd type="none" len="sm" w="sm"/>
            <a:tailEnd type="none" len="sm" w="sm"/>
          </a:ln>
        </p:spPr>
      </p:sp>
      <p:sp>
        <p:nvSpPr>
          <p:cNvPr name="AutoShape 3" id="3"/>
          <p:cNvSpPr/>
          <p:nvPr/>
        </p:nvSpPr>
        <p:spPr>
          <a:xfrm rot="5391900">
            <a:off x="10754001" y="3170492"/>
            <a:ext cx="5265630" cy="0"/>
          </a:xfrm>
          <a:prstGeom prst="line">
            <a:avLst/>
          </a:prstGeom>
          <a:ln cap="rnd" w="9525">
            <a:solidFill>
              <a:srgbClr val="21394C"/>
            </a:solidFill>
            <a:prstDash val="solid"/>
            <a:headEnd type="none" len="sm" w="sm"/>
            <a:tailEnd type="none" len="sm" w="sm"/>
          </a:ln>
        </p:spPr>
      </p:sp>
      <p:sp>
        <p:nvSpPr>
          <p:cNvPr name="AutoShape 4" id="4"/>
          <p:cNvSpPr/>
          <p:nvPr/>
        </p:nvSpPr>
        <p:spPr>
          <a:xfrm rot="5391900">
            <a:off x="11384937" y="3170492"/>
            <a:ext cx="5265630" cy="0"/>
          </a:xfrm>
          <a:prstGeom prst="line">
            <a:avLst/>
          </a:prstGeom>
          <a:ln cap="rnd" w="9525">
            <a:solidFill>
              <a:srgbClr val="21394C"/>
            </a:solidFill>
            <a:prstDash val="solid"/>
            <a:headEnd type="none" len="sm" w="sm"/>
            <a:tailEnd type="none" len="sm" w="sm"/>
          </a:ln>
        </p:spPr>
      </p:sp>
      <p:sp>
        <p:nvSpPr>
          <p:cNvPr name="AutoShape 5" id="5"/>
          <p:cNvSpPr/>
          <p:nvPr/>
        </p:nvSpPr>
        <p:spPr>
          <a:xfrm rot="5391900">
            <a:off x="12015873" y="3170492"/>
            <a:ext cx="5265630" cy="0"/>
          </a:xfrm>
          <a:prstGeom prst="line">
            <a:avLst/>
          </a:prstGeom>
          <a:ln cap="rnd" w="9525">
            <a:solidFill>
              <a:srgbClr val="21394C"/>
            </a:solidFill>
            <a:prstDash val="solid"/>
            <a:headEnd type="none" len="sm" w="sm"/>
            <a:tailEnd type="none" len="sm" w="sm"/>
          </a:ln>
        </p:spPr>
      </p:sp>
      <p:sp>
        <p:nvSpPr>
          <p:cNvPr name="AutoShape 6" id="6"/>
          <p:cNvSpPr/>
          <p:nvPr/>
        </p:nvSpPr>
        <p:spPr>
          <a:xfrm rot="5391900">
            <a:off x="12646809" y="3170492"/>
            <a:ext cx="5265630" cy="0"/>
          </a:xfrm>
          <a:prstGeom prst="line">
            <a:avLst/>
          </a:prstGeom>
          <a:ln cap="rnd" w="9525">
            <a:solidFill>
              <a:srgbClr val="21394C"/>
            </a:solidFill>
            <a:prstDash val="solid"/>
            <a:headEnd type="none" len="sm" w="sm"/>
            <a:tailEnd type="none" len="sm" w="sm"/>
          </a:ln>
        </p:spPr>
      </p:sp>
      <p:sp>
        <p:nvSpPr>
          <p:cNvPr name="AutoShape 7" id="7"/>
          <p:cNvSpPr/>
          <p:nvPr/>
        </p:nvSpPr>
        <p:spPr>
          <a:xfrm rot="5391900">
            <a:off x="13277745" y="3170492"/>
            <a:ext cx="5265630" cy="0"/>
          </a:xfrm>
          <a:prstGeom prst="line">
            <a:avLst/>
          </a:prstGeom>
          <a:ln cap="rnd" w="9525">
            <a:solidFill>
              <a:srgbClr val="21394C"/>
            </a:solidFill>
            <a:prstDash val="solid"/>
            <a:headEnd type="none" len="sm" w="sm"/>
            <a:tailEnd type="none" len="sm" w="sm"/>
          </a:ln>
        </p:spPr>
      </p:sp>
      <p:sp>
        <p:nvSpPr>
          <p:cNvPr name="AutoShape 8" id="8"/>
          <p:cNvSpPr/>
          <p:nvPr/>
        </p:nvSpPr>
        <p:spPr>
          <a:xfrm rot="5391900">
            <a:off x="13908681" y="3170492"/>
            <a:ext cx="5265630" cy="0"/>
          </a:xfrm>
          <a:prstGeom prst="line">
            <a:avLst/>
          </a:prstGeom>
          <a:ln cap="rnd" w="9525">
            <a:solidFill>
              <a:srgbClr val="21394C"/>
            </a:solidFill>
            <a:prstDash val="solid"/>
            <a:headEnd type="none" len="sm" w="sm"/>
            <a:tailEnd type="none" len="sm" w="sm"/>
          </a:ln>
        </p:spPr>
      </p:sp>
      <p:sp>
        <p:nvSpPr>
          <p:cNvPr name="AutoShape 9" id="9"/>
          <p:cNvSpPr/>
          <p:nvPr/>
        </p:nvSpPr>
        <p:spPr>
          <a:xfrm rot="7920">
            <a:off x="12612519" y="681038"/>
            <a:ext cx="5361642" cy="0"/>
          </a:xfrm>
          <a:prstGeom prst="line">
            <a:avLst/>
          </a:prstGeom>
          <a:ln cap="rnd" w="9525">
            <a:solidFill>
              <a:srgbClr val="21394C"/>
            </a:solidFill>
            <a:prstDash val="solid"/>
            <a:headEnd type="none" len="sm" w="sm"/>
            <a:tailEnd type="none" len="sm" w="sm"/>
          </a:ln>
        </p:spPr>
      </p:sp>
      <p:sp>
        <p:nvSpPr>
          <p:cNvPr name="AutoShape 10" id="10"/>
          <p:cNvSpPr/>
          <p:nvPr/>
        </p:nvSpPr>
        <p:spPr>
          <a:xfrm rot="7920">
            <a:off x="12612519" y="1435418"/>
            <a:ext cx="5361642" cy="0"/>
          </a:xfrm>
          <a:prstGeom prst="line">
            <a:avLst/>
          </a:prstGeom>
          <a:ln cap="rnd" w="9525">
            <a:solidFill>
              <a:srgbClr val="21394C"/>
            </a:solidFill>
            <a:prstDash val="solid"/>
            <a:headEnd type="none" len="sm" w="sm"/>
            <a:tailEnd type="none" len="sm" w="sm"/>
          </a:ln>
        </p:spPr>
      </p:sp>
      <p:sp>
        <p:nvSpPr>
          <p:cNvPr name="AutoShape 11" id="11"/>
          <p:cNvSpPr/>
          <p:nvPr/>
        </p:nvSpPr>
        <p:spPr>
          <a:xfrm rot="7920">
            <a:off x="12612519" y="2189798"/>
            <a:ext cx="5361642" cy="0"/>
          </a:xfrm>
          <a:prstGeom prst="line">
            <a:avLst/>
          </a:prstGeom>
          <a:ln cap="rnd" w="9525">
            <a:solidFill>
              <a:srgbClr val="21394C"/>
            </a:solidFill>
            <a:prstDash val="solid"/>
            <a:headEnd type="none" len="sm" w="sm"/>
            <a:tailEnd type="none" len="sm" w="sm"/>
          </a:ln>
        </p:spPr>
      </p:sp>
      <p:sp>
        <p:nvSpPr>
          <p:cNvPr name="AutoShape 12" id="12"/>
          <p:cNvSpPr/>
          <p:nvPr/>
        </p:nvSpPr>
        <p:spPr>
          <a:xfrm rot="7920">
            <a:off x="12612519" y="2944178"/>
            <a:ext cx="5361642" cy="0"/>
          </a:xfrm>
          <a:prstGeom prst="line">
            <a:avLst/>
          </a:prstGeom>
          <a:ln cap="rnd" w="9525">
            <a:solidFill>
              <a:srgbClr val="21394C"/>
            </a:solidFill>
            <a:prstDash val="solid"/>
            <a:headEnd type="none" len="sm" w="sm"/>
            <a:tailEnd type="none" len="sm" w="sm"/>
          </a:ln>
        </p:spPr>
      </p:sp>
      <p:sp>
        <p:nvSpPr>
          <p:cNvPr name="AutoShape 13" id="13"/>
          <p:cNvSpPr/>
          <p:nvPr/>
        </p:nvSpPr>
        <p:spPr>
          <a:xfrm rot="7920">
            <a:off x="12612519" y="3698558"/>
            <a:ext cx="5361642" cy="0"/>
          </a:xfrm>
          <a:prstGeom prst="line">
            <a:avLst/>
          </a:prstGeom>
          <a:ln cap="rnd" w="9525">
            <a:solidFill>
              <a:srgbClr val="21394C"/>
            </a:solidFill>
            <a:prstDash val="solid"/>
            <a:headEnd type="none" len="sm" w="sm"/>
            <a:tailEnd type="none" len="sm" w="sm"/>
          </a:ln>
        </p:spPr>
      </p:sp>
      <p:sp>
        <p:nvSpPr>
          <p:cNvPr name="AutoShape 14" id="14"/>
          <p:cNvSpPr/>
          <p:nvPr/>
        </p:nvSpPr>
        <p:spPr>
          <a:xfrm rot="7920">
            <a:off x="12612519" y="4452938"/>
            <a:ext cx="5361642" cy="0"/>
          </a:xfrm>
          <a:prstGeom prst="line">
            <a:avLst/>
          </a:prstGeom>
          <a:ln cap="rnd" w="9525">
            <a:solidFill>
              <a:srgbClr val="21394C"/>
            </a:solidFill>
            <a:prstDash val="solid"/>
            <a:headEnd type="none" len="sm" w="sm"/>
            <a:tailEnd type="none" len="sm" w="sm"/>
          </a:ln>
        </p:spPr>
      </p:sp>
      <p:grpSp>
        <p:nvGrpSpPr>
          <p:cNvPr name="Group 15" id="15"/>
          <p:cNvGrpSpPr/>
          <p:nvPr/>
        </p:nvGrpSpPr>
        <p:grpSpPr>
          <a:xfrm rot="0">
            <a:off x="1074039" y="1060323"/>
            <a:ext cx="512826" cy="94488"/>
            <a:chOff x="0" y="0"/>
            <a:chExt cx="683768" cy="125984"/>
          </a:xfrm>
        </p:grpSpPr>
        <p:sp>
          <p:nvSpPr>
            <p:cNvPr name="Freeform 16" id="16"/>
            <p:cNvSpPr/>
            <p:nvPr/>
          </p:nvSpPr>
          <p:spPr>
            <a:xfrm flipH="false" flipV="false" rot="0">
              <a:off x="0" y="0"/>
              <a:ext cx="683768" cy="125984"/>
            </a:xfrm>
            <a:custGeom>
              <a:avLst/>
              <a:gdLst/>
              <a:ahLst/>
              <a:cxnLst/>
              <a:rect r="r" b="b" t="t" l="l"/>
              <a:pathLst>
                <a:path h="125984" w="683768">
                  <a:moveTo>
                    <a:pt x="0" y="0"/>
                  </a:moveTo>
                  <a:lnTo>
                    <a:pt x="683768" y="0"/>
                  </a:lnTo>
                  <a:lnTo>
                    <a:pt x="683768" y="125984"/>
                  </a:lnTo>
                  <a:lnTo>
                    <a:pt x="0" y="125984"/>
                  </a:lnTo>
                  <a:close/>
                </a:path>
              </a:pathLst>
            </a:custGeom>
            <a:solidFill>
              <a:srgbClr val="BAF389"/>
            </a:solidFill>
          </p:spPr>
        </p:sp>
      </p:grpSp>
      <p:grpSp>
        <p:nvGrpSpPr>
          <p:cNvPr name="Group 17" id="17"/>
          <p:cNvGrpSpPr/>
          <p:nvPr/>
        </p:nvGrpSpPr>
        <p:grpSpPr>
          <a:xfrm rot="0">
            <a:off x="1069848" y="1975104"/>
            <a:ext cx="13167360" cy="1481328"/>
            <a:chOff x="0" y="0"/>
            <a:chExt cx="17556480" cy="1975104"/>
          </a:xfrm>
        </p:grpSpPr>
        <p:sp>
          <p:nvSpPr>
            <p:cNvPr name="Freeform 18" id="18"/>
            <p:cNvSpPr/>
            <p:nvPr/>
          </p:nvSpPr>
          <p:spPr>
            <a:xfrm flipH="false" flipV="false" rot="0">
              <a:off x="0" y="0"/>
              <a:ext cx="17556480" cy="1975104"/>
            </a:xfrm>
            <a:custGeom>
              <a:avLst/>
              <a:gdLst/>
              <a:ahLst/>
              <a:cxnLst/>
              <a:rect r="r" b="b" t="t" l="l"/>
              <a:pathLst>
                <a:path h="1975104" w="17556480">
                  <a:moveTo>
                    <a:pt x="0" y="0"/>
                  </a:moveTo>
                  <a:lnTo>
                    <a:pt x="17556480" y="0"/>
                  </a:lnTo>
                  <a:lnTo>
                    <a:pt x="17556480" y="1975104"/>
                  </a:lnTo>
                  <a:lnTo>
                    <a:pt x="0" y="1975104"/>
                  </a:lnTo>
                  <a:close/>
                </a:path>
              </a:pathLst>
            </a:custGeom>
            <a:blipFill>
              <a:blip r:embed="rId3">
                <a:alphaModFix amt="0"/>
              </a:blip>
              <a:stretch>
                <a:fillRect l="0" t="-123200" r="0" b="-123200"/>
              </a:stretch>
            </a:blipFill>
          </p:spPr>
        </p:sp>
        <p:sp>
          <p:nvSpPr>
            <p:cNvPr name="TextBox 19" id="19"/>
            <p:cNvSpPr txBox="true"/>
            <p:nvPr/>
          </p:nvSpPr>
          <p:spPr>
            <a:xfrm>
              <a:off x="0" y="0"/>
              <a:ext cx="17556480" cy="1975104"/>
            </a:xfrm>
            <a:prstGeom prst="rect">
              <a:avLst/>
            </a:prstGeom>
          </p:spPr>
          <p:txBody>
            <a:bodyPr anchor="ctr" rtlCol="false" tIns="0" lIns="0" bIns="0" rIns="0"/>
            <a:lstStyle/>
            <a:p>
              <a:pPr algn="l">
                <a:lnSpc>
                  <a:spcPts val="11700"/>
                </a:lnSpc>
              </a:pPr>
              <a:r>
                <a:rPr lang="en-US" sz="9750" b="true">
                  <a:solidFill>
                    <a:srgbClr val="FFFFFF"/>
                  </a:solidFill>
                  <a:latin typeface="Inter Bold"/>
                  <a:ea typeface="Inter Bold"/>
                  <a:cs typeface="Inter Bold"/>
                  <a:sym typeface="Inter Bold"/>
                </a:rPr>
                <a:t>Thank you</a:t>
              </a:r>
            </a:p>
          </p:txBody>
        </p:sp>
      </p:grpSp>
      <p:grpSp>
        <p:nvGrpSpPr>
          <p:cNvPr name="Group 20" id="20"/>
          <p:cNvGrpSpPr/>
          <p:nvPr/>
        </p:nvGrpSpPr>
        <p:grpSpPr>
          <a:xfrm rot="0">
            <a:off x="1110996" y="3689604"/>
            <a:ext cx="12934188" cy="672084"/>
            <a:chOff x="0" y="0"/>
            <a:chExt cx="17245584" cy="896112"/>
          </a:xfrm>
        </p:grpSpPr>
        <p:sp>
          <p:nvSpPr>
            <p:cNvPr name="Freeform 21" id="21"/>
            <p:cNvSpPr/>
            <p:nvPr/>
          </p:nvSpPr>
          <p:spPr>
            <a:xfrm flipH="false" flipV="false" rot="0">
              <a:off x="0" y="0"/>
              <a:ext cx="17245585" cy="896112"/>
            </a:xfrm>
            <a:custGeom>
              <a:avLst/>
              <a:gdLst/>
              <a:ahLst/>
              <a:cxnLst/>
              <a:rect r="r" b="b" t="t" l="l"/>
              <a:pathLst>
                <a:path h="896112" w="17245585">
                  <a:moveTo>
                    <a:pt x="0" y="0"/>
                  </a:moveTo>
                  <a:lnTo>
                    <a:pt x="17245585" y="0"/>
                  </a:lnTo>
                  <a:lnTo>
                    <a:pt x="17245585" y="896112"/>
                  </a:lnTo>
                  <a:lnTo>
                    <a:pt x="0" y="896112"/>
                  </a:lnTo>
                  <a:close/>
                </a:path>
              </a:pathLst>
            </a:custGeom>
            <a:blipFill>
              <a:blip r:embed="rId3">
                <a:alphaModFix amt="0"/>
              </a:blip>
              <a:stretch>
                <a:fillRect l="0" t="-324987" r="0" b="-324987"/>
              </a:stretch>
            </a:blipFill>
          </p:spPr>
        </p:sp>
        <p:sp>
          <p:nvSpPr>
            <p:cNvPr name="TextBox 22" id="22"/>
            <p:cNvSpPr txBox="true"/>
            <p:nvPr/>
          </p:nvSpPr>
          <p:spPr>
            <a:xfrm>
              <a:off x="0" y="0"/>
              <a:ext cx="17245584" cy="896112"/>
            </a:xfrm>
            <a:prstGeom prst="rect">
              <a:avLst/>
            </a:prstGeom>
          </p:spPr>
          <p:txBody>
            <a:bodyPr anchor="ctr" rtlCol="false" tIns="0" lIns="0" bIns="0" rIns="0"/>
            <a:lstStyle/>
            <a:p>
              <a:pPr algn="l">
                <a:lnSpc>
                  <a:spcPts val="3240"/>
                </a:lnSpc>
              </a:pPr>
              <a:r>
                <a:rPr lang="en-US" sz="2700">
                  <a:solidFill>
                    <a:srgbClr val="D8E6EB"/>
                  </a:solidFill>
                  <a:latin typeface="Inter"/>
                  <a:ea typeface="Inter"/>
                  <a:cs typeface="Inter"/>
                  <a:sym typeface="Inter"/>
                </a:rPr>
                <a:t>Questions welcome. ClaimPilot: plan, read, research, execute, verify, decide.</a:t>
              </a:r>
            </a:p>
          </p:txBody>
        </p:sp>
      </p:grpSp>
      <p:grpSp>
        <p:nvGrpSpPr>
          <p:cNvPr name="Group 23" id="23"/>
          <p:cNvGrpSpPr/>
          <p:nvPr/>
        </p:nvGrpSpPr>
        <p:grpSpPr>
          <a:xfrm rot="0">
            <a:off x="1110996" y="4581144"/>
            <a:ext cx="12824460" cy="493776"/>
            <a:chOff x="0" y="0"/>
            <a:chExt cx="17099280" cy="658368"/>
          </a:xfrm>
        </p:grpSpPr>
        <p:sp>
          <p:nvSpPr>
            <p:cNvPr name="Freeform 24" id="24"/>
            <p:cNvSpPr/>
            <p:nvPr/>
          </p:nvSpPr>
          <p:spPr>
            <a:xfrm flipH="false" flipV="false" rot="0">
              <a:off x="0" y="0"/>
              <a:ext cx="17099280" cy="658368"/>
            </a:xfrm>
            <a:custGeom>
              <a:avLst/>
              <a:gdLst/>
              <a:ahLst/>
              <a:cxnLst/>
              <a:rect r="r" b="b" t="t" l="l"/>
              <a:pathLst>
                <a:path h="658368" w="17099280">
                  <a:moveTo>
                    <a:pt x="0" y="0"/>
                  </a:moveTo>
                  <a:lnTo>
                    <a:pt x="17099280" y="0"/>
                  </a:lnTo>
                  <a:lnTo>
                    <a:pt x="17099280" y="658368"/>
                  </a:lnTo>
                  <a:lnTo>
                    <a:pt x="0" y="658368"/>
                  </a:lnTo>
                  <a:close/>
                </a:path>
              </a:pathLst>
            </a:custGeom>
            <a:blipFill>
              <a:blip r:embed="rId3">
                <a:alphaModFix amt="0"/>
              </a:blip>
              <a:stretch>
                <a:fillRect l="0" t="-456069" r="0" b="-456069"/>
              </a:stretch>
            </a:blipFill>
          </p:spPr>
        </p:sp>
        <p:sp>
          <p:nvSpPr>
            <p:cNvPr name="TextBox 25" id="25"/>
            <p:cNvSpPr txBox="true"/>
            <p:nvPr/>
          </p:nvSpPr>
          <p:spPr>
            <a:xfrm>
              <a:off x="0" y="0"/>
              <a:ext cx="17099280" cy="658368"/>
            </a:xfrm>
            <a:prstGeom prst="rect">
              <a:avLst/>
            </a:prstGeom>
          </p:spPr>
          <p:txBody>
            <a:bodyPr anchor="ctr" rtlCol="false" tIns="0" lIns="0" bIns="0" rIns="0"/>
            <a:lstStyle/>
            <a:p>
              <a:pPr algn="l">
                <a:lnSpc>
                  <a:spcPts val="2375"/>
                </a:lnSpc>
              </a:pPr>
              <a:r>
                <a:rPr lang="en-US" sz="1979">
                  <a:solidFill>
                    <a:srgbClr val="BAF389"/>
                  </a:solidFill>
                  <a:latin typeface="Inter"/>
                  <a:ea typeface="Inter"/>
                  <a:cs typeface="Inter"/>
                  <a:sym typeface="Inter"/>
                </a:rPr>
                <a:t>github.com/RishikSinha06/ClaimPilot-Agentic-PreAuth</a:t>
              </a:r>
            </a:p>
          </p:txBody>
        </p:sp>
      </p:grpSp>
      <p:sp>
        <p:nvSpPr>
          <p:cNvPr name="AutoShape 26" id="26"/>
          <p:cNvSpPr/>
          <p:nvPr/>
        </p:nvSpPr>
        <p:spPr>
          <a:xfrm rot="2149560">
            <a:off x="15510605" y="2946273"/>
            <a:ext cx="1581722" cy="0"/>
          </a:xfrm>
          <a:prstGeom prst="line">
            <a:avLst/>
          </a:prstGeom>
          <a:ln cap="rnd" w="19050">
            <a:solidFill>
              <a:srgbClr val="008E86"/>
            </a:solidFill>
            <a:prstDash val="solid"/>
            <a:headEnd type="none" len="sm" w="sm"/>
            <a:tailEnd type="none" len="sm" w="sm"/>
          </a:ln>
        </p:spPr>
      </p:sp>
      <p:grpSp>
        <p:nvGrpSpPr>
          <p:cNvPr name="Group 27" id="27"/>
          <p:cNvGrpSpPr/>
          <p:nvPr/>
        </p:nvGrpSpPr>
        <p:grpSpPr>
          <a:xfrm rot="0">
            <a:off x="15338679" y="2171319"/>
            <a:ext cx="663702" cy="663702"/>
            <a:chOff x="0" y="0"/>
            <a:chExt cx="884936" cy="884936"/>
          </a:xfrm>
        </p:grpSpPr>
        <p:sp>
          <p:nvSpPr>
            <p:cNvPr name="Freeform 28" id="28"/>
            <p:cNvSpPr/>
            <p:nvPr/>
          </p:nvSpPr>
          <p:spPr>
            <a:xfrm flipH="false" flipV="false" rot="0">
              <a:off x="0" y="0"/>
              <a:ext cx="884936" cy="884936"/>
            </a:xfrm>
            <a:custGeom>
              <a:avLst/>
              <a:gdLst/>
              <a:ahLst/>
              <a:cxnLst/>
              <a:rect r="r" b="b" t="t" l="l"/>
              <a:pathLst>
                <a:path h="884936" w="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15283A"/>
            </a:solidFill>
            <a:ln w="19050" cap="sq">
              <a:solidFill>
                <a:srgbClr val="638298"/>
              </a:solidFill>
              <a:prstDash val="solid"/>
              <a:miter/>
            </a:ln>
          </p:spPr>
        </p:sp>
      </p:grpSp>
      <p:grpSp>
        <p:nvGrpSpPr>
          <p:cNvPr name="Group 29" id="29"/>
          <p:cNvGrpSpPr/>
          <p:nvPr/>
        </p:nvGrpSpPr>
        <p:grpSpPr>
          <a:xfrm rot="0">
            <a:off x="15571851" y="2404491"/>
            <a:ext cx="197358" cy="197358"/>
            <a:chOff x="0" y="0"/>
            <a:chExt cx="263144" cy="263144"/>
          </a:xfrm>
        </p:grpSpPr>
        <p:sp>
          <p:nvSpPr>
            <p:cNvPr name="Freeform 30" id="30"/>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FFFFFF"/>
            </a:solidFill>
          </p:spPr>
        </p:sp>
      </p:grpSp>
      <p:grpSp>
        <p:nvGrpSpPr>
          <p:cNvPr name="Group 31" id="31"/>
          <p:cNvGrpSpPr/>
          <p:nvPr/>
        </p:nvGrpSpPr>
        <p:grpSpPr>
          <a:xfrm rot="0">
            <a:off x="16669131" y="3104007"/>
            <a:ext cx="663702" cy="663702"/>
            <a:chOff x="0" y="0"/>
            <a:chExt cx="884936" cy="884936"/>
          </a:xfrm>
        </p:grpSpPr>
        <p:sp>
          <p:nvSpPr>
            <p:cNvPr name="Freeform 32" id="32"/>
            <p:cNvSpPr/>
            <p:nvPr/>
          </p:nvSpPr>
          <p:spPr>
            <a:xfrm flipH="false" flipV="false" rot="0">
              <a:off x="0" y="0"/>
              <a:ext cx="884936" cy="884936"/>
            </a:xfrm>
            <a:custGeom>
              <a:avLst/>
              <a:gdLst/>
              <a:ahLst/>
              <a:cxnLst/>
              <a:rect r="r" b="b" t="t" l="l"/>
              <a:pathLst>
                <a:path h="884936" w="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BAF389"/>
            </a:solidFill>
            <a:ln w="19050" cap="sq">
              <a:solidFill>
                <a:srgbClr val="BAF389"/>
              </a:solidFill>
              <a:prstDash val="solid"/>
              <a:miter/>
            </a:ln>
          </p:spPr>
        </p:sp>
      </p:grpSp>
      <p:grpSp>
        <p:nvGrpSpPr>
          <p:cNvPr name="Group 33" id="33"/>
          <p:cNvGrpSpPr/>
          <p:nvPr/>
        </p:nvGrpSpPr>
        <p:grpSpPr>
          <a:xfrm rot="0">
            <a:off x="16902303" y="3337179"/>
            <a:ext cx="197358" cy="197358"/>
            <a:chOff x="0" y="0"/>
            <a:chExt cx="263144" cy="263144"/>
          </a:xfrm>
        </p:grpSpPr>
        <p:sp>
          <p:nvSpPr>
            <p:cNvPr name="Freeform 34" id="34"/>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15283A"/>
            </a:solidFill>
          </p:spPr>
        </p:sp>
      </p:grpSp>
      <p:grpSp>
        <p:nvGrpSpPr>
          <p:cNvPr name="Group 35" id="35"/>
          <p:cNvGrpSpPr/>
          <p:nvPr/>
        </p:nvGrpSpPr>
        <p:grpSpPr>
          <a:xfrm rot="0">
            <a:off x="15571851" y="4653915"/>
            <a:ext cx="663702" cy="663702"/>
            <a:chOff x="0" y="0"/>
            <a:chExt cx="884936" cy="884936"/>
          </a:xfrm>
        </p:grpSpPr>
        <p:sp>
          <p:nvSpPr>
            <p:cNvPr name="Freeform 36" id="36"/>
            <p:cNvSpPr/>
            <p:nvPr/>
          </p:nvSpPr>
          <p:spPr>
            <a:xfrm flipH="false" flipV="false" rot="0">
              <a:off x="0" y="0"/>
              <a:ext cx="884936" cy="884936"/>
            </a:xfrm>
            <a:custGeom>
              <a:avLst/>
              <a:gdLst/>
              <a:ahLst/>
              <a:cxnLst/>
              <a:rect r="r" b="b" t="t" l="l"/>
              <a:pathLst>
                <a:path h="884936" w="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15283A"/>
            </a:solidFill>
            <a:ln w="19050" cap="sq">
              <a:solidFill>
                <a:srgbClr val="638298"/>
              </a:solidFill>
              <a:prstDash val="solid"/>
              <a:miter/>
            </a:ln>
          </p:spPr>
        </p:sp>
      </p:grpSp>
      <p:grpSp>
        <p:nvGrpSpPr>
          <p:cNvPr name="Group 37" id="37"/>
          <p:cNvGrpSpPr/>
          <p:nvPr/>
        </p:nvGrpSpPr>
        <p:grpSpPr>
          <a:xfrm rot="0">
            <a:off x="15805023" y="4887087"/>
            <a:ext cx="197358" cy="197358"/>
            <a:chOff x="0" y="0"/>
            <a:chExt cx="263144" cy="263144"/>
          </a:xfrm>
        </p:grpSpPr>
        <p:sp>
          <p:nvSpPr>
            <p:cNvPr name="Freeform 38" id="38"/>
            <p:cNvSpPr/>
            <p:nvPr/>
          </p:nvSpPr>
          <p:spPr>
            <a:xfrm flipH="false" flipV="false" rot="0">
              <a:off x="0" y="0"/>
              <a:ext cx="263144" cy="263144"/>
            </a:xfrm>
            <a:custGeom>
              <a:avLst/>
              <a:gdLst/>
              <a:ahLst/>
              <a:cxnLst/>
              <a:rect r="r" b="b" t="t" l="l"/>
              <a:pathLst>
                <a:path h="263144" w="263144">
                  <a:moveTo>
                    <a:pt x="0" y="131572"/>
                  </a:moveTo>
                  <a:cubicBezTo>
                    <a:pt x="0" y="58928"/>
                    <a:pt x="58928" y="0"/>
                    <a:pt x="131572" y="0"/>
                  </a:cubicBezTo>
                  <a:cubicBezTo>
                    <a:pt x="204216" y="0"/>
                    <a:pt x="263144" y="58928"/>
                    <a:pt x="263144" y="131572"/>
                  </a:cubicBezTo>
                  <a:cubicBezTo>
                    <a:pt x="263144" y="204216"/>
                    <a:pt x="204216" y="263144"/>
                    <a:pt x="131572" y="263144"/>
                  </a:cubicBezTo>
                  <a:cubicBezTo>
                    <a:pt x="58928" y="263144"/>
                    <a:pt x="0" y="204216"/>
                    <a:pt x="0" y="131572"/>
                  </a:cubicBezTo>
                  <a:close/>
                </a:path>
              </a:pathLst>
            </a:custGeom>
            <a:solidFill>
              <a:srgbClr val="FFFFFF"/>
            </a:solidFill>
          </p:spPr>
        </p:sp>
      </p:grpSp>
      <p:sp>
        <p:nvSpPr>
          <p:cNvPr name="AutoShape 39" id="39"/>
          <p:cNvSpPr/>
          <p:nvPr/>
        </p:nvSpPr>
        <p:spPr>
          <a:xfrm rot="4080">
            <a:off x="1087745" y="5591366"/>
            <a:ext cx="16162792" cy="0"/>
          </a:xfrm>
          <a:prstGeom prst="line">
            <a:avLst/>
          </a:prstGeom>
          <a:ln cap="rnd" w="9525">
            <a:solidFill>
              <a:srgbClr val="355063"/>
            </a:solidFill>
            <a:prstDash val="solid"/>
            <a:headEnd type="none" len="sm" w="sm"/>
            <a:tailEnd type="none" len="sm" w="sm"/>
          </a:ln>
        </p:spPr>
      </p:sp>
      <p:grpSp>
        <p:nvGrpSpPr>
          <p:cNvPr name="Group 40" id="40"/>
          <p:cNvGrpSpPr/>
          <p:nvPr/>
        </p:nvGrpSpPr>
        <p:grpSpPr>
          <a:xfrm rot="0">
            <a:off x="1075468" y="6054376"/>
            <a:ext cx="8012620" cy="3061144"/>
            <a:chOff x="0" y="0"/>
            <a:chExt cx="10683494" cy="4081526"/>
          </a:xfrm>
        </p:grpSpPr>
        <p:sp>
          <p:nvSpPr>
            <p:cNvPr name="Freeform 41" id="41"/>
            <p:cNvSpPr/>
            <p:nvPr/>
          </p:nvSpPr>
          <p:spPr>
            <a:xfrm flipH="false" flipV="false" rot="0">
              <a:off x="0" y="0"/>
              <a:ext cx="10683494" cy="4081526"/>
            </a:xfrm>
            <a:custGeom>
              <a:avLst/>
              <a:gdLst/>
              <a:ahLst/>
              <a:cxnLst/>
              <a:rect r="r" b="b" t="t" l="l"/>
              <a:pathLst>
                <a:path h="4081526" w="10683494">
                  <a:moveTo>
                    <a:pt x="0" y="147066"/>
                  </a:moveTo>
                  <a:cubicBezTo>
                    <a:pt x="0" y="65913"/>
                    <a:pt x="65913" y="0"/>
                    <a:pt x="147066" y="0"/>
                  </a:cubicBezTo>
                  <a:lnTo>
                    <a:pt x="10536428" y="0"/>
                  </a:lnTo>
                  <a:cubicBezTo>
                    <a:pt x="10617708" y="0"/>
                    <a:pt x="10683494" y="65913"/>
                    <a:pt x="10683494" y="147066"/>
                  </a:cubicBezTo>
                  <a:lnTo>
                    <a:pt x="10683494" y="3934460"/>
                  </a:lnTo>
                  <a:cubicBezTo>
                    <a:pt x="10683494" y="4015740"/>
                    <a:pt x="10617581" y="4081526"/>
                    <a:pt x="10536428" y="4081526"/>
                  </a:cubicBezTo>
                  <a:lnTo>
                    <a:pt x="147066" y="4081526"/>
                  </a:lnTo>
                  <a:cubicBezTo>
                    <a:pt x="65913" y="4081526"/>
                    <a:pt x="0" y="4015613"/>
                    <a:pt x="0" y="3934460"/>
                  </a:cubicBezTo>
                  <a:close/>
                </a:path>
              </a:pathLst>
            </a:custGeom>
            <a:solidFill>
              <a:srgbClr val="15283A"/>
            </a:solidFill>
            <a:ln w="16192" cap="sq">
              <a:solidFill>
                <a:srgbClr val="405669"/>
              </a:solidFill>
              <a:prstDash val="solid"/>
              <a:miter/>
            </a:ln>
          </p:spPr>
        </p:sp>
      </p:grpSp>
      <p:grpSp>
        <p:nvGrpSpPr>
          <p:cNvPr name="Group 42" id="42"/>
          <p:cNvGrpSpPr/>
          <p:nvPr/>
        </p:nvGrpSpPr>
        <p:grpSpPr>
          <a:xfrm rot="0">
            <a:off x="9332500" y="6054376"/>
            <a:ext cx="7916608" cy="3061144"/>
            <a:chOff x="0" y="0"/>
            <a:chExt cx="10555478" cy="4081526"/>
          </a:xfrm>
        </p:grpSpPr>
        <p:sp>
          <p:nvSpPr>
            <p:cNvPr name="Freeform 43" id="43"/>
            <p:cNvSpPr/>
            <p:nvPr/>
          </p:nvSpPr>
          <p:spPr>
            <a:xfrm flipH="false" flipV="false" rot="0">
              <a:off x="0" y="0"/>
              <a:ext cx="10555478" cy="4081526"/>
            </a:xfrm>
            <a:custGeom>
              <a:avLst/>
              <a:gdLst/>
              <a:ahLst/>
              <a:cxnLst/>
              <a:rect r="r" b="b" t="t" l="l"/>
              <a:pathLst>
                <a:path h="4081526" w="10555478">
                  <a:moveTo>
                    <a:pt x="0" y="147066"/>
                  </a:moveTo>
                  <a:cubicBezTo>
                    <a:pt x="0" y="65913"/>
                    <a:pt x="65913" y="0"/>
                    <a:pt x="147066" y="0"/>
                  </a:cubicBezTo>
                  <a:lnTo>
                    <a:pt x="10408412" y="0"/>
                  </a:lnTo>
                  <a:cubicBezTo>
                    <a:pt x="10489692" y="0"/>
                    <a:pt x="10555478" y="65913"/>
                    <a:pt x="10555478" y="147066"/>
                  </a:cubicBezTo>
                  <a:lnTo>
                    <a:pt x="10555478" y="3934460"/>
                  </a:lnTo>
                  <a:cubicBezTo>
                    <a:pt x="10555478" y="4015740"/>
                    <a:pt x="10489565" y="4081526"/>
                    <a:pt x="10408412" y="4081526"/>
                  </a:cubicBezTo>
                  <a:lnTo>
                    <a:pt x="147066" y="4081526"/>
                  </a:lnTo>
                  <a:cubicBezTo>
                    <a:pt x="65913" y="4081526"/>
                    <a:pt x="0" y="4015613"/>
                    <a:pt x="0" y="3934460"/>
                  </a:cubicBezTo>
                  <a:close/>
                </a:path>
              </a:pathLst>
            </a:custGeom>
            <a:solidFill>
              <a:srgbClr val="15283A"/>
            </a:solidFill>
            <a:ln w="16192" cap="sq">
              <a:solidFill>
                <a:srgbClr val="405669"/>
              </a:solidFill>
              <a:prstDash val="solid"/>
              <a:miter/>
            </a:ln>
          </p:spPr>
        </p:sp>
      </p:grpSp>
      <p:grpSp>
        <p:nvGrpSpPr>
          <p:cNvPr name="Group 44" id="44"/>
          <p:cNvGrpSpPr/>
          <p:nvPr/>
        </p:nvGrpSpPr>
        <p:grpSpPr>
          <a:xfrm rot="0">
            <a:off x="1440180" y="6391656"/>
            <a:ext cx="7269480" cy="466344"/>
            <a:chOff x="0" y="0"/>
            <a:chExt cx="9692640" cy="621792"/>
          </a:xfrm>
        </p:grpSpPr>
        <p:sp>
          <p:nvSpPr>
            <p:cNvPr name="Freeform 45" id="45"/>
            <p:cNvSpPr/>
            <p:nvPr/>
          </p:nvSpPr>
          <p:spPr>
            <a:xfrm flipH="false" flipV="false" rot="0">
              <a:off x="0" y="0"/>
              <a:ext cx="9692640" cy="621792"/>
            </a:xfrm>
            <a:custGeom>
              <a:avLst/>
              <a:gdLst/>
              <a:ahLst/>
              <a:cxnLst/>
              <a:rect r="r" b="b" t="t" l="l"/>
              <a:pathLst>
                <a:path h="621792" w="9692640">
                  <a:moveTo>
                    <a:pt x="0" y="0"/>
                  </a:moveTo>
                  <a:lnTo>
                    <a:pt x="9692640" y="0"/>
                  </a:lnTo>
                  <a:lnTo>
                    <a:pt x="9692640" y="621792"/>
                  </a:lnTo>
                  <a:lnTo>
                    <a:pt x="0" y="621792"/>
                  </a:lnTo>
                  <a:close/>
                </a:path>
              </a:pathLst>
            </a:custGeom>
            <a:blipFill>
              <a:blip r:embed="rId3">
                <a:alphaModFix amt="0"/>
              </a:blip>
              <a:stretch>
                <a:fillRect l="0" t="-253737" r="0" b="-253737"/>
              </a:stretch>
            </a:blipFill>
          </p:spPr>
        </p:sp>
        <p:sp>
          <p:nvSpPr>
            <p:cNvPr name="TextBox 46" id="46"/>
            <p:cNvSpPr txBox="true"/>
            <p:nvPr/>
          </p:nvSpPr>
          <p:spPr>
            <a:xfrm>
              <a:off x="0" y="0"/>
              <a:ext cx="9692640" cy="621792"/>
            </a:xfrm>
            <a:prstGeom prst="rect">
              <a:avLst/>
            </a:prstGeom>
          </p:spPr>
          <p:txBody>
            <a:bodyPr anchor="ctr" rtlCol="false" tIns="0" lIns="0" bIns="0" rIns="0"/>
            <a:lstStyle/>
            <a:p>
              <a:pPr algn="l">
                <a:lnSpc>
                  <a:spcPts val="2898"/>
                </a:lnSpc>
              </a:pPr>
              <a:r>
                <a:rPr lang="en-US" sz="2415" b="true">
                  <a:solidFill>
                    <a:srgbClr val="BAF389"/>
                  </a:solidFill>
                  <a:latin typeface="Inter Bold"/>
                  <a:ea typeface="Inter Bold"/>
                  <a:cs typeface="Inter Bold"/>
                  <a:sym typeface="Inter Bold"/>
                </a:rPr>
                <a:t>Run the PoC</a:t>
              </a:r>
            </a:p>
          </p:txBody>
        </p:sp>
      </p:grpSp>
      <p:sp>
        <p:nvSpPr>
          <p:cNvPr name="TextBox 47" id="47"/>
          <p:cNvSpPr txBox="true"/>
          <p:nvPr/>
        </p:nvSpPr>
        <p:spPr>
          <a:xfrm rot="0">
            <a:off x="1440180" y="7173468"/>
            <a:ext cx="7296912" cy="1057275"/>
          </a:xfrm>
          <a:prstGeom prst="rect">
            <a:avLst/>
          </a:prstGeom>
        </p:spPr>
        <p:txBody>
          <a:bodyPr anchor="t" rtlCol="false" tIns="0" lIns="0" bIns="0" rIns="0">
            <a:spAutoFit/>
          </a:bodyPr>
          <a:lstStyle/>
          <a:p>
            <a:pPr algn="l" marL="511142" indent="-255571" lvl="1">
              <a:lnSpc>
                <a:spcPts val="2840"/>
              </a:lnSpc>
              <a:buFont typeface="Arial"/>
              <a:buChar char="•"/>
            </a:pPr>
            <a:r>
              <a:rPr lang="en-US" sz="2367">
                <a:solidFill>
                  <a:srgbClr val="FFFFFF"/>
                </a:solidFill>
                <a:latin typeface="Aptos"/>
                <a:ea typeface="Aptos"/>
                <a:cs typeface="Aptos"/>
                <a:sym typeface="Aptos"/>
              </a:rPr>
              <a:t>pip install -r requirements.txt</a:t>
            </a:r>
          </a:p>
          <a:p>
            <a:pPr algn="l" marL="511142" indent="-255571" lvl="1">
              <a:lnSpc>
                <a:spcPts val="2840"/>
              </a:lnSpc>
              <a:buFont typeface="Arial"/>
              <a:buChar char="•"/>
            </a:pPr>
            <a:r>
              <a:rPr lang="en-US" sz="2367">
                <a:solidFill>
                  <a:srgbClr val="FFFFFF"/>
                </a:solidFill>
                <a:latin typeface="Aptos"/>
                <a:ea typeface="Aptos"/>
                <a:cs typeface="Aptos"/>
                <a:sym typeface="Aptos"/>
              </a:rPr>
              <a:t>streamlit run app.py</a:t>
            </a:r>
          </a:p>
          <a:p>
            <a:pPr algn="l" marL="511142" indent="-255571" lvl="1">
              <a:lnSpc>
                <a:spcPts val="2840"/>
              </a:lnSpc>
              <a:buFont typeface="Arial"/>
              <a:buChar char="•"/>
            </a:pPr>
            <a:r>
              <a:rPr lang="en-US" sz="2367">
                <a:solidFill>
                  <a:srgbClr val="FFFFFF"/>
                </a:solidFill>
                <a:latin typeface="Aptos"/>
                <a:ea typeface="Aptos"/>
                <a:cs typeface="Aptos"/>
                <a:sym typeface="Aptos"/>
              </a:rPr>
              <a:t>python -m pytest -q</a:t>
            </a:r>
          </a:p>
        </p:txBody>
      </p:sp>
      <p:grpSp>
        <p:nvGrpSpPr>
          <p:cNvPr name="Group 48" id="48"/>
          <p:cNvGrpSpPr/>
          <p:nvPr/>
        </p:nvGrpSpPr>
        <p:grpSpPr>
          <a:xfrm rot="0">
            <a:off x="9697212" y="6391656"/>
            <a:ext cx="6995160" cy="466344"/>
            <a:chOff x="0" y="0"/>
            <a:chExt cx="9326880" cy="621792"/>
          </a:xfrm>
        </p:grpSpPr>
        <p:sp>
          <p:nvSpPr>
            <p:cNvPr name="Freeform 49" id="49"/>
            <p:cNvSpPr/>
            <p:nvPr/>
          </p:nvSpPr>
          <p:spPr>
            <a:xfrm flipH="false" flipV="false" rot="0">
              <a:off x="0" y="0"/>
              <a:ext cx="9326880" cy="621792"/>
            </a:xfrm>
            <a:custGeom>
              <a:avLst/>
              <a:gdLst/>
              <a:ahLst/>
              <a:cxnLst/>
              <a:rect r="r" b="b" t="t" l="l"/>
              <a:pathLst>
                <a:path h="621792" w="9326880">
                  <a:moveTo>
                    <a:pt x="0" y="0"/>
                  </a:moveTo>
                  <a:lnTo>
                    <a:pt x="9326880" y="0"/>
                  </a:lnTo>
                  <a:lnTo>
                    <a:pt x="9326880" y="621792"/>
                  </a:lnTo>
                  <a:lnTo>
                    <a:pt x="0" y="621792"/>
                  </a:lnTo>
                  <a:close/>
                </a:path>
              </a:pathLst>
            </a:custGeom>
            <a:blipFill>
              <a:blip r:embed="rId3">
                <a:alphaModFix amt="0"/>
              </a:blip>
              <a:stretch>
                <a:fillRect l="0" t="-242275" r="0" b="-242275"/>
              </a:stretch>
            </a:blipFill>
          </p:spPr>
        </p:sp>
        <p:sp>
          <p:nvSpPr>
            <p:cNvPr name="TextBox 50" id="50"/>
            <p:cNvSpPr txBox="true"/>
            <p:nvPr/>
          </p:nvSpPr>
          <p:spPr>
            <a:xfrm>
              <a:off x="0" y="0"/>
              <a:ext cx="9326880" cy="621792"/>
            </a:xfrm>
            <a:prstGeom prst="rect">
              <a:avLst/>
            </a:prstGeom>
          </p:spPr>
          <p:txBody>
            <a:bodyPr anchor="ctr" rtlCol="false" tIns="0" lIns="0" bIns="0" rIns="0"/>
            <a:lstStyle/>
            <a:p>
              <a:pPr algn="l">
                <a:lnSpc>
                  <a:spcPts val="2898"/>
                </a:lnSpc>
              </a:pPr>
              <a:r>
                <a:rPr lang="en-US" sz="2415" b="true">
                  <a:solidFill>
                    <a:srgbClr val="BAF389"/>
                  </a:solidFill>
                  <a:latin typeface="Inter Bold"/>
                  <a:ea typeface="Inter Bold"/>
                  <a:cs typeface="Inter Bold"/>
                  <a:sym typeface="Inter Bold"/>
                </a:rPr>
                <a:t>Who built what</a:t>
              </a:r>
            </a:p>
          </p:txBody>
        </p:sp>
      </p:grpSp>
      <p:sp>
        <p:nvSpPr>
          <p:cNvPr name="TextBox 51" id="51"/>
          <p:cNvSpPr txBox="true"/>
          <p:nvPr/>
        </p:nvSpPr>
        <p:spPr>
          <a:xfrm rot="0">
            <a:off x="9697212" y="7132320"/>
            <a:ext cx="7050024" cy="1600200"/>
          </a:xfrm>
          <a:prstGeom prst="rect">
            <a:avLst/>
          </a:prstGeom>
        </p:spPr>
        <p:txBody>
          <a:bodyPr anchor="t" rtlCol="false" tIns="0" lIns="0" bIns="0" rIns="0">
            <a:spAutoFit/>
          </a:bodyPr>
          <a:lstStyle/>
          <a:p>
            <a:pPr algn="l">
              <a:lnSpc>
                <a:spcPts val="2124"/>
              </a:lnSpc>
            </a:pPr>
            <a:r>
              <a:rPr lang="en-US" sz="1770">
                <a:solidFill>
                  <a:srgbClr val="FFFFFF"/>
                </a:solidFill>
                <a:latin typeface="Inter"/>
                <a:ea typeface="Inter"/>
                <a:cs typeface="Inter"/>
                <a:sym typeface="Inter"/>
              </a:rPr>
              <a:t>Rishik Sinha: system architecture, orchestrator, LLM pipeline, Critic and guardrails, Decision agent, fault injection, LLM benchmark, dashboard</a:t>
            </a:r>
          </a:p>
          <a:p>
            <a:pPr algn="l">
              <a:lnSpc>
                <a:spcPts val="2124"/>
              </a:lnSpc>
            </a:pPr>
          </a:p>
          <a:p>
            <a:pPr algn="l">
              <a:lnSpc>
                <a:spcPts val="2124"/>
              </a:lnSpc>
            </a:pPr>
            <a:r>
              <a:rPr lang="en-US" sz="1770">
                <a:solidFill>
                  <a:srgbClr val="FFFFFF"/>
                </a:solidFill>
                <a:latin typeface="Inter"/>
                <a:ea typeface="Inter"/>
                <a:cs typeface="Inter"/>
                <a:sym typeface="Inter"/>
              </a:rPr>
              <a:t>Rishik Gupta: Planner, Research &amp; Executor agents, synthetic dataset, core tests</a:t>
            </a:r>
          </a:p>
        </p:txBody>
      </p:sp>
      <p:sp>
        <p:nvSpPr>
          <p:cNvPr name="Freeform 52" id="52"/>
          <p:cNvSpPr/>
          <p:nvPr/>
        </p:nvSpPr>
        <p:spPr>
          <a:xfrm flipH="false" flipV="false" rot="-10800000">
            <a:off x="13194792" y="-5332999"/>
            <a:ext cx="6329230" cy="8670178"/>
          </a:xfrm>
          <a:custGeom>
            <a:avLst/>
            <a:gdLst/>
            <a:ahLst/>
            <a:cxnLst/>
            <a:rect r="r" b="b" t="t" l="l"/>
            <a:pathLst>
              <a:path h="8670178" w="6329230">
                <a:moveTo>
                  <a:pt x="0" y="0"/>
                </a:moveTo>
                <a:lnTo>
                  <a:pt x="6329230" y="0"/>
                </a:lnTo>
                <a:lnTo>
                  <a:pt x="6329230" y="8670178"/>
                </a:lnTo>
                <a:lnTo>
                  <a:pt x="0" y="8670178"/>
                </a:lnTo>
                <a:lnTo>
                  <a:pt x="0" y="0"/>
                </a:lnTo>
                <a:close/>
              </a:path>
            </a:pathLst>
          </a:custGeom>
          <a:blipFill>
            <a:blip r:embed="rId4">
              <a:alphaModFix amt="58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DAHYdVNGQNA</dc:identifier>
  <dcterms:modified xsi:type="dcterms:W3CDTF">2011-08-01T06:04:30Z</dcterms:modified>
  <cp:revision>1</cp:revision>
  <dc:title>ClaimPilot_CA3 (1).pptx</dc:title>
</cp:coreProperties>
</file>